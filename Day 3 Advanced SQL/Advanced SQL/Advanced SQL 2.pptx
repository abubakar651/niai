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92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38" y="2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874" y="587844"/>
            <a:ext cx="10893039" cy="17409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9852" y="1452372"/>
            <a:ext cx="8414766" cy="366902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00799" y="1452372"/>
            <a:ext cx="2800350" cy="366902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79563" y="1452372"/>
            <a:ext cx="4662678" cy="366902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7387" y="339089"/>
            <a:ext cx="10517225" cy="3530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97632" y="4640021"/>
            <a:ext cx="7396734" cy="1031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478" y="354305"/>
            <a:ext cx="12026845" cy="62278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8515" y="164592"/>
            <a:ext cx="11596116" cy="70865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07667" y="664921"/>
            <a:ext cx="8376665" cy="1017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67683" y="2235454"/>
            <a:ext cx="7976870" cy="3669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1.png"/><Relationship Id="rId9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84530" marR="5080" indent="-672465">
              <a:lnSpc>
                <a:spcPct val="100000"/>
              </a:lnSpc>
              <a:spcBef>
                <a:spcPts val="95"/>
              </a:spcBef>
            </a:pPr>
            <a:r>
              <a:rPr sz="11500" b="1" spc="-10" dirty="0">
                <a:solidFill>
                  <a:srgbClr val="C00000"/>
                </a:solidFill>
                <a:latin typeface="Calibri"/>
                <a:cs typeface="Calibri"/>
              </a:rPr>
              <a:t>Structured</a:t>
            </a:r>
            <a:r>
              <a:rPr sz="11500" b="1" spc="-5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1500" b="1" spc="-10" dirty="0">
                <a:solidFill>
                  <a:srgbClr val="C00000"/>
                </a:solidFill>
                <a:latin typeface="Calibri"/>
                <a:cs typeface="Calibri"/>
              </a:rPr>
              <a:t>Query </a:t>
            </a:r>
            <a:r>
              <a:rPr sz="11500" b="1" dirty="0">
                <a:solidFill>
                  <a:srgbClr val="C00000"/>
                </a:solidFill>
                <a:latin typeface="Calibri"/>
                <a:cs typeface="Calibri"/>
              </a:rPr>
              <a:t>Language</a:t>
            </a:r>
            <a:r>
              <a:rPr sz="11500" b="1" spc="-2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1500" b="1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11500" b="1" spc="-2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1500" b="1" spc="-25" dirty="0">
                <a:solidFill>
                  <a:srgbClr val="C00000"/>
                </a:solidFill>
                <a:latin typeface="Calibri"/>
                <a:cs typeface="Calibri"/>
              </a:rPr>
              <a:t>SQL</a:t>
            </a:r>
            <a:endParaRPr sz="11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1" dirty="0">
                <a:solidFill>
                  <a:srgbClr val="252525"/>
                </a:solidFill>
                <a:latin typeface="Calibri"/>
                <a:cs typeface="Calibri"/>
              </a:rPr>
              <a:t>Let's</a:t>
            </a:r>
            <a:r>
              <a:rPr sz="6600" b="1" spc="-1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6600" b="1" dirty="0">
                <a:solidFill>
                  <a:srgbClr val="252525"/>
                </a:solidFill>
                <a:latin typeface="Calibri"/>
                <a:cs typeface="Calibri"/>
              </a:rPr>
              <a:t>talk</a:t>
            </a:r>
            <a:r>
              <a:rPr sz="6600" b="1" spc="-1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6600" b="1" dirty="0">
                <a:solidFill>
                  <a:srgbClr val="252525"/>
                </a:solidFill>
                <a:latin typeface="Calibri"/>
                <a:cs typeface="Calibri"/>
              </a:rPr>
              <a:t>to</a:t>
            </a:r>
            <a:r>
              <a:rPr sz="6600" b="1" spc="-1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6600" b="1" spc="-10" dirty="0">
                <a:solidFill>
                  <a:srgbClr val="252525"/>
                </a:solidFill>
                <a:latin typeface="Calibri"/>
                <a:cs typeface="Calibri"/>
              </a:rPr>
              <a:t>database</a:t>
            </a:r>
            <a:endParaRPr sz="6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821A6-4060-2488-9F37-BBF8AAA32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Topics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C75CE-6FC4-1C73-AAA2-69822E434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7683" y="2235454"/>
            <a:ext cx="7976870" cy="276999"/>
          </a:xfrm>
        </p:spPr>
        <p:txBody>
          <a:bodyPr/>
          <a:lstStyle/>
          <a:p>
            <a:r>
              <a:rPr lang="en-US" dirty="0"/>
              <a:t>Joins, Union, Subqueries, Aggregation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58054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515" y="164592"/>
            <a:ext cx="11596370" cy="708660"/>
          </a:xfrm>
          <a:prstGeom prst="rect">
            <a:avLst/>
          </a:prstGeom>
          <a:ln w="6350">
            <a:solidFill>
              <a:srgbClr val="FFC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C00000"/>
                </a:solidFill>
              </a:rPr>
              <a:t>Data</a:t>
            </a:r>
            <a:r>
              <a:rPr sz="4000" spc="-145" dirty="0">
                <a:solidFill>
                  <a:srgbClr val="C00000"/>
                </a:solidFill>
              </a:rPr>
              <a:t> </a:t>
            </a:r>
            <a:r>
              <a:rPr sz="4000" spc="-20" dirty="0">
                <a:solidFill>
                  <a:srgbClr val="C00000"/>
                </a:solidFill>
              </a:rPr>
              <a:t>Sets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318515" y="1080516"/>
            <a:ext cx="11596370" cy="2308860"/>
          </a:xfrm>
          <a:custGeom>
            <a:avLst/>
            <a:gdLst/>
            <a:ahLst/>
            <a:cxnLst/>
            <a:rect l="l" t="t" r="r" b="b"/>
            <a:pathLst>
              <a:path w="11596370" h="2308860">
                <a:moveTo>
                  <a:pt x="0" y="2308860"/>
                </a:moveTo>
                <a:lnTo>
                  <a:pt x="11596116" y="2308860"/>
                </a:lnTo>
                <a:lnTo>
                  <a:pt x="11596116" y="0"/>
                </a:lnTo>
                <a:lnTo>
                  <a:pt x="0" y="0"/>
                </a:lnTo>
                <a:lnTo>
                  <a:pt x="0" y="2308860"/>
                </a:lnTo>
                <a:close/>
              </a:path>
            </a:pathLst>
          </a:custGeom>
          <a:ln w="1270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0260" y="1023735"/>
            <a:ext cx="6570345" cy="1515745"/>
          </a:xfrm>
          <a:prstGeom prst="rect">
            <a:avLst/>
          </a:prstGeom>
        </p:spPr>
        <p:txBody>
          <a:bodyPr vert="horz" wrap="square" lIns="0" tIns="2095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50"/>
              </a:spcBef>
            </a:pPr>
            <a:r>
              <a:rPr sz="2400" i="1" spc="-80" dirty="0">
                <a:solidFill>
                  <a:srgbClr val="006FC0"/>
                </a:solidFill>
                <a:latin typeface="Calibri"/>
                <a:cs typeface="Calibri"/>
              </a:rPr>
              <a:t>“A</a:t>
            </a:r>
            <a:r>
              <a:rPr sz="2400" i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6FC0"/>
                </a:solidFill>
                <a:latin typeface="Calibri"/>
                <a:cs typeface="Calibri"/>
              </a:rPr>
              <a:t>data</a:t>
            </a:r>
            <a:r>
              <a:rPr sz="2400" i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6FC0"/>
                </a:solidFill>
                <a:latin typeface="Calibri"/>
                <a:cs typeface="Calibri"/>
              </a:rPr>
              <a:t>set</a:t>
            </a:r>
            <a:r>
              <a:rPr sz="2400" i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i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400" i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006FC0"/>
                </a:solidFill>
                <a:latin typeface="Calibri"/>
                <a:cs typeface="Calibri"/>
              </a:rPr>
              <a:t>collection</a:t>
            </a:r>
            <a:r>
              <a:rPr sz="2400" i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sz="2400" i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006FC0"/>
                </a:solidFill>
                <a:latin typeface="Calibri"/>
                <a:cs typeface="Calibri"/>
              </a:rPr>
              <a:t>data.”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latin typeface="Calibri"/>
                <a:cs typeface="Calibri"/>
              </a:rPr>
              <a:t>Dataset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single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multiple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tables.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Dataset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result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following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operations: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260" y="3019425"/>
            <a:ext cx="1328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1.</a:t>
            </a:r>
            <a:r>
              <a:rPr sz="1800" i="1" spc="-10" dirty="0">
                <a:solidFill>
                  <a:srgbClr val="FF0000"/>
                </a:solidFill>
                <a:latin typeface="Calibri"/>
                <a:cs typeface="Calibri"/>
              </a:rPr>
              <a:t> Intersection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39010" y="3019425"/>
            <a:ext cx="1184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2.</a:t>
            </a:r>
            <a:r>
              <a:rPr sz="1800" i="1" spc="-10" dirty="0">
                <a:solidFill>
                  <a:srgbClr val="FF0000"/>
                </a:solidFill>
                <a:latin typeface="Calibri"/>
                <a:cs typeface="Calibri"/>
              </a:rPr>
              <a:t> Difference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68190" y="3019425"/>
            <a:ext cx="788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3.</a:t>
            </a:r>
            <a:r>
              <a:rPr sz="1800" i="1" spc="-10" dirty="0">
                <a:solidFill>
                  <a:srgbClr val="FF0000"/>
                </a:solidFill>
                <a:latin typeface="Calibri"/>
                <a:cs typeface="Calibri"/>
              </a:rPr>
              <a:t> Union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372" y="3745979"/>
            <a:ext cx="3557778" cy="83135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14424" y="3896614"/>
            <a:ext cx="1746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Intersection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9372" y="4553711"/>
            <a:ext cx="3557778" cy="198348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59130" y="4644644"/>
            <a:ext cx="3204210" cy="162433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99085" marR="5080" indent="-287020">
              <a:lnSpc>
                <a:spcPct val="91600"/>
              </a:lnSpc>
              <a:spcBef>
                <a:spcPts val="375"/>
              </a:spcBef>
              <a:buChar char="•"/>
              <a:tabLst>
                <a:tab pos="299085" algn="l"/>
              </a:tabLst>
            </a:pPr>
            <a:r>
              <a:rPr sz="2800" spc="-114" dirty="0">
                <a:latin typeface="Calibri"/>
                <a:cs typeface="Calibri"/>
              </a:rPr>
              <a:t>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common </a:t>
            </a:r>
            <a:r>
              <a:rPr sz="2800" dirty="0">
                <a:latin typeface="Calibri"/>
                <a:cs typeface="Calibri"/>
              </a:rPr>
              <a:t>elements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or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different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set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records.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37303" y="3745979"/>
            <a:ext cx="3557778" cy="83135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360289" y="3896614"/>
            <a:ext cx="15151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Difference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37303" y="4553711"/>
            <a:ext cx="3557778" cy="198348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487417" y="4644644"/>
            <a:ext cx="3108325" cy="162433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99085" marR="5080" indent="-287020">
              <a:lnSpc>
                <a:spcPct val="91600"/>
              </a:lnSpc>
              <a:spcBef>
                <a:spcPts val="375"/>
              </a:spcBef>
              <a:buChar char="•"/>
              <a:tabLst>
                <a:tab pos="299085" algn="l"/>
              </a:tabLst>
            </a:pPr>
            <a:r>
              <a:rPr sz="2800" spc="-114" dirty="0">
                <a:latin typeface="Calibri"/>
                <a:cs typeface="Calibri"/>
              </a:rPr>
              <a:t>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find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items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that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available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one </a:t>
            </a:r>
            <a:r>
              <a:rPr sz="2800" dirty="0">
                <a:latin typeface="Calibri"/>
                <a:cs typeface="Calibri"/>
              </a:rPr>
              <a:t>set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records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but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other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set.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65235" y="3745979"/>
            <a:ext cx="3557778" cy="83135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697973" y="3896614"/>
            <a:ext cx="8947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Union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65235" y="4553711"/>
            <a:ext cx="3557778" cy="198348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8515604" y="4644644"/>
            <a:ext cx="3016885" cy="123253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99085" marR="5080" indent="-287020" algn="just">
              <a:lnSpc>
                <a:spcPct val="91500"/>
              </a:lnSpc>
              <a:spcBef>
                <a:spcPts val="380"/>
              </a:spcBef>
              <a:buChar char="•"/>
              <a:tabLst>
                <a:tab pos="299085" algn="l"/>
              </a:tabLst>
            </a:pPr>
            <a:r>
              <a:rPr sz="2800" spc="-105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combine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or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similar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records.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515" y="164592"/>
            <a:ext cx="11596370" cy="708660"/>
          </a:xfrm>
          <a:prstGeom prst="rect">
            <a:avLst/>
          </a:prstGeom>
          <a:ln w="6350">
            <a:solidFill>
              <a:srgbClr val="FFC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C00000"/>
                </a:solidFill>
              </a:rPr>
              <a:t>Inner</a:t>
            </a:r>
            <a:r>
              <a:rPr sz="4000" spc="-85" dirty="0">
                <a:solidFill>
                  <a:srgbClr val="C00000"/>
                </a:solidFill>
              </a:rPr>
              <a:t> </a:t>
            </a:r>
            <a:r>
              <a:rPr sz="4000" spc="-10" dirty="0">
                <a:solidFill>
                  <a:srgbClr val="C00000"/>
                </a:solidFill>
              </a:rPr>
              <a:t>Joins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18515" y="1080516"/>
            <a:ext cx="11596370" cy="462280"/>
          </a:xfrm>
          <a:prstGeom prst="rect">
            <a:avLst/>
          </a:prstGeom>
          <a:ln w="12700">
            <a:solidFill>
              <a:srgbClr val="EC7C30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04"/>
              </a:spcBef>
            </a:pPr>
            <a:r>
              <a:rPr sz="2400" i="1" spc="-80" dirty="0">
                <a:solidFill>
                  <a:srgbClr val="006FC0"/>
                </a:solidFill>
                <a:latin typeface="Calibri"/>
                <a:cs typeface="Calibri"/>
              </a:rPr>
              <a:t>“A</a:t>
            </a:r>
            <a:r>
              <a:rPr sz="2400" i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6FC0"/>
                </a:solidFill>
                <a:latin typeface="Calibri"/>
                <a:cs typeface="Calibri"/>
              </a:rPr>
              <a:t>join</a:t>
            </a:r>
            <a:r>
              <a:rPr sz="2400" i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i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6FC0"/>
                </a:solidFill>
                <a:latin typeface="Calibri"/>
                <a:cs typeface="Calibri"/>
              </a:rPr>
              <a:t>an</a:t>
            </a:r>
            <a:r>
              <a:rPr sz="2400" i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006FC0"/>
                </a:solidFill>
                <a:latin typeface="Calibri"/>
                <a:cs typeface="Calibri"/>
              </a:rPr>
              <a:t>intersection</a:t>
            </a:r>
            <a:r>
              <a:rPr sz="2400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6FC0"/>
                </a:solidFill>
                <a:latin typeface="Calibri"/>
                <a:cs typeface="Calibri"/>
              </a:rPr>
              <a:t>between</a:t>
            </a:r>
            <a:r>
              <a:rPr sz="2400" i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6FC0"/>
                </a:solidFill>
                <a:latin typeface="Calibri"/>
                <a:cs typeface="Calibri"/>
              </a:rPr>
              <a:t>two</a:t>
            </a:r>
            <a:r>
              <a:rPr sz="2400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006FC0"/>
                </a:solidFill>
                <a:latin typeface="Calibri"/>
                <a:cs typeface="Calibri"/>
              </a:rPr>
              <a:t>datasets.”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9940" y="1720976"/>
            <a:ext cx="11653520" cy="4853305"/>
            <a:chOff x="289940" y="1720976"/>
            <a:chExt cx="11653520" cy="48533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7952" y="2161710"/>
              <a:ext cx="10987837" cy="425272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4228" y="1735264"/>
              <a:ext cx="11624945" cy="4824730"/>
            </a:xfrm>
            <a:custGeom>
              <a:avLst/>
              <a:gdLst/>
              <a:ahLst/>
              <a:cxnLst/>
              <a:rect l="l" t="t" r="r" b="b"/>
              <a:pathLst>
                <a:path w="11624945" h="4824730">
                  <a:moveTo>
                    <a:pt x="0" y="4824603"/>
                  </a:moveTo>
                  <a:lnTo>
                    <a:pt x="11624691" y="4824603"/>
                  </a:lnTo>
                  <a:lnTo>
                    <a:pt x="11624691" y="0"/>
                  </a:lnTo>
                  <a:lnTo>
                    <a:pt x="0" y="0"/>
                  </a:lnTo>
                  <a:lnTo>
                    <a:pt x="0" y="4824603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515" y="164592"/>
            <a:ext cx="11596370" cy="708660"/>
          </a:xfrm>
          <a:prstGeom prst="rect">
            <a:avLst/>
          </a:prstGeom>
          <a:ln w="6350">
            <a:solidFill>
              <a:srgbClr val="FFC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5"/>
              </a:spcBef>
            </a:pPr>
            <a:r>
              <a:rPr sz="4000" spc="-10" dirty="0">
                <a:solidFill>
                  <a:srgbClr val="C00000"/>
                </a:solidFill>
              </a:rPr>
              <a:t>Syntax</a:t>
            </a:r>
            <a:r>
              <a:rPr sz="4000" spc="-120" dirty="0">
                <a:solidFill>
                  <a:srgbClr val="C00000"/>
                </a:solidFill>
              </a:rPr>
              <a:t> </a:t>
            </a:r>
            <a:r>
              <a:rPr sz="4000" dirty="0">
                <a:solidFill>
                  <a:srgbClr val="C00000"/>
                </a:solidFill>
              </a:rPr>
              <a:t>of</a:t>
            </a:r>
            <a:r>
              <a:rPr sz="4000" spc="-95" dirty="0">
                <a:solidFill>
                  <a:srgbClr val="C00000"/>
                </a:solidFill>
              </a:rPr>
              <a:t> </a:t>
            </a:r>
            <a:r>
              <a:rPr sz="4000" dirty="0">
                <a:solidFill>
                  <a:srgbClr val="C00000"/>
                </a:solidFill>
              </a:rPr>
              <a:t>Inner</a:t>
            </a:r>
            <a:r>
              <a:rPr sz="4000" spc="-100" dirty="0">
                <a:solidFill>
                  <a:srgbClr val="C00000"/>
                </a:solidFill>
              </a:rPr>
              <a:t> </a:t>
            </a:r>
            <a:r>
              <a:rPr sz="4000" spc="-10" dirty="0">
                <a:solidFill>
                  <a:srgbClr val="C00000"/>
                </a:solidFill>
              </a:rPr>
              <a:t>Joins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123444" y="845769"/>
            <a:ext cx="12068810" cy="5739765"/>
            <a:chOff x="123444" y="845769"/>
            <a:chExt cx="12068810" cy="57397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444" y="845769"/>
              <a:ext cx="12068556" cy="57393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8515" y="1040892"/>
              <a:ext cx="11596116" cy="51694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515" y="164592"/>
            <a:ext cx="11596370" cy="708660"/>
          </a:xfrm>
          <a:prstGeom prst="rect">
            <a:avLst/>
          </a:prstGeom>
          <a:ln w="6350">
            <a:solidFill>
              <a:srgbClr val="FFC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C00000"/>
                </a:solidFill>
              </a:rPr>
              <a:t>Inner</a:t>
            </a:r>
            <a:r>
              <a:rPr sz="4000" spc="-80" dirty="0">
                <a:solidFill>
                  <a:srgbClr val="C00000"/>
                </a:solidFill>
              </a:rPr>
              <a:t> </a:t>
            </a:r>
            <a:r>
              <a:rPr sz="4000" dirty="0">
                <a:solidFill>
                  <a:srgbClr val="C00000"/>
                </a:solidFill>
              </a:rPr>
              <a:t>Join</a:t>
            </a:r>
            <a:r>
              <a:rPr sz="4000" spc="-85" dirty="0">
                <a:solidFill>
                  <a:srgbClr val="C00000"/>
                </a:solidFill>
              </a:rPr>
              <a:t> </a:t>
            </a:r>
            <a:r>
              <a:rPr sz="4000" spc="-10" dirty="0">
                <a:solidFill>
                  <a:srgbClr val="C00000"/>
                </a:solidFill>
              </a:rPr>
              <a:t>Examples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515" y="1080516"/>
            <a:ext cx="11596116" cy="3688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8515" y="3721608"/>
            <a:ext cx="11596116" cy="368807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12165" y="1074166"/>
          <a:ext cx="11596370" cy="5624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96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Sales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Order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–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Two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tables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0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“Display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all</a:t>
                      </a:r>
                      <a:r>
                        <a:rPr sz="1800" i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products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their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categories”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Entertainment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Agency–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Two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tables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6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“Show</a:t>
                      </a:r>
                      <a:r>
                        <a:rPr sz="1800" i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me</a:t>
                      </a:r>
                      <a:r>
                        <a:rPr sz="1800" i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entertainers,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i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start</a:t>
                      </a:r>
                      <a:r>
                        <a:rPr sz="1800" i="1" spc="-3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i="1" spc="-3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end</a:t>
                      </a:r>
                      <a:r>
                        <a:rPr sz="1800" i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dates</a:t>
                      </a:r>
                      <a:r>
                        <a:rPr sz="1800" i="1" spc="-3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i="1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their</a:t>
                      </a:r>
                      <a:r>
                        <a:rPr sz="1800" i="1" spc="-4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contracts</a:t>
                      </a:r>
                      <a:r>
                        <a:rPr sz="1800" i="1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i="1" spc="-4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i="1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contract</a:t>
                      </a:r>
                      <a:r>
                        <a:rPr sz="1800" i="1" spc="-3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price”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5623" y="2176444"/>
            <a:ext cx="10206904" cy="86034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9811" y="4895268"/>
            <a:ext cx="10933652" cy="15847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202" y="2365567"/>
            <a:ext cx="10460736" cy="152893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544" y="164592"/>
            <a:ext cx="11887200" cy="70865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1544" y="164592"/>
            <a:ext cx="11887200" cy="708660"/>
          </a:xfrm>
          <a:prstGeom prst="rect">
            <a:avLst/>
          </a:prstGeom>
          <a:ln w="6350">
            <a:solidFill>
              <a:srgbClr val="FFC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C00000"/>
                </a:solidFill>
              </a:rPr>
              <a:t>Inner</a:t>
            </a:r>
            <a:r>
              <a:rPr sz="4000" spc="-80" dirty="0">
                <a:solidFill>
                  <a:srgbClr val="C00000"/>
                </a:solidFill>
              </a:rPr>
              <a:t> </a:t>
            </a:r>
            <a:r>
              <a:rPr sz="4000" dirty="0">
                <a:solidFill>
                  <a:srgbClr val="C00000"/>
                </a:solidFill>
              </a:rPr>
              <a:t>Join</a:t>
            </a:r>
            <a:r>
              <a:rPr sz="4000" spc="-85" dirty="0">
                <a:solidFill>
                  <a:srgbClr val="C00000"/>
                </a:solidFill>
              </a:rPr>
              <a:t> </a:t>
            </a:r>
            <a:r>
              <a:rPr sz="4000" spc="-10" dirty="0">
                <a:solidFill>
                  <a:srgbClr val="C00000"/>
                </a:solidFill>
              </a:rPr>
              <a:t>Examples</a:t>
            </a:r>
            <a:endParaRPr sz="4000"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1544" y="1080516"/>
            <a:ext cx="11887200" cy="36880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61544" y="1080516"/>
            <a:ext cx="11887200" cy="368935"/>
          </a:xfrm>
          <a:prstGeom prst="rect">
            <a:avLst/>
          </a:prstGeom>
          <a:ln w="12700">
            <a:solidFill>
              <a:srgbClr val="EC7C3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alibri"/>
                <a:cs typeface="Calibri"/>
              </a:rPr>
              <a:t>Sales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Order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tables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3736" y="1522475"/>
            <a:ext cx="11887200" cy="368935"/>
          </a:xfrm>
          <a:prstGeom prst="rect">
            <a:avLst/>
          </a:prstGeom>
          <a:ln w="12700">
            <a:solidFill>
              <a:srgbClr val="EC7C3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“Find</a:t>
            </a:r>
            <a:r>
              <a:rPr sz="18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all</a:t>
            </a:r>
            <a:r>
              <a:rPr sz="18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0000"/>
                </a:solidFill>
                <a:latin typeface="Calibri"/>
                <a:cs typeface="Calibri"/>
              </a:rPr>
              <a:t>customers</a:t>
            </a:r>
            <a:r>
              <a:rPr sz="18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who</a:t>
            </a:r>
            <a:r>
              <a:rPr sz="18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have</a:t>
            </a:r>
            <a:r>
              <a:rPr sz="18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ever</a:t>
            </a:r>
            <a:r>
              <a:rPr sz="18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ordered</a:t>
            </a:r>
            <a:r>
              <a:rPr sz="18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bicycle </a:t>
            </a:r>
            <a:r>
              <a:rPr sz="1800" i="1" spc="-10" dirty="0">
                <a:solidFill>
                  <a:srgbClr val="FF0000"/>
                </a:solidFill>
                <a:latin typeface="Calibri"/>
                <a:cs typeface="Calibri"/>
              </a:rPr>
              <a:t>helmet.”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8495" y="4157471"/>
            <a:ext cx="11875008" cy="37033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66115" y="4157471"/>
            <a:ext cx="11867515" cy="370840"/>
          </a:xfrm>
          <a:prstGeom prst="rect">
            <a:avLst/>
          </a:prstGeom>
          <a:ln w="12700">
            <a:solidFill>
              <a:srgbClr val="EC7C3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sz="1800" spc="-10" dirty="0">
                <a:latin typeface="Calibri"/>
                <a:cs typeface="Calibri"/>
              </a:rPr>
              <a:t>Entertainment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Agency–</a:t>
            </a:r>
            <a:r>
              <a:rPr sz="1800" spc="3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Two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tables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6115" y="4527803"/>
            <a:ext cx="11867515" cy="368935"/>
          </a:xfrm>
          <a:prstGeom prst="rect">
            <a:avLst/>
          </a:prstGeom>
          <a:ln w="12700">
            <a:solidFill>
              <a:srgbClr val="EC7C3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245"/>
              </a:spcBef>
            </a:pP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“Find</a:t>
            </a:r>
            <a:r>
              <a:rPr sz="18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0000"/>
                </a:solidFill>
                <a:latin typeface="Calibri"/>
                <a:cs typeface="Calibri"/>
              </a:rPr>
              <a:t>entertainers</a:t>
            </a:r>
            <a:r>
              <a:rPr sz="18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who</a:t>
            </a:r>
            <a:r>
              <a:rPr sz="1800" i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played</a:t>
            </a:r>
            <a:r>
              <a:rPr sz="1800" i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0000"/>
                </a:solidFill>
                <a:latin typeface="Calibri"/>
                <a:cs typeface="Calibri"/>
              </a:rPr>
              <a:t>engagements</a:t>
            </a:r>
            <a:r>
              <a:rPr sz="18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1800" i="1" spc="-10" dirty="0">
                <a:solidFill>
                  <a:srgbClr val="FF0000"/>
                </a:solidFill>
                <a:latin typeface="Calibri"/>
                <a:cs typeface="Calibri"/>
              </a:rPr>
              <a:t> customers</a:t>
            </a:r>
            <a:r>
              <a:rPr sz="1800" i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Berg</a:t>
            </a:r>
            <a:r>
              <a:rPr sz="18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18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0000"/>
                </a:solidFill>
                <a:latin typeface="Calibri"/>
                <a:cs typeface="Calibri"/>
              </a:rPr>
              <a:t>Hallmark.”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3736" y="4896611"/>
            <a:ext cx="11859768" cy="15057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544" y="164592"/>
            <a:ext cx="11887200" cy="7086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1544" y="164592"/>
            <a:ext cx="11887200" cy="708660"/>
          </a:xfrm>
          <a:prstGeom prst="rect">
            <a:avLst/>
          </a:prstGeom>
          <a:ln w="6350">
            <a:solidFill>
              <a:srgbClr val="FFC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C00000"/>
                </a:solidFill>
              </a:rPr>
              <a:t>Inner</a:t>
            </a:r>
            <a:r>
              <a:rPr sz="4000" spc="-55" dirty="0">
                <a:solidFill>
                  <a:srgbClr val="C00000"/>
                </a:solidFill>
              </a:rPr>
              <a:t> </a:t>
            </a:r>
            <a:r>
              <a:rPr sz="4000" dirty="0">
                <a:solidFill>
                  <a:srgbClr val="C00000"/>
                </a:solidFill>
              </a:rPr>
              <a:t>Join</a:t>
            </a:r>
            <a:r>
              <a:rPr sz="4000" spc="-55" dirty="0">
                <a:solidFill>
                  <a:srgbClr val="C00000"/>
                </a:solidFill>
              </a:rPr>
              <a:t> </a:t>
            </a:r>
            <a:r>
              <a:rPr sz="4000" dirty="0">
                <a:solidFill>
                  <a:srgbClr val="C00000"/>
                </a:solidFill>
              </a:rPr>
              <a:t>–</a:t>
            </a:r>
            <a:r>
              <a:rPr sz="4000" spc="-55" dirty="0">
                <a:solidFill>
                  <a:srgbClr val="C00000"/>
                </a:solidFill>
              </a:rPr>
              <a:t> </a:t>
            </a:r>
            <a:r>
              <a:rPr sz="4000" spc="-10" dirty="0">
                <a:solidFill>
                  <a:srgbClr val="C00000"/>
                </a:solidFill>
              </a:rPr>
              <a:t>Exercise</a:t>
            </a:r>
            <a:endParaRPr sz="40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544" y="1080516"/>
            <a:ext cx="11887200" cy="36880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1544" y="1080516"/>
            <a:ext cx="11887200" cy="368935"/>
          </a:xfrm>
          <a:prstGeom prst="rect">
            <a:avLst/>
          </a:prstGeom>
          <a:ln w="12700">
            <a:solidFill>
              <a:srgbClr val="EC7C3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alibri"/>
                <a:cs typeface="Calibri"/>
              </a:rPr>
              <a:t>Recipes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Database–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tables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1544" y="1449324"/>
            <a:ext cx="11887200" cy="647700"/>
          </a:xfrm>
          <a:custGeom>
            <a:avLst/>
            <a:gdLst/>
            <a:ahLst/>
            <a:cxnLst/>
            <a:rect l="l" t="t" r="r" b="b"/>
            <a:pathLst>
              <a:path w="11887200" h="647700">
                <a:moveTo>
                  <a:pt x="0" y="647700"/>
                </a:moveTo>
                <a:lnTo>
                  <a:pt x="11887200" y="647700"/>
                </a:lnTo>
                <a:lnTo>
                  <a:pt x="11887200" y="0"/>
                </a:lnTo>
                <a:lnTo>
                  <a:pt x="0" y="0"/>
                </a:lnTo>
                <a:lnTo>
                  <a:pt x="0" y="647700"/>
                </a:lnTo>
                <a:close/>
              </a:path>
            </a:pathLst>
          </a:custGeom>
          <a:ln w="1270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40893" y="1467688"/>
            <a:ext cx="57785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“Show</a:t>
            </a:r>
            <a:r>
              <a:rPr sz="18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me</a:t>
            </a:r>
            <a:r>
              <a:rPr sz="18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main</a:t>
            </a:r>
            <a:r>
              <a:rPr sz="18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course</a:t>
            </a:r>
            <a:r>
              <a:rPr sz="18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recipes</a:t>
            </a:r>
            <a:r>
              <a:rPr sz="18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18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list</a:t>
            </a:r>
            <a:r>
              <a:rPr sz="1800" i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all</a:t>
            </a:r>
            <a:r>
              <a:rPr sz="18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0000"/>
                </a:solidFill>
                <a:latin typeface="Calibri"/>
                <a:cs typeface="Calibri"/>
              </a:rPr>
              <a:t>ingredients.”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03992" y="1645920"/>
            <a:ext cx="1239520" cy="368935"/>
          </a:xfrm>
          <a:prstGeom prst="rect">
            <a:avLst/>
          </a:prstGeom>
          <a:ln w="12700">
            <a:solidFill>
              <a:srgbClr val="EC7C3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4"/>
              </a:spcBef>
            </a:pPr>
            <a:r>
              <a:rPr sz="1800" b="1" dirty="0">
                <a:latin typeface="Calibri"/>
                <a:cs typeface="Calibri"/>
              </a:rPr>
              <a:t>53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Records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7472" y="2658752"/>
            <a:ext cx="11286744" cy="27499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515" y="164592"/>
            <a:ext cx="11596370" cy="708660"/>
          </a:xfrm>
          <a:prstGeom prst="rect">
            <a:avLst/>
          </a:prstGeom>
          <a:ln w="6350">
            <a:solidFill>
              <a:srgbClr val="FFC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C00000"/>
                </a:solidFill>
              </a:rPr>
              <a:t>Outer</a:t>
            </a:r>
            <a:r>
              <a:rPr sz="4000" spc="-140" dirty="0">
                <a:solidFill>
                  <a:srgbClr val="C00000"/>
                </a:solidFill>
              </a:rPr>
              <a:t> </a:t>
            </a:r>
            <a:r>
              <a:rPr sz="4000" spc="-10" dirty="0">
                <a:solidFill>
                  <a:srgbClr val="C00000"/>
                </a:solidFill>
              </a:rPr>
              <a:t>Joins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289940" y="1004697"/>
            <a:ext cx="11653520" cy="5336540"/>
            <a:chOff x="289940" y="1004697"/>
            <a:chExt cx="11653520" cy="53365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8515" y="1033272"/>
              <a:ext cx="11596116" cy="527913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04228" y="1018984"/>
              <a:ext cx="11624945" cy="5307965"/>
            </a:xfrm>
            <a:custGeom>
              <a:avLst/>
              <a:gdLst/>
              <a:ahLst/>
              <a:cxnLst/>
              <a:rect l="l" t="t" r="r" b="b"/>
              <a:pathLst>
                <a:path w="11624945" h="5307965">
                  <a:moveTo>
                    <a:pt x="0" y="5307711"/>
                  </a:moveTo>
                  <a:lnTo>
                    <a:pt x="11624691" y="5307711"/>
                  </a:lnTo>
                  <a:lnTo>
                    <a:pt x="11624691" y="0"/>
                  </a:lnTo>
                  <a:lnTo>
                    <a:pt x="0" y="0"/>
                  </a:lnTo>
                  <a:lnTo>
                    <a:pt x="0" y="5307711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544" y="164592"/>
            <a:ext cx="11887200" cy="7086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1544" y="164592"/>
            <a:ext cx="11887200" cy="708660"/>
          </a:xfrm>
          <a:prstGeom prst="rect">
            <a:avLst/>
          </a:prstGeom>
          <a:ln w="6350">
            <a:solidFill>
              <a:srgbClr val="FFC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C00000"/>
                </a:solidFill>
              </a:rPr>
              <a:t>LEFT</a:t>
            </a:r>
            <a:r>
              <a:rPr sz="4000" spc="-100" dirty="0">
                <a:solidFill>
                  <a:srgbClr val="C00000"/>
                </a:solidFill>
              </a:rPr>
              <a:t> </a:t>
            </a:r>
            <a:r>
              <a:rPr sz="4000" dirty="0">
                <a:solidFill>
                  <a:srgbClr val="C00000"/>
                </a:solidFill>
              </a:rPr>
              <a:t>Outer</a:t>
            </a:r>
            <a:r>
              <a:rPr sz="4000" spc="-105" dirty="0">
                <a:solidFill>
                  <a:srgbClr val="C00000"/>
                </a:solidFill>
              </a:rPr>
              <a:t> </a:t>
            </a:r>
            <a:r>
              <a:rPr sz="4000" dirty="0">
                <a:solidFill>
                  <a:srgbClr val="C00000"/>
                </a:solidFill>
              </a:rPr>
              <a:t>Join</a:t>
            </a:r>
            <a:r>
              <a:rPr sz="4000" spc="-105" dirty="0">
                <a:solidFill>
                  <a:srgbClr val="C00000"/>
                </a:solidFill>
              </a:rPr>
              <a:t> </a:t>
            </a:r>
            <a:r>
              <a:rPr sz="4000" spc="-10" dirty="0">
                <a:solidFill>
                  <a:srgbClr val="C00000"/>
                </a:solidFill>
              </a:rPr>
              <a:t>Examples</a:t>
            </a:r>
            <a:endParaRPr sz="4000"/>
          </a:p>
        </p:txBody>
      </p:sp>
      <p:grpSp>
        <p:nvGrpSpPr>
          <p:cNvPr id="4" name="object 4"/>
          <p:cNvGrpSpPr/>
          <p:nvPr/>
        </p:nvGrpSpPr>
        <p:grpSpPr>
          <a:xfrm>
            <a:off x="161544" y="1080516"/>
            <a:ext cx="11869420" cy="368935"/>
            <a:chOff x="161544" y="1080516"/>
            <a:chExt cx="11869420" cy="36893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544" y="1080516"/>
              <a:ext cx="6053328" cy="36880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14872" y="1080516"/>
              <a:ext cx="5815583" cy="368808"/>
            </a:xfrm>
            <a:prstGeom prst="rect">
              <a:avLst/>
            </a:prstGeom>
          </p:spPr>
        </p:pic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55194" y="1074166"/>
          <a:ext cx="11869419" cy="22447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53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5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Sales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Order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–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LEFT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Outer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Joins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School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Scheduling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–</a:t>
                      </a:r>
                      <a:r>
                        <a:rPr sz="1800" spc="3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LEFT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Outer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joins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51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“What</a:t>
                      </a:r>
                      <a:r>
                        <a:rPr sz="1800" i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products</a:t>
                      </a:r>
                      <a:r>
                        <a:rPr sz="1800" i="1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have</a:t>
                      </a:r>
                      <a:r>
                        <a:rPr sz="1800" i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never</a:t>
                      </a:r>
                      <a:r>
                        <a:rPr sz="1800" i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been</a:t>
                      </a:r>
                      <a:r>
                        <a:rPr sz="1800" i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ordered.”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“List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i="1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faculty</a:t>
                      </a:r>
                      <a:r>
                        <a:rPr sz="1800" i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members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not</a:t>
                      </a:r>
                      <a:r>
                        <a:rPr sz="1800" i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teaching</a:t>
                      </a:r>
                      <a:r>
                        <a:rPr sz="1800" i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800" i="1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class.”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2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161544" y="3855720"/>
            <a:ext cx="11869420" cy="370840"/>
            <a:chOff x="161544" y="3855720"/>
            <a:chExt cx="11869420" cy="37084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1544" y="3855720"/>
              <a:ext cx="6053328" cy="37033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14872" y="3857244"/>
              <a:ext cx="5815583" cy="368807"/>
            </a:xfrm>
            <a:prstGeom prst="rect">
              <a:avLst/>
            </a:prstGeom>
          </p:spPr>
        </p:pic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55194" y="3850132"/>
          <a:ext cx="11869419" cy="24917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53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5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93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Entertainment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Agency–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LEFT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Outer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Joins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Bowling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League–</a:t>
                      </a:r>
                      <a:r>
                        <a:rPr sz="1800" spc="3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LEFT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Outer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joins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136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“List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entertainers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who</a:t>
                      </a:r>
                      <a:r>
                        <a:rPr sz="1800" i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have</a:t>
                      </a:r>
                      <a:r>
                        <a:rPr sz="1800" i="1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never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been</a:t>
                      </a:r>
                      <a:r>
                        <a:rPr sz="1800" i="1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booked.”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“Show</a:t>
                      </a:r>
                      <a:r>
                        <a:rPr sz="1800" i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me</a:t>
                      </a:r>
                      <a:r>
                        <a:rPr sz="1800" i="1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tournaments</a:t>
                      </a:r>
                      <a:r>
                        <a:rPr sz="1800" i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have</a:t>
                      </a:r>
                      <a:r>
                        <a:rPr sz="1800" i="1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not</a:t>
                      </a:r>
                      <a:r>
                        <a:rPr sz="1800" i="1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been</a:t>
                      </a:r>
                      <a:r>
                        <a:rPr sz="1800" i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played</a:t>
                      </a:r>
                      <a:r>
                        <a:rPr sz="1800" i="1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yet.”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5257" y="1986888"/>
            <a:ext cx="5170870" cy="88387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39881" y="1940975"/>
            <a:ext cx="4808762" cy="88268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6058" y="4906305"/>
            <a:ext cx="5770985" cy="6936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451400" y="4955540"/>
            <a:ext cx="5181291" cy="7137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544" y="164592"/>
            <a:ext cx="11887200" cy="7086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1544" y="164592"/>
            <a:ext cx="11887200" cy="708660"/>
          </a:xfrm>
          <a:prstGeom prst="rect">
            <a:avLst/>
          </a:prstGeom>
          <a:ln w="6350">
            <a:solidFill>
              <a:srgbClr val="FFC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C00000"/>
                </a:solidFill>
              </a:rPr>
              <a:t>LEFT</a:t>
            </a:r>
            <a:r>
              <a:rPr sz="4000" spc="-75" dirty="0">
                <a:solidFill>
                  <a:srgbClr val="C00000"/>
                </a:solidFill>
              </a:rPr>
              <a:t> </a:t>
            </a:r>
            <a:r>
              <a:rPr sz="4000" dirty="0">
                <a:solidFill>
                  <a:srgbClr val="C00000"/>
                </a:solidFill>
              </a:rPr>
              <a:t>Outer</a:t>
            </a:r>
            <a:r>
              <a:rPr sz="4000" spc="-75" dirty="0">
                <a:solidFill>
                  <a:srgbClr val="C00000"/>
                </a:solidFill>
              </a:rPr>
              <a:t> </a:t>
            </a:r>
            <a:r>
              <a:rPr sz="4000" dirty="0">
                <a:solidFill>
                  <a:srgbClr val="C00000"/>
                </a:solidFill>
              </a:rPr>
              <a:t>Join</a:t>
            </a:r>
            <a:r>
              <a:rPr sz="4000" spc="-75" dirty="0">
                <a:solidFill>
                  <a:srgbClr val="C00000"/>
                </a:solidFill>
              </a:rPr>
              <a:t> </a:t>
            </a:r>
            <a:r>
              <a:rPr sz="4000" dirty="0">
                <a:solidFill>
                  <a:srgbClr val="C00000"/>
                </a:solidFill>
              </a:rPr>
              <a:t>–</a:t>
            </a:r>
            <a:r>
              <a:rPr sz="4000" spc="-80" dirty="0">
                <a:solidFill>
                  <a:srgbClr val="C00000"/>
                </a:solidFill>
              </a:rPr>
              <a:t> </a:t>
            </a:r>
            <a:r>
              <a:rPr sz="4000" spc="-10" dirty="0">
                <a:solidFill>
                  <a:srgbClr val="C00000"/>
                </a:solidFill>
              </a:rPr>
              <a:t>Exercise</a:t>
            </a:r>
            <a:endParaRPr sz="4000"/>
          </a:p>
        </p:txBody>
      </p:sp>
      <p:grpSp>
        <p:nvGrpSpPr>
          <p:cNvPr id="4" name="object 4"/>
          <p:cNvGrpSpPr/>
          <p:nvPr/>
        </p:nvGrpSpPr>
        <p:grpSpPr>
          <a:xfrm>
            <a:off x="155194" y="1074166"/>
            <a:ext cx="11899900" cy="4076065"/>
            <a:chOff x="155194" y="1074166"/>
            <a:chExt cx="11899900" cy="407606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544" y="1080516"/>
              <a:ext cx="11887200" cy="36880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61544" y="1080516"/>
              <a:ext cx="11887200" cy="4063365"/>
            </a:xfrm>
            <a:custGeom>
              <a:avLst/>
              <a:gdLst/>
              <a:ahLst/>
              <a:cxnLst/>
              <a:rect l="l" t="t" r="r" b="b"/>
              <a:pathLst>
                <a:path w="11887200" h="4063365">
                  <a:moveTo>
                    <a:pt x="0" y="368808"/>
                  </a:moveTo>
                  <a:lnTo>
                    <a:pt x="11887200" y="368808"/>
                  </a:lnTo>
                  <a:lnTo>
                    <a:pt x="11887200" y="0"/>
                  </a:lnTo>
                  <a:lnTo>
                    <a:pt x="0" y="0"/>
                  </a:lnTo>
                  <a:lnTo>
                    <a:pt x="0" y="368808"/>
                  </a:lnTo>
                  <a:close/>
                </a:path>
                <a:path w="11887200" h="4063365">
                  <a:moveTo>
                    <a:pt x="0" y="4062984"/>
                  </a:moveTo>
                  <a:lnTo>
                    <a:pt x="11887200" y="4062984"/>
                  </a:lnTo>
                  <a:lnTo>
                    <a:pt x="11887200" y="368808"/>
                  </a:lnTo>
                  <a:lnTo>
                    <a:pt x="0" y="368808"/>
                  </a:lnTo>
                  <a:lnTo>
                    <a:pt x="0" y="4062984"/>
                  </a:lnTo>
                  <a:close/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40893" y="1003487"/>
            <a:ext cx="7490459" cy="76454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4251960">
              <a:lnSpc>
                <a:spcPct val="100000"/>
              </a:lnSpc>
              <a:spcBef>
                <a:spcPts val="844"/>
              </a:spcBef>
            </a:pPr>
            <a:r>
              <a:rPr sz="1800" dirty="0">
                <a:latin typeface="Calibri"/>
                <a:cs typeface="Calibri"/>
              </a:rPr>
              <a:t>Recipes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Database–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LEFT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Join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“List</a:t>
            </a:r>
            <a:r>
              <a:rPr sz="18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ingredients</a:t>
            </a:r>
            <a:r>
              <a:rPr sz="18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not</a:t>
            </a:r>
            <a:r>
              <a:rPr sz="18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used</a:t>
            </a:r>
            <a:r>
              <a:rPr sz="18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18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any</a:t>
            </a:r>
            <a:r>
              <a:rPr sz="18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recipe</a:t>
            </a:r>
            <a:r>
              <a:rPr sz="18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0000"/>
                </a:solidFill>
                <a:latin typeface="Calibri"/>
                <a:cs typeface="Calibri"/>
              </a:rPr>
              <a:t>yet.”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25811" y="3273552"/>
            <a:ext cx="1239520" cy="370840"/>
          </a:xfrm>
          <a:prstGeom prst="rect">
            <a:avLst/>
          </a:prstGeom>
          <a:ln w="12700">
            <a:solidFill>
              <a:srgbClr val="EC7C3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sz="1800" b="1" dirty="0">
                <a:latin typeface="Calibri"/>
                <a:cs typeface="Calibri"/>
              </a:rPr>
              <a:t>20 </a:t>
            </a:r>
            <a:r>
              <a:rPr sz="1800" b="1" spc="-10" dirty="0">
                <a:latin typeface="Calibri"/>
                <a:cs typeface="Calibri"/>
              </a:rPr>
              <a:t>Records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8654" y="2401363"/>
            <a:ext cx="8811689" cy="11632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515" y="164592"/>
            <a:ext cx="11596370" cy="708660"/>
          </a:xfrm>
          <a:prstGeom prst="rect">
            <a:avLst/>
          </a:prstGeom>
          <a:ln w="6350">
            <a:solidFill>
              <a:srgbClr val="FFC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4000" spc="-10" dirty="0">
                <a:solidFill>
                  <a:srgbClr val="C00000"/>
                </a:solidFill>
              </a:rPr>
              <a:t>Unions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18515" y="1091183"/>
            <a:ext cx="11596370" cy="1908175"/>
          </a:xfrm>
          <a:prstGeom prst="rect">
            <a:avLst/>
          </a:prstGeom>
          <a:ln w="12700">
            <a:solidFill>
              <a:srgbClr val="EC7C3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80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What</a:t>
            </a:r>
            <a:r>
              <a:rPr sz="2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8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Union</a:t>
            </a:r>
            <a:endParaRPr sz="2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2225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UNION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lets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select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rows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similar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combine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them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single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result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set.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Notice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said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“Rows”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“Columns”.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515" y="3307079"/>
            <a:ext cx="11596116" cy="37033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18515" y="3307079"/>
            <a:ext cx="11596370" cy="370840"/>
          </a:xfrm>
          <a:prstGeom prst="rect">
            <a:avLst/>
          </a:prstGeom>
          <a:ln w="12700">
            <a:solidFill>
              <a:srgbClr val="EC7C3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/>
                <a:cs typeface="Calibri"/>
              </a:rPr>
              <a:t>Sales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Order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8515" y="3677411"/>
            <a:ext cx="11596370" cy="2369820"/>
          </a:xfrm>
          <a:custGeom>
            <a:avLst/>
            <a:gdLst/>
            <a:ahLst/>
            <a:cxnLst/>
            <a:rect l="l" t="t" r="r" b="b"/>
            <a:pathLst>
              <a:path w="11596370" h="2369820">
                <a:moveTo>
                  <a:pt x="0" y="2369820"/>
                </a:moveTo>
                <a:lnTo>
                  <a:pt x="11596116" y="2369820"/>
                </a:lnTo>
                <a:lnTo>
                  <a:pt x="11596116" y="0"/>
                </a:lnTo>
                <a:lnTo>
                  <a:pt x="0" y="0"/>
                </a:lnTo>
                <a:lnTo>
                  <a:pt x="0" y="2369820"/>
                </a:lnTo>
                <a:close/>
              </a:path>
            </a:pathLst>
          </a:custGeom>
          <a:ln w="1270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0260" y="3695141"/>
            <a:ext cx="10095230" cy="2284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“Build</a:t>
            </a:r>
            <a:r>
              <a:rPr sz="18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single</a:t>
            </a:r>
            <a:r>
              <a:rPr sz="18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mailing</a:t>
            </a:r>
            <a:r>
              <a:rPr sz="18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list</a:t>
            </a:r>
            <a:r>
              <a:rPr sz="18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sz="18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consist</a:t>
            </a:r>
            <a:r>
              <a:rPr sz="18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18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name,</a:t>
            </a:r>
            <a:r>
              <a:rPr sz="18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address,</a:t>
            </a:r>
            <a:r>
              <a:rPr sz="18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spc="-20" dirty="0">
                <a:solidFill>
                  <a:srgbClr val="FF0000"/>
                </a:solidFill>
                <a:latin typeface="Calibri"/>
                <a:cs typeface="Calibri"/>
              </a:rPr>
              <a:t>city,</a:t>
            </a:r>
            <a:r>
              <a:rPr sz="18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state</a:t>
            </a:r>
            <a:r>
              <a:rPr sz="18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18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ZIP</a:t>
            </a:r>
            <a:r>
              <a:rPr sz="18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code</a:t>
            </a:r>
            <a:r>
              <a:rPr sz="18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18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customers</a:t>
            </a:r>
            <a:r>
              <a:rPr sz="18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18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0000"/>
                </a:solidFill>
                <a:latin typeface="Calibri"/>
                <a:cs typeface="Calibri"/>
              </a:rPr>
              <a:t>Vendors.”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85"/>
              </a:spcBef>
            </a:pPr>
            <a:r>
              <a:rPr sz="1600" b="1" dirty="0">
                <a:latin typeface="Calibri"/>
                <a:cs typeface="Calibri"/>
              </a:rPr>
              <a:t>SELECT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Concat(CustFirstName,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“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“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CustLastName)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CustomerName,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CustStreetAddress,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CustCity,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CustState,CustZipCode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FROM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Customers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20"/>
              </a:spcBef>
            </a:pPr>
            <a:r>
              <a:rPr sz="1600" b="1" spc="-10" dirty="0">
                <a:latin typeface="Calibri"/>
                <a:cs typeface="Calibri"/>
              </a:rPr>
              <a:t>UNION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20"/>
              </a:spcBef>
            </a:pPr>
            <a:r>
              <a:rPr sz="1600" b="1" dirty="0">
                <a:latin typeface="Calibri"/>
                <a:cs typeface="Calibri"/>
              </a:rPr>
              <a:t>SELECT</a:t>
            </a:r>
            <a:r>
              <a:rPr sz="1600" b="1" spc="-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VendName,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VendStreetAddress,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VendCity,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VendState,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VendZipCode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FROM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Vendors;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544" y="164592"/>
            <a:ext cx="11887200" cy="7086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1544" y="164592"/>
            <a:ext cx="11887200" cy="708660"/>
          </a:xfrm>
          <a:prstGeom prst="rect">
            <a:avLst/>
          </a:prstGeom>
          <a:ln w="6350">
            <a:solidFill>
              <a:srgbClr val="FFC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C00000"/>
                </a:solidFill>
              </a:rPr>
              <a:t>Example</a:t>
            </a:r>
            <a:r>
              <a:rPr sz="4000" spc="-120" dirty="0">
                <a:solidFill>
                  <a:srgbClr val="C00000"/>
                </a:solidFill>
              </a:rPr>
              <a:t> </a:t>
            </a:r>
            <a:r>
              <a:rPr sz="4000" dirty="0">
                <a:solidFill>
                  <a:srgbClr val="C00000"/>
                </a:solidFill>
              </a:rPr>
              <a:t>-</a:t>
            </a:r>
            <a:r>
              <a:rPr sz="4000" spc="-120" dirty="0">
                <a:solidFill>
                  <a:srgbClr val="C00000"/>
                </a:solidFill>
              </a:rPr>
              <a:t> </a:t>
            </a:r>
            <a:r>
              <a:rPr sz="4000" spc="-10" dirty="0">
                <a:solidFill>
                  <a:srgbClr val="C00000"/>
                </a:solidFill>
              </a:rPr>
              <a:t>Unions</a:t>
            </a:r>
            <a:endParaRPr sz="40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544" y="1080516"/>
            <a:ext cx="11887200" cy="36880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1544" y="1080516"/>
            <a:ext cx="11887200" cy="368935"/>
          </a:xfrm>
          <a:prstGeom prst="rect">
            <a:avLst/>
          </a:prstGeom>
          <a:ln w="12700">
            <a:solidFill>
              <a:srgbClr val="EC7C3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alibri"/>
                <a:cs typeface="Calibri"/>
              </a:rPr>
              <a:t>Sales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Order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1544" y="1449324"/>
            <a:ext cx="11887200" cy="2863850"/>
          </a:xfrm>
          <a:custGeom>
            <a:avLst/>
            <a:gdLst/>
            <a:ahLst/>
            <a:cxnLst/>
            <a:rect l="l" t="t" r="r" b="b"/>
            <a:pathLst>
              <a:path w="11887200" h="2863850">
                <a:moveTo>
                  <a:pt x="0" y="2863596"/>
                </a:moveTo>
                <a:lnTo>
                  <a:pt x="11887200" y="2863596"/>
                </a:lnTo>
                <a:lnTo>
                  <a:pt x="11887200" y="0"/>
                </a:lnTo>
                <a:lnTo>
                  <a:pt x="0" y="0"/>
                </a:lnTo>
                <a:lnTo>
                  <a:pt x="0" y="2863596"/>
                </a:lnTo>
                <a:close/>
              </a:path>
            </a:pathLst>
          </a:custGeom>
          <a:ln w="1270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3593" y="1467688"/>
            <a:ext cx="10250805" cy="2772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“Show</a:t>
            </a:r>
            <a:r>
              <a:rPr sz="18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me</a:t>
            </a:r>
            <a:r>
              <a:rPr sz="18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all</a:t>
            </a:r>
            <a:r>
              <a:rPr sz="18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customers</a:t>
            </a:r>
            <a:r>
              <a:rPr sz="18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18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employee</a:t>
            </a:r>
            <a:r>
              <a:rPr sz="18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names</a:t>
            </a:r>
            <a:r>
              <a:rPr sz="18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18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addresses</a:t>
            </a:r>
            <a:r>
              <a:rPr sz="18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including</a:t>
            </a:r>
            <a:r>
              <a:rPr sz="18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any</a:t>
            </a:r>
            <a:r>
              <a:rPr sz="18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duplicates,</a:t>
            </a:r>
            <a:r>
              <a:rPr sz="18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sorted</a:t>
            </a:r>
            <a:r>
              <a:rPr sz="18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by</a:t>
            </a:r>
            <a:r>
              <a:rPr sz="18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ZIP</a:t>
            </a:r>
            <a:r>
              <a:rPr sz="1800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0000"/>
                </a:solidFill>
                <a:latin typeface="Calibri"/>
                <a:cs typeface="Calibri"/>
              </a:rPr>
              <a:t>Code.”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85"/>
              </a:spcBef>
            </a:pPr>
            <a:r>
              <a:rPr sz="1600" b="1" dirty="0">
                <a:latin typeface="Calibri"/>
                <a:cs typeface="Calibri"/>
              </a:rPr>
              <a:t>SELECT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Concat(CustFirstName,</a:t>
            </a:r>
            <a:r>
              <a:rPr sz="1600" spc="3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“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“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,</a:t>
            </a:r>
            <a:r>
              <a:rPr sz="1600" spc="30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CustLastName)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EmployeeName,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CustStreetAddress,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CustCity,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CustState,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CustZIPCode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FROM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Customers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20"/>
              </a:spcBef>
            </a:pPr>
            <a:r>
              <a:rPr sz="1600" b="1" dirty="0">
                <a:latin typeface="Calibri"/>
                <a:cs typeface="Calibri"/>
              </a:rPr>
              <a:t>UNION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ALL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20"/>
              </a:spcBef>
            </a:pPr>
            <a:r>
              <a:rPr sz="1600" b="1" dirty="0">
                <a:latin typeface="Calibri"/>
                <a:cs typeface="Calibri"/>
              </a:rPr>
              <a:t>SELEC</a:t>
            </a:r>
            <a:r>
              <a:rPr sz="1600" dirty="0">
                <a:latin typeface="Calibri"/>
                <a:cs typeface="Calibri"/>
              </a:rPr>
              <a:t>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Concat(EmpFirstName,</a:t>
            </a:r>
            <a:r>
              <a:rPr sz="1600" spc="2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“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“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EmpLastName)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EmployeeName,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EmpStreetAddress,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EmpCity,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EmpState,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EmpZIPCode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FROM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Employees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20"/>
              </a:spcBef>
            </a:pPr>
            <a:r>
              <a:rPr sz="1600" b="1" dirty="0">
                <a:latin typeface="Calibri"/>
                <a:cs typeface="Calibri"/>
              </a:rPr>
              <a:t>ORDER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BY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CustZipCode</a:t>
            </a:r>
            <a:r>
              <a:rPr sz="1600" b="1" spc="-10" dirty="0">
                <a:latin typeface="Calibri"/>
                <a:cs typeface="Calibri"/>
              </a:rPr>
              <a:t>;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515" y="164592"/>
            <a:ext cx="11596370" cy="708660"/>
          </a:xfrm>
          <a:prstGeom prst="rect">
            <a:avLst/>
          </a:prstGeom>
          <a:ln w="6350">
            <a:solidFill>
              <a:srgbClr val="FFC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105"/>
              </a:spcBef>
            </a:pPr>
            <a:r>
              <a:rPr sz="4000" spc="-10" dirty="0">
                <a:solidFill>
                  <a:srgbClr val="C00000"/>
                </a:solidFill>
              </a:rPr>
              <a:t>Subqueries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18515" y="1091183"/>
            <a:ext cx="11596370" cy="1908175"/>
          </a:xfrm>
          <a:prstGeom prst="rect">
            <a:avLst/>
          </a:prstGeom>
          <a:ln w="12700">
            <a:solidFill>
              <a:srgbClr val="EC7C3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80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What</a:t>
            </a:r>
            <a:r>
              <a:rPr sz="2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8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Subquery</a:t>
            </a:r>
            <a:endParaRPr sz="2800">
              <a:latin typeface="Calibri"/>
              <a:cs typeface="Calibri"/>
            </a:endParaRPr>
          </a:p>
          <a:p>
            <a:pPr marL="91440" marR="660400">
              <a:lnSpc>
                <a:spcPct val="100000"/>
              </a:lnSpc>
              <a:spcBef>
                <a:spcPts val="2225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Subquery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SELECT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expression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embed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inside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clauses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SELECT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statement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final </a:t>
            </a:r>
            <a:r>
              <a:rPr sz="1800" dirty="0">
                <a:latin typeface="Calibri"/>
                <a:cs typeface="Calibri"/>
              </a:rPr>
              <a:t>query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statement.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515" y="3307079"/>
            <a:ext cx="11596116" cy="37033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18515" y="3307079"/>
            <a:ext cx="11596370" cy="370840"/>
          </a:xfrm>
          <a:prstGeom prst="rect">
            <a:avLst/>
          </a:prstGeom>
          <a:ln w="12700">
            <a:solidFill>
              <a:srgbClr val="EC7C3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/>
                <a:cs typeface="Calibri"/>
              </a:rPr>
              <a:t>Sales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Order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8515" y="3677411"/>
            <a:ext cx="11596370" cy="2123440"/>
          </a:xfrm>
          <a:custGeom>
            <a:avLst/>
            <a:gdLst/>
            <a:ahLst/>
            <a:cxnLst/>
            <a:rect l="l" t="t" r="r" b="b"/>
            <a:pathLst>
              <a:path w="11596370" h="2123440">
                <a:moveTo>
                  <a:pt x="0" y="2122932"/>
                </a:moveTo>
                <a:lnTo>
                  <a:pt x="11596116" y="2122932"/>
                </a:lnTo>
                <a:lnTo>
                  <a:pt x="11596116" y="0"/>
                </a:lnTo>
                <a:lnTo>
                  <a:pt x="0" y="0"/>
                </a:lnTo>
                <a:lnTo>
                  <a:pt x="0" y="2122932"/>
                </a:lnTo>
                <a:close/>
              </a:path>
            </a:pathLst>
          </a:custGeom>
          <a:ln w="1270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0260" y="3695141"/>
            <a:ext cx="6999605" cy="20408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“List</a:t>
            </a:r>
            <a:r>
              <a:rPr sz="18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vendors</a:t>
            </a:r>
            <a:r>
              <a:rPr sz="18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18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count</a:t>
            </a:r>
            <a:r>
              <a:rPr sz="18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18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products</a:t>
            </a:r>
            <a:r>
              <a:rPr sz="18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they</a:t>
            </a:r>
            <a:r>
              <a:rPr sz="18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sell</a:t>
            </a:r>
            <a:r>
              <a:rPr sz="18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spc="-20" dirty="0">
                <a:solidFill>
                  <a:srgbClr val="FF0000"/>
                </a:solidFill>
                <a:latin typeface="Calibri"/>
                <a:cs typeface="Calibri"/>
              </a:rPr>
              <a:t>us.”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85"/>
              </a:spcBef>
            </a:pPr>
            <a:r>
              <a:rPr sz="1600" b="1" dirty="0">
                <a:latin typeface="Calibri"/>
                <a:cs typeface="Calibri"/>
              </a:rPr>
              <a:t>SELECT</a:t>
            </a:r>
            <a:r>
              <a:rPr sz="1600" b="1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VendName,</a:t>
            </a:r>
            <a:endParaRPr sz="1600" dirty="0">
              <a:latin typeface="Calibri"/>
              <a:cs typeface="Calibri"/>
            </a:endParaRPr>
          </a:p>
          <a:p>
            <a:pPr marL="735965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(</a:t>
            </a:r>
            <a:r>
              <a:rPr sz="1600" b="1" dirty="0">
                <a:latin typeface="Calibri"/>
                <a:cs typeface="Calibri"/>
              </a:rPr>
              <a:t>SELECT</a:t>
            </a:r>
            <a:r>
              <a:rPr sz="1600" b="1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COUNT(*)</a:t>
            </a:r>
            <a:endParaRPr sz="1600" dirty="0">
              <a:latin typeface="Calibri"/>
              <a:cs typeface="Calibri"/>
            </a:endParaRPr>
          </a:p>
          <a:p>
            <a:pPr marL="828675"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FROM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Product_Vendors</a:t>
            </a:r>
            <a:endParaRPr sz="1600" dirty="0">
              <a:latin typeface="Calibri"/>
              <a:cs typeface="Calibri"/>
            </a:endParaRPr>
          </a:p>
          <a:p>
            <a:pPr marL="828675"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WHERE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spc="-30" dirty="0">
                <a:latin typeface="Calibri"/>
                <a:cs typeface="Calibri"/>
              </a:rPr>
              <a:t>Vendors.VendorID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Product_Vendors.VendorID)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ProductsCount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20"/>
              </a:spcBef>
            </a:pPr>
            <a:r>
              <a:rPr sz="1600" b="1" dirty="0">
                <a:latin typeface="Calibri"/>
                <a:cs typeface="Calibri"/>
              </a:rPr>
              <a:t>FROM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Vendors;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544" y="164592"/>
            <a:ext cx="11887200" cy="7086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1544" y="164592"/>
            <a:ext cx="11887200" cy="708660"/>
          </a:xfrm>
          <a:prstGeom prst="rect">
            <a:avLst/>
          </a:prstGeom>
          <a:ln w="6350">
            <a:solidFill>
              <a:srgbClr val="FFC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4000" spc="-10" dirty="0">
                <a:solidFill>
                  <a:srgbClr val="C00000"/>
                </a:solidFill>
              </a:rPr>
              <a:t>Examples</a:t>
            </a:r>
            <a:r>
              <a:rPr sz="4000" spc="-95" dirty="0">
                <a:solidFill>
                  <a:srgbClr val="C00000"/>
                </a:solidFill>
              </a:rPr>
              <a:t> </a:t>
            </a:r>
            <a:r>
              <a:rPr sz="4000" dirty="0">
                <a:solidFill>
                  <a:srgbClr val="C00000"/>
                </a:solidFill>
              </a:rPr>
              <a:t>-</a:t>
            </a:r>
            <a:r>
              <a:rPr sz="4000" spc="-100" dirty="0">
                <a:solidFill>
                  <a:srgbClr val="C00000"/>
                </a:solidFill>
              </a:rPr>
              <a:t> </a:t>
            </a:r>
            <a:r>
              <a:rPr sz="4000" spc="-10" dirty="0">
                <a:solidFill>
                  <a:srgbClr val="C00000"/>
                </a:solidFill>
              </a:rPr>
              <a:t>Suqueries</a:t>
            </a:r>
            <a:endParaRPr sz="4000"/>
          </a:p>
        </p:txBody>
      </p:sp>
      <p:grpSp>
        <p:nvGrpSpPr>
          <p:cNvPr id="4" name="object 4"/>
          <p:cNvGrpSpPr/>
          <p:nvPr/>
        </p:nvGrpSpPr>
        <p:grpSpPr>
          <a:xfrm>
            <a:off x="155194" y="1074166"/>
            <a:ext cx="11899900" cy="2413000"/>
            <a:chOff x="155194" y="1074166"/>
            <a:chExt cx="11899900" cy="2413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544" y="1080516"/>
              <a:ext cx="11887200" cy="36880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61544" y="1080516"/>
              <a:ext cx="11887200" cy="2400300"/>
            </a:xfrm>
            <a:custGeom>
              <a:avLst/>
              <a:gdLst/>
              <a:ahLst/>
              <a:cxnLst/>
              <a:rect l="l" t="t" r="r" b="b"/>
              <a:pathLst>
                <a:path w="11887200" h="2400300">
                  <a:moveTo>
                    <a:pt x="0" y="368808"/>
                  </a:moveTo>
                  <a:lnTo>
                    <a:pt x="11887200" y="368808"/>
                  </a:lnTo>
                  <a:lnTo>
                    <a:pt x="11887200" y="0"/>
                  </a:lnTo>
                  <a:lnTo>
                    <a:pt x="0" y="0"/>
                  </a:lnTo>
                  <a:lnTo>
                    <a:pt x="0" y="368808"/>
                  </a:lnTo>
                  <a:close/>
                </a:path>
                <a:path w="11887200" h="2400300">
                  <a:moveTo>
                    <a:pt x="0" y="2400300"/>
                  </a:moveTo>
                  <a:lnTo>
                    <a:pt x="11887200" y="2400300"/>
                  </a:lnTo>
                  <a:lnTo>
                    <a:pt x="11887200" y="368808"/>
                  </a:lnTo>
                  <a:lnTo>
                    <a:pt x="0" y="368808"/>
                  </a:lnTo>
                  <a:lnTo>
                    <a:pt x="0" y="2400300"/>
                  </a:lnTo>
                  <a:close/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40893" y="1003487"/>
            <a:ext cx="8480425" cy="241109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4201795">
              <a:lnSpc>
                <a:spcPct val="100000"/>
              </a:lnSpc>
              <a:spcBef>
                <a:spcPts val="844"/>
              </a:spcBef>
            </a:pPr>
            <a:r>
              <a:rPr sz="1800" spc="-10" dirty="0">
                <a:latin typeface="Calibri"/>
                <a:cs typeface="Calibri"/>
              </a:rPr>
              <a:t>Entertainment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Agency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Subqueries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“Display</a:t>
            </a:r>
            <a:r>
              <a:rPr sz="18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all</a:t>
            </a:r>
            <a:r>
              <a:rPr sz="18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customers</a:t>
            </a:r>
            <a:r>
              <a:rPr sz="18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18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date</a:t>
            </a:r>
            <a:r>
              <a:rPr sz="18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18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last</a:t>
            </a:r>
            <a:r>
              <a:rPr sz="18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booking</a:t>
            </a:r>
            <a:r>
              <a:rPr sz="18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each</a:t>
            </a:r>
            <a:r>
              <a:rPr sz="18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customer</a:t>
            </a:r>
            <a:r>
              <a:rPr sz="18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0000"/>
                </a:solidFill>
                <a:latin typeface="Calibri"/>
                <a:cs typeface="Calibri"/>
              </a:rPr>
              <a:t>made.”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sz="1800" b="1" dirty="0">
                <a:latin typeface="Calibri"/>
                <a:cs typeface="Calibri"/>
              </a:rPr>
              <a:t>SELECT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Concat(CustFirstName,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“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“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CustLastName)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CustomerName,</a:t>
            </a:r>
            <a:endParaRPr sz="1800" dirty="0">
              <a:latin typeface="Calibri"/>
              <a:cs typeface="Calibri"/>
            </a:endParaRPr>
          </a:p>
          <a:p>
            <a:pPr marL="95631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(</a:t>
            </a:r>
            <a:r>
              <a:rPr sz="1800" b="1" dirty="0">
                <a:latin typeface="Calibri"/>
                <a:cs typeface="Calibri"/>
              </a:rPr>
              <a:t>SELECT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MAX(StartDate)</a:t>
            </a:r>
            <a:endParaRPr sz="1800" dirty="0">
              <a:latin typeface="Calibri"/>
              <a:cs typeface="Calibri"/>
            </a:endParaRPr>
          </a:p>
          <a:p>
            <a:pPr marL="1007744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FROM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Engagements</a:t>
            </a:r>
            <a:endParaRPr sz="1800" dirty="0">
              <a:latin typeface="Calibri"/>
              <a:cs typeface="Calibri"/>
            </a:endParaRPr>
          </a:p>
          <a:p>
            <a:pPr marL="1007744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WHERE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Customers.CustomerID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Engagements.CustomerID)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LastBookingDate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FROM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Customers;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1544" y="3916679"/>
            <a:ext cx="11887200" cy="37033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61544" y="3916679"/>
            <a:ext cx="11887200" cy="370840"/>
          </a:xfrm>
          <a:prstGeom prst="rect">
            <a:avLst/>
          </a:prstGeom>
          <a:ln w="12700">
            <a:solidFill>
              <a:srgbClr val="EC7C3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/>
                <a:cs typeface="Calibri"/>
              </a:rPr>
              <a:t>Bowling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League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Subqueries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1544" y="4287011"/>
            <a:ext cx="11887200" cy="2307590"/>
          </a:xfrm>
          <a:custGeom>
            <a:avLst/>
            <a:gdLst/>
            <a:ahLst/>
            <a:cxnLst/>
            <a:rect l="l" t="t" r="r" b="b"/>
            <a:pathLst>
              <a:path w="11887200" h="2307590">
                <a:moveTo>
                  <a:pt x="0" y="2307336"/>
                </a:moveTo>
                <a:lnTo>
                  <a:pt x="11887200" y="2307336"/>
                </a:lnTo>
                <a:lnTo>
                  <a:pt x="11887200" y="0"/>
                </a:lnTo>
                <a:lnTo>
                  <a:pt x="0" y="0"/>
                </a:lnTo>
                <a:lnTo>
                  <a:pt x="0" y="2307336"/>
                </a:lnTo>
                <a:close/>
              </a:path>
            </a:pathLst>
          </a:custGeom>
          <a:ln w="1270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53593" y="4305045"/>
            <a:ext cx="744156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“Display</a:t>
            </a:r>
            <a:r>
              <a:rPr sz="18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bowlers</a:t>
            </a:r>
            <a:r>
              <a:rPr sz="18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18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their</a:t>
            </a:r>
            <a:r>
              <a:rPr sz="18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high</a:t>
            </a:r>
            <a:r>
              <a:rPr sz="18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score</a:t>
            </a:r>
            <a:r>
              <a:rPr sz="18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spc="-25" dirty="0">
                <a:solidFill>
                  <a:srgbClr val="FF0000"/>
                </a:solidFill>
                <a:latin typeface="Calibri"/>
                <a:cs typeface="Calibri"/>
              </a:rPr>
              <a:t>.”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60"/>
              </a:spcBef>
            </a:pPr>
            <a:r>
              <a:rPr sz="1800" b="1" dirty="0">
                <a:latin typeface="Calibri"/>
                <a:cs typeface="Calibri"/>
              </a:rPr>
              <a:t>SELECT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Concat(BowlerFirstName,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“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“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BowlerLastName)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BowlerName,</a:t>
            </a:r>
            <a:endParaRPr sz="1800" dirty="0">
              <a:latin typeface="Calibri"/>
              <a:cs typeface="Calibri"/>
            </a:endParaRPr>
          </a:p>
          <a:p>
            <a:pPr marL="115189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(</a:t>
            </a:r>
            <a:r>
              <a:rPr sz="1800" b="1" dirty="0">
                <a:latin typeface="Calibri"/>
                <a:cs typeface="Calibri"/>
              </a:rPr>
              <a:t>SELECT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MAX(RawScore)</a:t>
            </a:r>
            <a:endParaRPr sz="1800" dirty="0">
              <a:latin typeface="Calibri"/>
              <a:cs typeface="Calibri"/>
            </a:endParaRPr>
          </a:p>
          <a:p>
            <a:pPr marL="120523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FROM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Bowler_Scores</a:t>
            </a:r>
            <a:endParaRPr sz="1800" dirty="0">
              <a:latin typeface="Calibri"/>
              <a:cs typeface="Calibri"/>
            </a:endParaRPr>
          </a:p>
          <a:p>
            <a:pPr marL="120523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WHERE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Bowlers.BowlerID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0" dirty="0">
                <a:latin typeface="Calibri"/>
                <a:cs typeface="Calibri"/>
              </a:rPr>
              <a:t> Bowler_Scores.BowlerID)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HighScore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60"/>
              </a:spcBef>
            </a:pPr>
            <a:r>
              <a:rPr sz="1800" b="1" dirty="0">
                <a:latin typeface="Calibri"/>
                <a:cs typeface="Calibri"/>
              </a:rPr>
              <a:t>FROM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Bowlers;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60956" y="5956057"/>
            <a:ext cx="2783555" cy="51211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99276" y="1993392"/>
            <a:ext cx="5330952" cy="80771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515" y="164592"/>
            <a:ext cx="11596116" cy="7086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18515" y="164592"/>
            <a:ext cx="11596370" cy="708660"/>
          </a:xfrm>
          <a:prstGeom prst="rect">
            <a:avLst/>
          </a:prstGeom>
          <a:ln w="6350">
            <a:solidFill>
              <a:srgbClr val="FFC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4000" spc="-10" dirty="0">
                <a:solidFill>
                  <a:srgbClr val="C00000"/>
                </a:solidFill>
              </a:rPr>
              <a:t>Aggregate</a:t>
            </a:r>
            <a:r>
              <a:rPr sz="4000" spc="-204" dirty="0">
                <a:solidFill>
                  <a:srgbClr val="C00000"/>
                </a:solidFill>
              </a:rPr>
              <a:t> </a:t>
            </a:r>
            <a:r>
              <a:rPr sz="4000" spc="-10" dirty="0">
                <a:solidFill>
                  <a:srgbClr val="C00000"/>
                </a:solidFill>
              </a:rPr>
              <a:t>functions</a:t>
            </a:r>
            <a:endParaRPr sz="4000"/>
          </a:p>
        </p:txBody>
      </p:sp>
      <p:grpSp>
        <p:nvGrpSpPr>
          <p:cNvPr id="6" name="object 6"/>
          <p:cNvGrpSpPr/>
          <p:nvPr/>
        </p:nvGrpSpPr>
        <p:grpSpPr>
          <a:xfrm>
            <a:off x="318515" y="947927"/>
            <a:ext cx="11596370" cy="372110"/>
            <a:chOff x="318515" y="947927"/>
            <a:chExt cx="11596370" cy="37211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8515" y="947927"/>
              <a:ext cx="5777484" cy="36880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37148" y="950975"/>
              <a:ext cx="5777484" cy="368808"/>
            </a:xfrm>
            <a:prstGeom prst="rect">
              <a:avLst/>
            </a:prstGeom>
          </p:spPr>
        </p:pic>
      </p:grp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12165" y="943102"/>
          <a:ext cx="11596370" cy="2245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98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8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Sales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Order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–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Simple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Totals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Entertainment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Agency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–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Simple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Totals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70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“How</a:t>
                      </a:r>
                      <a:r>
                        <a:rPr sz="1800" i="1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many</a:t>
                      </a:r>
                      <a:r>
                        <a:rPr sz="1800" i="1" spc="-3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customers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we</a:t>
                      </a:r>
                      <a:r>
                        <a:rPr sz="1800" i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have</a:t>
                      </a:r>
                      <a:r>
                        <a:rPr sz="1800" i="1" spc="-3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i="1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state</a:t>
                      </a:r>
                      <a:r>
                        <a:rPr sz="1800" i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i="1" spc="-3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California?”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SELECT</a:t>
                      </a:r>
                      <a:r>
                        <a:rPr sz="16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Count(*)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NoOfCustomers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Customers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WHERE</a:t>
                      </a:r>
                      <a:r>
                        <a:rPr sz="1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Customers.CustState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'CA’;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“What</a:t>
                      </a:r>
                      <a:r>
                        <a:rPr sz="1800" i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was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i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r>
                        <a:rPr sz="1800" i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value</a:t>
                      </a:r>
                      <a:r>
                        <a:rPr sz="1800" i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i="1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all</a:t>
                      </a:r>
                      <a:r>
                        <a:rPr sz="1800" i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engagements</a:t>
                      </a:r>
                      <a:r>
                        <a:rPr sz="1800" i="1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booked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in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113030">
                        <a:lnSpc>
                          <a:spcPct val="100000"/>
                        </a:lnSpc>
                      </a:pP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October</a:t>
                      </a:r>
                      <a:r>
                        <a:rPr sz="1800" i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2017.”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8515" y="3293364"/>
            <a:ext cx="11596116" cy="37033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8515" y="4863084"/>
            <a:ext cx="11596116" cy="370332"/>
          </a:xfrm>
          <a:prstGeom prst="rect">
            <a:avLst/>
          </a:prstGeom>
        </p:spPr>
      </p:pic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12165" y="3287014"/>
          <a:ext cx="11595734" cy="3539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33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Sales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Order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–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Simple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Totals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8880">
                <a:tc gridSpan="2">
                  <a:txBody>
                    <a:bodyPr/>
                    <a:lstStyle/>
                    <a:p>
                      <a:pPr marL="91440" marR="33972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“List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i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product</a:t>
                      </a:r>
                      <a:r>
                        <a:rPr sz="1800" i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names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i="1" spc="-3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numbers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sz="1800" i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have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800" i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quoted</a:t>
                      </a:r>
                      <a:r>
                        <a:rPr sz="1800" i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price</a:t>
                      </a:r>
                      <a:r>
                        <a:rPr sz="1800" i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greater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than</a:t>
                      </a:r>
                      <a:r>
                        <a:rPr sz="1800" i="1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equal</a:t>
                      </a:r>
                      <a:r>
                        <a:rPr sz="1800" i="1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i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overall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average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retail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price</a:t>
                      </a:r>
                      <a:r>
                        <a:rPr sz="1800" i="1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in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i="1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products</a:t>
                      </a:r>
                      <a:r>
                        <a:rPr sz="1800" i="1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table.”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 gridSpan="2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School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Scheduling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–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Simple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Totals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“What</a:t>
                      </a:r>
                      <a:r>
                        <a:rPr sz="1800" i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i="1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i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largest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we</a:t>
                      </a:r>
                      <a:r>
                        <a:rPr sz="1800" i="1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pay</a:t>
                      </a:r>
                      <a:r>
                        <a:rPr sz="1800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i="1" spc="-3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any</a:t>
                      </a:r>
                      <a:r>
                        <a:rPr sz="1800" i="1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staff</a:t>
                      </a:r>
                      <a:r>
                        <a:rPr sz="1800" i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member?”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C7C30"/>
                      </a:solidFill>
                      <a:prstDash val="solid"/>
                    </a:lnL>
                    <a:lnT w="12700">
                      <a:solidFill>
                        <a:srgbClr val="EC7C3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36385" y="4201976"/>
            <a:ext cx="7703599" cy="5382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784</Words>
  <Application>Microsoft Office PowerPoint</Application>
  <PresentationFormat>Widescreen</PresentationFormat>
  <Paragraphs>107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Calibri</vt:lpstr>
      <vt:lpstr>Times New Roman</vt:lpstr>
      <vt:lpstr>Office Theme</vt:lpstr>
      <vt:lpstr>Structured Query Language - SQL</vt:lpstr>
      <vt:lpstr>Advanced Topics</vt:lpstr>
      <vt:lpstr>Data Sets</vt:lpstr>
      <vt:lpstr>Inner Joins</vt:lpstr>
      <vt:lpstr>Syntax of Inner Joins</vt:lpstr>
      <vt:lpstr>Inner Join Examples</vt:lpstr>
      <vt:lpstr>Inner Join Examples</vt:lpstr>
      <vt:lpstr>Inner Join – Exercise</vt:lpstr>
      <vt:lpstr>Outer Joins</vt:lpstr>
      <vt:lpstr>LEFT Outer Join Examples</vt:lpstr>
      <vt:lpstr>LEFT Outer Join – Exercise</vt:lpstr>
      <vt:lpstr>Unions</vt:lpstr>
      <vt:lpstr>Example - Unions</vt:lpstr>
      <vt:lpstr>Subqueries</vt:lpstr>
      <vt:lpstr>Examples - Suqueries</vt:lpstr>
      <vt:lpstr>Aggregate functions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Qaisar Ali</dc:creator>
  <cp:lastModifiedBy>Hasan Raza Ali</cp:lastModifiedBy>
  <cp:revision>2</cp:revision>
  <dcterms:created xsi:type="dcterms:W3CDTF">2025-06-24T04:51:29Z</dcterms:created>
  <dcterms:modified xsi:type="dcterms:W3CDTF">2025-07-02T06:07:53Z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2023-08-05T00:00:00Z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2025-06-24T00:00:00Z</vt:filetime>
  </property>
  <property fmtid="{D5CDD505-2E9C-101B-9397-08002B2CF9AE}" pid="5" name="Producer">
    <vt:lpwstr>3-Heights(TM) PDF Security Shell 4.8.25.2 (http://www.pdf-tools.com)</vt:lpwstr>
  </property>
</Properties>
</file>