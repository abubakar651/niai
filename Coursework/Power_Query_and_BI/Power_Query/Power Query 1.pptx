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60" r:id="rId1"/>
  </p:sldMasterIdLst>
  <p:notesMasterIdLst>
    <p:notesMasterId r:id="rId15"/>
  </p:notesMasterIdLst>
  <p:sldIdLst>
    <p:sldId id="560" r:id="rId2"/>
    <p:sldId id="581" r:id="rId3"/>
    <p:sldId id="582" r:id="rId4"/>
    <p:sldId id="583" r:id="rId5"/>
    <p:sldId id="584" r:id="rId6"/>
    <p:sldId id="585" r:id="rId7"/>
    <p:sldId id="586" r:id="rId8"/>
    <p:sldId id="587" r:id="rId9"/>
    <p:sldId id="588" r:id="rId10"/>
    <p:sldId id="589" r:id="rId11"/>
    <p:sldId id="590" r:id="rId12"/>
    <p:sldId id="591" r:id="rId13"/>
    <p:sldId id="71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 userDrawn="1">
          <p15:clr>
            <a:srgbClr val="A4A3A4"/>
          </p15:clr>
        </p15:guide>
        <p15:guide id="2" pos="415" userDrawn="1">
          <p15:clr>
            <a:srgbClr val="A4A3A4"/>
          </p15:clr>
        </p15:guide>
        <p15:guide id="3" orient="horz" pos="4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F50"/>
    <a:srgbClr val="8497B0"/>
    <a:srgbClr val="8FAADC"/>
    <a:srgbClr val="2F5597"/>
    <a:srgbClr val="626CC7"/>
    <a:srgbClr val="323B8D"/>
    <a:srgbClr val="21275D"/>
    <a:srgbClr val="161A3E"/>
    <a:srgbClr val="203864"/>
    <a:srgbClr val="8BB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362235-57BD-E327-7430-614996F09C9D}" v="1" dt="2024-07-16T07:49:09.1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2" autoAdjust="0"/>
    <p:restoredTop sz="93447" autoAdjust="0"/>
  </p:normalViewPr>
  <p:slideViewPr>
    <p:cSldViewPr snapToGrid="0">
      <p:cViewPr varScale="1">
        <p:scale>
          <a:sx n="77" d="100"/>
          <a:sy n="77" d="100"/>
        </p:scale>
        <p:origin x="931" y="62"/>
      </p:cViewPr>
      <p:guideLst>
        <p:guide orient="horz" pos="1071"/>
        <p:guide pos="415"/>
        <p:guide orient="horz" pos="459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49362235-57BD-E327-7430-614996F09C9D}"/>
    <pc:docChg chg="addSld">
      <pc:chgData name="Suraj Chopade" userId="S::suraj.chopade@bostoninstituteofanalytics.org::dcc44ee8-6a65-4538-a5e1-c87e14ca7a61" providerId="AD" clId="Web-{49362235-57BD-E327-7430-614996F09C9D}" dt="2024-07-16T07:49:09.184" v="0"/>
      <pc:docMkLst>
        <pc:docMk/>
      </pc:docMkLst>
      <pc:sldChg chg="add">
        <pc:chgData name="Suraj Chopade" userId="S::suraj.chopade@bostoninstituteofanalytics.org::dcc44ee8-6a65-4538-a5e1-c87e14ca7a61" providerId="AD" clId="Web-{49362235-57BD-E327-7430-614996F09C9D}" dt="2024-07-16T07:49:09.184" v="0"/>
        <pc:sldMkLst>
          <pc:docMk/>
          <pc:sldMk cId="228880180" sldId="5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29-08-2026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12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884" y="603666"/>
            <a:ext cx="10834234" cy="6127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84" y="1675075"/>
            <a:ext cx="10834234" cy="43980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65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5269" y="603666"/>
            <a:ext cx="7057847" cy="54542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0409B4-C617-2A18-6BFD-309E9F59F1A6}"/>
              </a:ext>
            </a:extLst>
          </p:cNvPr>
          <p:cNvSpPr/>
          <p:nvPr userDrawn="1"/>
        </p:nvSpPr>
        <p:spPr>
          <a:xfrm>
            <a:off x="1" y="0"/>
            <a:ext cx="4114800" cy="6858000"/>
          </a:xfrm>
          <a:prstGeom prst="rect">
            <a:avLst/>
          </a:prstGeom>
          <a:solidFill>
            <a:srgbClr val="1D1B58"/>
          </a:solidFill>
          <a:ln>
            <a:solidFill>
              <a:srgbClr val="1D1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2049670"/>
            <a:ext cx="2743200" cy="2562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23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882" y="603666"/>
            <a:ext cx="7055274" cy="6127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82" y="1659835"/>
            <a:ext cx="7055274" cy="43980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0409B4-C617-2A18-6BFD-309E9F59F1A6}"/>
              </a:ext>
            </a:extLst>
          </p:cNvPr>
          <p:cNvSpPr/>
          <p:nvPr userDrawn="1"/>
        </p:nvSpPr>
        <p:spPr>
          <a:xfrm>
            <a:off x="8077201" y="0"/>
            <a:ext cx="4114800" cy="6858000"/>
          </a:xfrm>
          <a:prstGeom prst="rect">
            <a:avLst/>
          </a:prstGeom>
          <a:solidFill>
            <a:srgbClr val="1D1B58"/>
          </a:solidFill>
          <a:ln>
            <a:solidFill>
              <a:srgbClr val="1D1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1356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&amp;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881" y="603665"/>
            <a:ext cx="5107239" cy="6127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81" y="1659836"/>
            <a:ext cx="5107239" cy="43980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0409B4-C617-2A18-6BFD-309E9F59F1A6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D1B58"/>
          </a:solidFill>
          <a:ln>
            <a:solidFill>
              <a:srgbClr val="1D1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85285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Flow E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5269" y="603666"/>
            <a:ext cx="7057847" cy="6127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5269" y="1659835"/>
            <a:ext cx="7057847" cy="43980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360409B4-C617-2A18-6BFD-309E9F59F1A6}"/>
              </a:ext>
            </a:extLst>
          </p:cNvPr>
          <p:cNvSpPr/>
          <p:nvPr userDrawn="1"/>
        </p:nvSpPr>
        <p:spPr>
          <a:xfrm>
            <a:off x="1" y="0"/>
            <a:ext cx="4114800" cy="6858000"/>
          </a:xfrm>
          <a:prstGeom prst="homePlate">
            <a:avLst>
              <a:gd name="adj" fmla="val 16049"/>
            </a:avLst>
          </a:prstGeom>
          <a:solidFill>
            <a:srgbClr val="1D1B58"/>
          </a:solidFill>
          <a:ln>
            <a:solidFill>
              <a:srgbClr val="1D1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9F22F4-4B18-0516-26F1-498BF7EBEAB2}"/>
              </a:ext>
            </a:extLst>
          </p:cNvPr>
          <p:cNvSpPr txBox="1">
            <a:spLocks/>
          </p:cNvSpPr>
          <p:nvPr userDrawn="1"/>
        </p:nvSpPr>
        <p:spPr>
          <a:xfrm>
            <a:off x="678882" y="3122614"/>
            <a:ext cx="2978720" cy="612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1"/>
                </a:solidFill>
                <a:latin typeface="Nunito" pitchFamily="2" charset="0"/>
                <a:ea typeface="+mj-ea"/>
                <a:cs typeface="+mj-cs"/>
              </a:defRPr>
            </a:lvl1pPr>
          </a:lstStyle>
          <a:p>
            <a:r>
              <a:rPr lang="en-US" sz="3400" dirty="0">
                <a:solidFill>
                  <a:schemeClr val="bg1"/>
                </a:solidFill>
                <a:latin typeface="Calibri" panose="020F0502020204030204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999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19F22F4-4B18-0516-26F1-498BF7EBEAB2}"/>
              </a:ext>
            </a:extLst>
          </p:cNvPr>
          <p:cNvSpPr txBox="1">
            <a:spLocks/>
          </p:cNvSpPr>
          <p:nvPr userDrawn="1"/>
        </p:nvSpPr>
        <p:spPr>
          <a:xfrm>
            <a:off x="838200" y="3122614"/>
            <a:ext cx="2819401" cy="612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1"/>
                </a:solidFill>
                <a:latin typeface="Nunito" pitchFamily="2" charset="0"/>
                <a:ea typeface="+mj-ea"/>
                <a:cs typeface="+mj-cs"/>
              </a:defRPr>
            </a:lvl1pPr>
          </a:lstStyle>
          <a:p>
            <a:r>
              <a:rPr lang="en-US" sz="3400" dirty="0">
                <a:solidFill>
                  <a:srgbClr val="1D1B58"/>
                </a:solidFill>
                <a:latin typeface="Calibri" panose="020F0502020204030204" pitchFamily="34" charset="0"/>
              </a:rPr>
              <a:t>Click to edit Master title style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7368D9-5898-B04D-9CD2-C5A3736BFFA6}"/>
              </a:ext>
            </a:extLst>
          </p:cNvPr>
          <p:cNvSpPr/>
          <p:nvPr userDrawn="1"/>
        </p:nvSpPr>
        <p:spPr>
          <a:xfrm>
            <a:off x="3454417" y="0"/>
            <a:ext cx="8737584" cy="6858000"/>
          </a:xfrm>
          <a:custGeom>
            <a:avLst/>
            <a:gdLst>
              <a:gd name="connsiteX0" fmla="*/ 0 w 9601184"/>
              <a:gd name="connsiteY0" fmla="*/ 0 h 6858000"/>
              <a:gd name="connsiteX1" fmla="*/ 9601184 w 9601184"/>
              <a:gd name="connsiteY1" fmla="*/ 0 h 6858000"/>
              <a:gd name="connsiteX2" fmla="*/ 9601184 w 9601184"/>
              <a:gd name="connsiteY2" fmla="*/ 6858000 h 6858000"/>
              <a:gd name="connsiteX3" fmla="*/ 0 w 9601184"/>
              <a:gd name="connsiteY3" fmla="*/ 6858000 h 6858000"/>
              <a:gd name="connsiteX4" fmla="*/ 660384 w 9601184"/>
              <a:gd name="connsiteY4" fmla="*/ 3429000 h 6858000"/>
              <a:gd name="connsiteX5" fmla="*/ 0 w 9601184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01184" h="6858000">
                <a:moveTo>
                  <a:pt x="0" y="0"/>
                </a:moveTo>
                <a:lnTo>
                  <a:pt x="9601184" y="0"/>
                </a:lnTo>
                <a:lnTo>
                  <a:pt x="9601184" y="6858000"/>
                </a:lnTo>
                <a:lnTo>
                  <a:pt x="0" y="6858000"/>
                </a:lnTo>
                <a:lnTo>
                  <a:pt x="660384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1D1B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5269" y="603666"/>
            <a:ext cx="7057847" cy="612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5269" y="1659835"/>
            <a:ext cx="7057847" cy="43980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D7751-B046-E6FF-E802-137A168948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412" y="6119532"/>
            <a:ext cx="1958148" cy="54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3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882" y="603666"/>
            <a:ext cx="6687118" cy="6127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82" y="1659835"/>
            <a:ext cx="6687118" cy="43980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9F22F4-4B18-0516-26F1-498BF7EBEAB2}"/>
              </a:ext>
            </a:extLst>
          </p:cNvPr>
          <p:cNvSpPr txBox="1">
            <a:spLocks/>
          </p:cNvSpPr>
          <p:nvPr userDrawn="1"/>
        </p:nvSpPr>
        <p:spPr>
          <a:xfrm>
            <a:off x="8567565" y="3064248"/>
            <a:ext cx="3314556" cy="612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kern="1200">
                <a:solidFill>
                  <a:schemeClr val="tx1"/>
                </a:solidFill>
                <a:latin typeface="Nunito" pitchFamily="2" charset="0"/>
                <a:ea typeface="+mj-ea"/>
                <a:cs typeface="+mj-cs"/>
              </a:defRPr>
            </a:lvl1pPr>
          </a:lstStyle>
          <a:p>
            <a:r>
              <a:rPr lang="en-US" sz="3400" dirty="0">
                <a:solidFill>
                  <a:schemeClr val="bg1"/>
                </a:solidFill>
                <a:latin typeface="Calibri" panose="020F0502020204030204" pitchFamily="34" charset="0"/>
              </a:rPr>
              <a:t>Click to edit Master title style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78CF48E-B68F-E9BA-8398-FF8CD727D1A9}"/>
              </a:ext>
            </a:extLst>
          </p:cNvPr>
          <p:cNvSpPr/>
          <p:nvPr userDrawn="1"/>
        </p:nvSpPr>
        <p:spPr>
          <a:xfrm>
            <a:off x="7543800" y="0"/>
            <a:ext cx="4648201" cy="6858000"/>
          </a:xfrm>
          <a:custGeom>
            <a:avLst/>
            <a:gdLst>
              <a:gd name="connsiteX0" fmla="*/ 0 w 3818882"/>
              <a:gd name="connsiteY0" fmla="*/ 0 h 6858000"/>
              <a:gd name="connsiteX1" fmla="*/ 3818882 w 3818882"/>
              <a:gd name="connsiteY1" fmla="*/ 0 h 6858000"/>
              <a:gd name="connsiteX2" fmla="*/ 3818882 w 3818882"/>
              <a:gd name="connsiteY2" fmla="*/ 6858000 h 6858000"/>
              <a:gd name="connsiteX3" fmla="*/ 0 w 3818882"/>
              <a:gd name="connsiteY3" fmla="*/ 6858000 h 6858000"/>
              <a:gd name="connsiteX4" fmla="*/ 796282 w 3818882"/>
              <a:gd name="connsiteY4" fmla="*/ 3429000 h 6858000"/>
              <a:gd name="connsiteX5" fmla="*/ 0 w 3818882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18882" h="6858000">
                <a:moveTo>
                  <a:pt x="0" y="0"/>
                </a:moveTo>
                <a:lnTo>
                  <a:pt x="3818882" y="0"/>
                </a:lnTo>
                <a:lnTo>
                  <a:pt x="3818882" y="6858000"/>
                </a:lnTo>
                <a:lnTo>
                  <a:pt x="0" y="6858000"/>
                </a:lnTo>
                <a:lnTo>
                  <a:pt x="796282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1D1B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0750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883" y="1709738"/>
            <a:ext cx="1083423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883" y="4589464"/>
            <a:ext cx="10834234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27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881" y="603666"/>
            <a:ext cx="10834233" cy="6127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881" y="1659835"/>
            <a:ext cx="5340919" cy="43994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659835"/>
            <a:ext cx="5340917" cy="439944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93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881" y="603665"/>
            <a:ext cx="10834234" cy="6127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881" y="1659834"/>
            <a:ext cx="5318693" cy="655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881" y="2505075"/>
            <a:ext cx="5318693" cy="35528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59834"/>
            <a:ext cx="5340914" cy="6553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340914" cy="35528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9789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884" y="603666"/>
            <a:ext cx="10834234" cy="612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1256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593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881" y="603666"/>
            <a:ext cx="4093145" cy="14537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9" y="1659835"/>
            <a:ext cx="6329928" cy="4201215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8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4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8881" y="2315183"/>
            <a:ext cx="4093145" cy="3553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8349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884" y="603666"/>
            <a:ext cx="10834234" cy="6127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8884" y="1659834"/>
            <a:ext cx="10834234" cy="4166933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5053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 rot="16200000">
            <a:off x="4770665" y="-2959994"/>
            <a:ext cx="2628900" cy="12213771"/>
          </a:xfrm>
        </p:spPr>
        <p:txBody>
          <a:bodyPr vert="eaVert"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6747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884" y="603666"/>
            <a:ext cx="10834232" cy="6127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884" y="1659835"/>
            <a:ext cx="10834234" cy="4398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817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77" r:id="rId7"/>
    <p:sldLayoutId id="2147483676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70" r:id="rId15"/>
    <p:sldLayoutId id="214748367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623251" y="669056"/>
            <a:ext cx="471006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Power BI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658813" y="1551096"/>
            <a:ext cx="8592206" cy="3604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Introduction to Power BI and Key Features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Exploring Power BI Desktop Interface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Data Transformation and Modeling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Data Analysis Expressions (DAX)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Advanced DAX Calculations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Charts, Page Layouts, and Dashboard Creation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</a:rPr>
              <a:t>Publishing, Sharing, and Hands-On Exercises</a:t>
            </a:r>
          </a:p>
        </p:txBody>
      </p:sp>
    </p:spTree>
    <p:extLst>
      <p:ext uri="{BB962C8B-B14F-4D97-AF65-F5344CB8AC3E}">
        <p14:creationId xmlns:p14="http://schemas.microsoft.com/office/powerpoint/2010/main" val="77811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658813" y="708962"/>
            <a:ext cx="657039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ea typeface="+mj-lt"/>
                <a:cs typeface="Times New Roman"/>
              </a:rPr>
              <a:t>Introduction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 to Power BI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658813" y="1700213"/>
            <a:ext cx="11146219" cy="43242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Power BI is a powerful </a:t>
            </a: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business intelligence and data visualization tool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developed by Microsoft.</a:t>
            </a:r>
            <a:endParaRPr lang="en-US" sz="2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Data Connectivity: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Connect to various data sources.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Data Transformation: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Clean, reshape, and combine data using Power Query.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Data Modeling: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Create relationships, calculated columns, and measures.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Report Authoring: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Build interactive reports and dashboards in Power BI Desktop.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DAX: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Use Data Analysis Expressions for custom calculations.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Data Insights: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Quick Insights feature for automatic pattern discovery.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Sharing: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Publish, share, and collaborate on reports in Power BI Service.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Mobile Access: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Access and interact with reports on mobile devices.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Custom Visualizations: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Extend and customize visuals.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Security and Governance: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Ensure data privacy and compliance.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6291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658813" y="728663"/>
            <a:ext cx="657039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+mj-lt"/>
                <a:cs typeface="Times New Roman"/>
              </a:rPr>
              <a:t>Cont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ea typeface="+mj-lt"/>
                <a:cs typeface="Times New Roman"/>
              </a:rPr>
              <a:t>…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+mn-lt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658813" y="1510596"/>
            <a:ext cx="8381999" cy="41025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Installation and Setup: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Download Power BI Desktop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from the Microsoft website.</a:t>
            </a:r>
            <a:endParaRPr lang="en-US" sz="2200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Install Power BI Desktop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on your Windows computer.</a:t>
            </a:r>
            <a:endParaRPr lang="en-US" sz="2200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Create a Power BI Service Account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for sharing and collaboration.</a:t>
            </a:r>
            <a:endParaRPr lang="en-US" sz="2200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Connect to Data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from your data sources.</a:t>
            </a:r>
            <a:endParaRPr lang="en-US" sz="2200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Build Your Reports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using Power BI Desktop.</a:t>
            </a:r>
            <a:endParaRPr lang="en-US" sz="2200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Publish to Power BI Service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for sharing and setting data refresh schedules.</a:t>
            </a:r>
            <a:endParaRPr lang="en-US" sz="2200" dirty="0">
              <a:ea typeface="+mn-lt"/>
              <a:cs typeface="+mn-lt"/>
            </a:endParaRPr>
          </a:p>
        </p:txBody>
      </p: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D649E340-3F51-AB6B-E096-3CF99E4D0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590" y="1048237"/>
            <a:ext cx="2955169" cy="476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86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3675149" y="1455650"/>
            <a:ext cx="4493171" cy="5525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Power BI and Power BI Desktop </a:t>
            </a:r>
            <a:endParaRPr lang="en-US" sz="22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A5F316-8953-7196-6355-E7666694C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37776"/>
              </p:ext>
            </p:extLst>
          </p:nvPr>
        </p:nvGraphicFramePr>
        <p:xfrm>
          <a:off x="1137792" y="2076275"/>
          <a:ext cx="9916415" cy="3956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412">
                  <a:extLst>
                    <a:ext uri="{9D8B030D-6E8A-4147-A177-3AD203B41FA5}">
                      <a16:colId xmlns:a16="http://schemas.microsoft.com/office/drawing/2014/main" val="354845590"/>
                    </a:ext>
                  </a:extLst>
                </a:gridCol>
                <a:gridCol w="4343531">
                  <a:extLst>
                    <a:ext uri="{9D8B030D-6E8A-4147-A177-3AD203B41FA5}">
                      <a16:colId xmlns:a16="http://schemas.microsoft.com/office/drawing/2014/main" val="1148653768"/>
                    </a:ext>
                  </a:extLst>
                </a:gridCol>
                <a:gridCol w="3305472">
                  <a:extLst>
                    <a:ext uri="{9D8B030D-6E8A-4147-A177-3AD203B41FA5}">
                      <a16:colId xmlns:a16="http://schemas.microsoft.com/office/drawing/2014/main" val="2031006829"/>
                    </a:ext>
                  </a:extLst>
                </a:gridCol>
              </a:tblGrid>
              <a:tr h="65761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effectLst/>
                          <a:latin typeface="Nunito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effectLst/>
                          <a:latin typeface="Nunito"/>
                        </a:rPr>
                        <a:t>Power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dirty="0">
                          <a:effectLst/>
                          <a:latin typeface="Nunito"/>
                        </a:rPr>
                        <a:t>Power BI Desktop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73882"/>
                  </a:ext>
                </a:extLst>
              </a:tr>
              <a:tr h="65983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Entire ecosystem for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Standalone report authoring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062592"/>
                  </a:ext>
                </a:extLst>
              </a:tr>
              <a:tr h="65983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Cloud-based, web, and 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Windows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706920"/>
                  </a:ext>
                </a:extLst>
              </a:tr>
              <a:tr h="65983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Collaboration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Share, collaborate, and publish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Report creation and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85756"/>
                  </a:ext>
                </a:extLst>
              </a:tr>
              <a:tr h="65983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Accessible via web and 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Can be used offline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245821"/>
                  </a:ext>
                </a:extLst>
              </a:tr>
              <a:tr h="659839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>
                          <a:effectLst/>
                          <a:latin typeface="Nunito"/>
                        </a:rPr>
                        <a:t>Typically,</a:t>
                      </a:r>
                      <a:r>
                        <a:rPr lang="en-US" sz="1600" dirty="0">
                          <a:effectLst/>
                          <a:latin typeface="Nunito"/>
                        </a:rPr>
                        <a:t> subscription-based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dirty="0">
                          <a:effectLst/>
                          <a:latin typeface="Nunito"/>
                        </a:rPr>
                        <a:t>Free to download and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630068"/>
                  </a:ext>
                </a:extLst>
              </a:tr>
            </a:tbl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50AD9F48-8D01-3C0F-B131-72F5138FF6B9}"/>
              </a:ext>
            </a:extLst>
          </p:cNvPr>
          <p:cNvSpPr txBox="1">
            <a:spLocks/>
          </p:cNvSpPr>
          <p:nvPr/>
        </p:nvSpPr>
        <p:spPr>
          <a:xfrm>
            <a:off x="658813" y="728663"/>
            <a:ext cx="657039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+mj-lt"/>
                <a:cs typeface="Times New Roman"/>
              </a:rPr>
              <a:t>Cont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ea typeface="+mj-lt"/>
                <a:cs typeface="Times New Roman"/>
              </a:rPr>
              <a:t>…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1882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628602" y="689187"/>
            <a:ext cx="711167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Power BI Desktop Interface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85591" y="1548317"/>
            <a:ext cx="10878205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Overview of Power BI Desktop Interface:</a:t>
            </a:r>
            <a:endParaRPr lang="en-US" sz="2200" dirty="0"/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Ribbon: 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Top menu for actions and tasks.</a:t>
            </a:r>
            <a:endParaRPr lang="en-US" sz="2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Visualizations Pane: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Right-side panel for configuring visuals.</a:t>
            </a:r>
            <a:endParaRPr lang="en-US" sz="2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Fields Pane: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Right-side panel displaying data fields.</a:t>
            </a:r>
            <a:endParaRPr lang="en-US" sz="2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Report View: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Central canvas for building visuals.</a:t>
            </a:r>
            <a:endParaRPr lang="en-US" sz="2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Pages Pane: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Left-side panel for managing report pages.</a:t>
            </a:r>
            <a:endParaRPr lang="en-US" sz="2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Filters Pane: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Right-side panel for adding filters.</a:t>
            </a:r>
            <a:endParaRPr lang="en-US" sz="2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Data View: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View the underlying data tables.</a:t>
            </a:r>
            <a:endParaRPr lang="en-US" sz="2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Model View: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Visualize table relationships.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4922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616019" y="662583"/>
            <a:ext cx="711167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Cont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…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4E18647-B664-0858-6CB6-EF646E526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620" y="1175897"/>
            <a:ext cx="7926760" cy="496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350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523C715E-3461-CB88-D4B3-FB1DEEC0E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269" y="1301732"/>
            <a:ext cx="7709461" cy="4824537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D2A4B45D-7EE4-9590-49FA-537286E3A711}"/>
              </a:ext>
            </a:extLst>
          </p:cNvPr>
          <p:cNvSpPr txBox="1">
            <a:spLocks/>
          </p:cNvSpPr>
          <p:nvPr/>
        </p:nvSpPr>
        <p:spPr>
          <a:xfrm>
            <a:off x="616019" y="662583"/>
            <a:ext cx="711167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Cont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4995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658813" y="698345"/>
            <a:ext cx="807337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Power BI Workspace Elements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5B939-40F0-6E16-24C8-095456C9C923}"/>
              </a:ext>
            </a:extLst>
          </p:cNvPr>
          <p:cNvSpPr txBox="1"/>
          <p:nvPr/>
        </p:nvSpPr>
        <p:spPr>
          <a:xfrm>
            <a:off x="598752" y="1513346"/>
            <a:ext cx="10657489" cy="15735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</a:rPr>
              <a:t>Ribbons: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</a:rPr>
              <a:t>Home, Model, View, Transform Data, External Data:</a:t>
            </a:r>
            <a:r>
              <a:rPr lang="en-US" sz="2200" dirty="0">
                <a:solidFill>
                  <a:srgbClr val="374151"/>
                </a:solidFill>
              </a:rPr>
              <a:t> Manage data, visuals, and design settings.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50BD034-CB11-1A9B-05B2-28CDE2D3D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52" y="3831642"/>
            <a:ext cx="11098923" cy="138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85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65B939-40F0-6E16-24C8-095456C9C923}"/>
              </a:ext>
            </a:extLst>
          </p:cNvPr>
          <p:cNvSpPr txBox="1"/>
          <p:nvPr/>
        </p:nvSpPr>
        <p:spPr>
          <a:xfrm>
            <a:off x="658813" y="1546901"/>
            <a:ext cx="5927150" cy="3604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</a:rPr>
              <a:t>Panes:</a:t>
            </a:r>
            <a:endParaRPr lang="en-US" dirty="0"/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</a:rPr>
              <a:t>Fields Pane:</a:t>
            </a:r>
            <a:r>
              <a:rPr lang="en-US" sz="2200" dirty="0">
                <a:solidFill>
                  <a:srgbClr val="374151"/>
                </a:solidFill>
              </a:rPr>
              <a:t> Connect to data sources and select fields.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</a:rPr>
              <a:t>Visualizations Pane:</a:t>
            </a:r>
            <a:r>
              <a:rPr lang="en-US" sz="2200" dirty="0">
                <a:solidFill>
                  <a:srgbClr val="374151"/>
                </a:solidFill>
              </a:rPr>
              <a:t> Choose visual types and customize them.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</a:rPr>
              <a:t>Filters, Selection Pane:</a:t>
            </a:r>
            <a:r>
              <a:rPr lang="en-US" sz="2200" dirty="0">
                <a:solidFill>
                  <a:srgbClr val="374151"/>
                </a:solidFill>
              </a:rPr>
              <a:t> Add interactivity and manage visual layers.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4121298-29C3-C4C7-984F-206FC6599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338" y="1142245"/>
            <a:ext cx="4446104" cy="4671791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A7AF16B8-F9B5-8274-F2F7-BF5B80759FF7}"/>
              </a:ext>
            </a:extLst>
          </p:cNvPr>
          <p:cNvSpPr txBox="1">
            <a:spLocks/>
          </p:cNvSpPr>
          <p:nvPr/>
        </p:nvSpPr>
        <p:spPr>
          <a:xfrm>
            <a:off x="658813" y="637446"/>
            <a:ext cx="711167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Cont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17358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65B939-40F0-6E16-24C8-095456C9C923}"/>
              </a:ext>
            </a:extLst>
          </p:cNvPr>
          <p:cNvSpPr txBox="1"/>
          <p:nvPr/>
        </p:nvSpPr>
        <p:spPr>
          <a:xfrm>
            <a:off x="616019" y="1509151"/>
            <a:ext cx="9664262" cy="15735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</a:rPr>
              <a:t>Menus:</a:t>
            </a:r>
            <a:endParaRPr lang="en-US" dirty="0"/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</a:rPr>
              <a:t>File, Edit, View, Data, Model, Visualizations:</a:t>
            </a:r>
            <a:r>
              <a:rPr lang="en-US" sz="2200" dirty="0">
                <a:solidFill>
                  <a:srgbClr val="374151"/>
                </a:solidFill>
              </a:rPr>
              <a:t> Access file operations, editing, view settings, data management, and report customization.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6560C0C-DC1A-98D6-02CA-95BA4552431B}"/>
              </a:ext>
            </a:extLst>
          </p:cNvPr>
          <p:cNvSpPr txBox="1">
            <a:spLocks/>
          </p:cNvSpPr>
          <p:nvPr/>
        </p:nvSpPr>
        <p:spPr>
          <a:xfrm>
            <a:off x="616019" y="662583"/>
            <a:ext cx="711167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Cont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44320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658813" y="693138"/>
            <a:ext cx="5519361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Data Transformation</a:t>
            </a:r>
            <a:endParaRPr 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5B939-40F0-6E16-24C8-095456C9C923}"/>
              </a:ext>
            </a:extLst>
          </p:cNvPr>
          <p:cNvSpPr txBox="1"/>
          <p:nvPr/>
        </p:nvSpPr>
        <p:spPr>
          <a:xfrm>
            <a:off x="606316" y="1585746"/>
            <a:ext cx="11323296" cy="42088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ea typeface="+mn-lt"/>
                <a:cs typeface="+mn-lt"/>
              </a:rPr>
              <a:t>Import Data:</a:t>
            </a: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 Load your data into Power BI from various sources.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ea typeface="+mn-lt"/>
                <a:cs typeface="+mn-lt"/>
              </a:rPr>
              <a:t>Query Editor:</a:t>
            </a: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 Access it from the Home tab for data transformation.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ea typeface="+mn-lt"/>
                <a:cs typeface="+mn-lt"/>
              </a:rPr>
              <a:t>Filter Data:</a:t>
            </a: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 Remove unnecessary rows/columns.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ea typeface="+mn-lt"/>
                <a:cs typeface="+mn-lt"/>
              </a:rPr>
              <a:t>Transform Data:</a:t>
            </a: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 Change data types, split/merge columns, create custom columns.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ea typeface="+mn-lt"/>
                <a:cs typeface="+mn-lt"/>
              </a:rPr>
              <a:t>Clean Data:</a:t>
            </a: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 Handle missing values and data anomalies.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ea typeface="+mn-lt"/>
                <a:cs typeface="+mn-lt"/>
              </a:rPr>
              <a:t>Data Modeling:</a:t>
            </a: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 Create relationships between tables if needed.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ea typeface="+mn-lt"/>
                <a:cs typeface="+mn-lt"/>
              </a:rPr>
              <a:t>DAX Calculations:</a:t>
            </a: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 Use Data Analysis Expressions to create custom calculations and measures.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ea typeface="+mn-lt"/>
                <a:cs typeface="+mn-lt"/>
              </a:rPr>
              <a:t>Loading Data:</a:t>
            </a: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 Apply data transformations and load data for visualization.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ea typeface="+mn-lt"/>
                <a:cs typeface="+mn-lt"/>
              </a:rPr>
              <a:t>Data Refresh:</a:t>
            </a: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 Set up automatic data refresh for dynamic data sources.</a:t>
            </a: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0169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658813" y="653775"/>
            <a:ext cx="402163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Data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/>
              </a:rPr>
              <a:t>Modeling</a:t>
            </a:r>
            <a:endParaRPr lang="en-US" dirty="0" err="1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5B939-40F0-6E16-24C8-095456C9C923}"/>
              </a:ext>
            </a:extLst>
          </p:cNvPr>
          <p:cNvSpPr txBox="1"/>
          <p:nvPr/>
        </p:nvSpPr>
        <p:spPr>
          <a:xfrm>
            <a:off x="606316" y="1615108"/>
            <a:ext cx="11323296" cy="46705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ea typeface="+mn-lt"/>
                <a:cs typeface="+mn-lt"/>
              </a:rPr>
              <a:t>Data Modeling Concepts:</a:t>
            </a:r>
            <a:endParaRPr lang="en-US" sz="20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Tables: Identify data tables.</a:t>
            </a:r>
            <a:endParaRPr lang="en-US" sz="2000" dirty="0"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Columns: Understand attributes.</a:t>
            </a:r>
            <a:endParaRPr lang="en-US" sz="2000" dirty="0"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Relationships: Define connections.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ea typeface="+mn-lt"/>
                <a:cs typeface="+mn-lt"/>
              </a:rPr>
              <a:t>Establishing Relationships:</a:t>
            </a:r>
            <a:endParaRPr lang="en-US" sz="2000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Identify Keys: Use unique identifiers.</a:t>
            </a:r>
            <a:endParaRPr lang="en-US" sz="2000" dirty="0"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Create Relationships: Connect related data.</a:t>
            </a:r>
            <a:endParaRPr lang="en-US" sz="2000" dirty="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74151"/>
                </a:solidFill>
                <a:ea typeface="+mn-lt"/>
                <a:cs typeface="+mn-lt"/>
              </a:rPr>
              <a:t>Hierarchies:</a:t>
            </a:r>
            <a:endParaRPr lang="en-US" sz="2000" dirty="0"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Date Hierarchies: Year &gt; Quarter &gt; Month &gt; Day.</a:t>
            </a:r>
            <a:endParaRPr lang="en-US" sz="2000" dirty="0"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ea typeface="+mn-lt"/>
                <a:cs typeface="+mn-lt"/>
              </a:rPr>
              <a:t>Custom Hierarchies: Define custom data structures.</a:t>
            </a: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6378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80C857-4384-387E-D3B0-A675AA2C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IN" dirty="0"/>
            </a:br>
            <a:r>
              <a:rPr lang="en-IN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173862094"/>
      </p:ext>
    </p:extLst>
  </p:cSld>
  <p:clrMapOvr>
    <a:masterClrMapping/>
  </p:clrMapOvr>
</p:sld>
</file>

<file path=ppt/theme/theme1.xml><?xml version="1.0" encoding="utf-8"?>
<a:theme xmlns:a="http://schemas.openxmlformats.org/drawingml/2006/main" name="BIA Template">
  <a:themeElements>
    <a:clrScheme name="Custom 4">
      <a:dk1>
        <a:srgbClr val="161A3E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44546A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6921</TotalTime>
  <Words>657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Nunito</vt:lpstr>
      <vt:lpstr>BIA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lastModifiedBy>Hasan Raza Ali</cp:lastModifiedBy>
  <cp:revision>2257</cp:revision>
  <dcterms:created xsi:type="dcterms:W3CDTF">2020-12-23T13:36:00Z</dcterms:created>
  <dcterms:modified xsi:type="dcterms:W3CDTF">2026-08-29T16:10:51Z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