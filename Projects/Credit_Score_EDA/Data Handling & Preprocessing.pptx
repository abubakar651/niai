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7" r:id="rId82"/>
    <p:sldId id="338" r:id="rId83"/>
    <p:sldId id="339" r:id="rId8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768" y="4536519"/>
            <a:ext cx="9906033" cy="12272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5161" y="4572761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9198" y="0"/>
                </a:lnTo>
              </a:path>
            </a:pathLst>
          </a:custGeom>
          <a:ln w="38100">
            <a:solidFill>
              <a:srgbClr val="5DCE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69" y="3462522"/>
            <a:ext cx="1610953" cy="73916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80" y="3575316"/>
            <a:ext cx="1207020" cy="58215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58496" y="3512820"/>
            <a:ext cx="1515110" cy="643255"/>
          </a:xfrm>
          <a:custGeom>
            <a:avLst/>
            <a:gdLst/>
            <a:ahLst/>
            <a:cxnLst/>
            <a:rect l="l" t="t" r="r" b="b"/>
            <a:pathLst>
              <a:path w="1515110" h="643254">
                <a:moveTo>
                  <a:pt x="1514855" y="0"/>
                </a:moveTo>
                <a:lnTo>
                  <a:pt x="0" y="0"/>
                </a:lnTo>
                <a:lnTo>
                  <a:pt x="0" y="643127"/>
                </a:lnTo>
                <a:lnTo>
                  <a:pt x="1514855" y="643127"/>
                </a:lnTo>
                <a:lnTo>
                  <a:pt x="15148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8496" y="3512820"/>
            <a:ext cx="1515110" cy="643255"/>
          </a:xfrm>
          <a:custGeom>
            <a:avLst/>
            <a:gdLst/>
            <a:ahLst/>
            <a:cxnLst/>
            <a:rect l="l" t="t" r="r" b="b"/>
            <a:pathLst>
              <a:path w="1515110" h="643254">
                <a:moveTo>
                  <a:pt x="0" y="643127"/>
                </a:moveTo>
                <a:lnTo>
                  <a:pt x="1514855" y="643127"/>
                </a:lnTo>
                <a:lnTo>
                  <a:pt x="1514855" y="0"/>
                </a:lnTo>
                <a:lnTo>
                  <a:pt x="0" y="0"/>
                </a:lnTo>
                <a:lnTo>
                  <a:pt x="0" y="64312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711"/>
            <a:ext cx="955548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2348" y="1566417"/>
            <a:ext cx="9888220" cy="3964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GiveMeSomeCredi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7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36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38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6768" y="4536519"/>
            <a:ext cx="9906635" cy="123189"/>
            <a:chOff x="906768" y="4536519"/>
            <a:chExt cx="9906635" cy="1231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768" y="4536519"/>
              <a:ext cx="9906033" cy="12272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15161" y="4572761"/>
              <a:ext cx="9839325" cy="0"/>
            </a:xfrm>
            <a:custGeom>
              <a:avLst/>
              <a:gdLst/>
              <a:ahLst/>
              <a:cxnLst/>
              <a:rect l="l" t="t" r="r" b="b"/>
              <a:pathLst>
                <a:path w="9839325">
                  <a:moveTo>
                    <a:pt x="0" y="0"/>
                  </a:moveTo>
                  <a:lnTo>
                    <a:pt x="9839198" y="0"/>
                  </a:lnTo>
                </a:path>
              </a:pathLst>
            </a:custGeom>
            <a:ln w="38100">
              <a:solidFill>
                <a:srgbClr val="5DCE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3139" y="2589657"/>
            <a:ext cx="923226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Data</a:t>
            </a:r>
            <a:r>
              <a:rPr sz="6000" spc="-305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6000" spc="-5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Cleaning</a:t>
            </a:r>
            <a:r>
              <a:rPr sz="6000" spc="-30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600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and</a:t>
            </a:r>
            <a:r>
              <a:rPr sz="6000" spc="-30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6000" spc="-35" dirty="0">
                <a:solidFill>
                  <a:srgbClr val="202745"/>
                </a:solidFill>
                <a:latin typeface="Franklin Gothic Medium"/>
                <a:cs typeface="Franklin Gothic Medium"/>
              </a:rPr>
              <a:t>Preparing </a:t>
            </a:r>
            <a:r>
              <a:rPr sz="600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data</a:t>
            </a:r>
            <a:r>
              <a:rPr sz="6000" spc="-335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600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for</a:t>
            </a:r>
            <a:r>
              <a:rPr sz="6000" spc="-335" dirty="0">
                <a:solidFill>
                  <a:srgbClr val="202745"/>
                </a:solidFill>
                <a:latin typeface="Franklin Gothic Medium"/>
                <a:cs typeface="Franklin Gothic Medium"/>
              </a:rPr>
              <a:t> </a:t>
            </a:r>
            <a:r>
              <a:rPr sz="6000" spc="-10" dirty="0">
                <a:solidFill>
                  <a:srgbClr val="202745"/>
                </a:solidFill>
                <a:latin typeface="Franklin Gothic Medium"/>
                <a:cs typeface="Franklin Gothic Medium"/>
              </a:rPr>
              <a:t>Analysis</a:t>
            </a:r>
            <a:endParaRPr sz="6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7414895" cy="35382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Model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Building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Life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cycle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Raw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-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issues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Exploration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Categorical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Discrete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Exploration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Continuous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Validation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sanitizations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techniques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Standalone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Imputation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Imputation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based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target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827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Model</a:t>
            </a:r>
            <a:r>
              <a:rPr spc="-215" dirty="0"/>
              <a:t> </a:t>
            </a:r>
            <a:r>
              <a:rPr spc="-45" dirty="0"/>
              <a:t>Building</a:t>
            </a:r>
            <a:r>
              <a:rPr spc="-210" dirty="0"/>
              <a:t> </a:t>
            </a:r>
            <a:r>
              <a:rPr spc="-30" dirty="0"/>
              <a:t>Life</a:t>
            </a:r>
            <a:r>
              <a:rPr spc="-229" dirty="0"/>
              <a:t> </a:t>
            </a:r>
            <a:r>
              <a:rPr spc="-20" dirty="0"/>
              <a:t>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505" y="1377950"/>
            <a:ext cx="1647189" cy="885190"/>
            <a:chOff x="111505" y="1377950"/>
            <a:chExt cx="1647189" cy="885190"/>
          </a:xfrm>
        </p:grpSpPr>
        <p:sp>
          <p:nvSpPr>
            <p:cNvPr id="4" name="object 4"/>
            <p:cNvSpPr/>
            <p:nvPr/>
          </p:nvSpPr>
          <p:spPr>
            <a:xfrm>
              <a:off x="124205" y="1390650"/>
              <a:ext cx="1621790" cy="859790"/>
            </a:xfrm>
            <a:custGeom>
              <a:avLst/>
              <a:gdLst/>
              <a:ahLst/>
              <a:cxnLst/>
              <a:rect l="l" t="t" r="r" b="b"/>
              <a:pathLst>
                <a:path w="1621789" h="859789">
                  <a:moveTo>
                    <a:pt x="1478280" y="0"/>
                  </a:moveTo>
                  <a:lnTo>
                    <a:pt x="143256" y="0"/>
                  </a:ln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0" y="716279"/>
                  </a:lnTo>
                  <a:lnTo>
                    <a:pt x="7303" y="761561"/>
                  </a:lnTo>
                  <a:lnTo>
                    <a:pt x="27639" y="800886"/>
                  </a:lnTo>
                  <a:lnTo>
                    <a:pt x="58649" y="831896"/>
                  </a:lnTo>
                  <a:lnTo>
                    <a:pt x="97974" y="852232"/>
                  </a:lnTo>
                  <a:lnTo>
                    <a:pt x="143256" y="859536"/>
                  </a:lnTo>
                  <a:lnTo>
                    <a:pt x="1478280" y="859536"/>
                  </a:lnTo>
                  <a:lnTo>
                    <a:pt x="1523561" y="852232"/>
                  </a:lnTo>
                  <a:lnTo>
                    <a:pt x="1562886" y="831896"/>
                  </a:lnTo>
                  <a:lnTo>
                    <a:pt x="1593896" y="800886"/>
                  </a:lnTo>
                  <a:lnTo>
                    <a:pt x="1614232" y="761561"/>
                  </a:lnTo>
                  <a:lnTo>
                    <a:pt x="1621536" y="716279"/>
                  </a:lnTo>
                  <a:lnTo>
                    <a:pt x="1621536" y="143255"/>
                  </a:lnTo>
                  <a:lnTo>
                    <a:pt x="1614232" y="97974"/>
                  </a:lnTo>
                  <a:lnTo>
                    <a:pt x="1593896" y="58649"/>
                  </a:lnTo>
                  <a:lnTo>
                    <a:pt x="1562886" y="27639"/>
                  </a:lnTo>
                  <a:lnTo>
                    <a:pt x="1523561" y="7303"/>
                  </a:lnTo>
                  <a:lnTo>
                    <a:pt x="1478280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4205" y="1390650"/>
              <a:ext cx="1621790" cy="859790"/>
            </a:xfrm>
            <a:custGeom>
              <a:avLst/>
              <a:gdLst/>
              <a:ahLst/>
              <a:cxnLst/>
              <a:rect l="l" t="t" r="r" b="b"/>
              <a:pathLst>
                <a:path w="1621789" h="859789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478280" y="0"/>
                  </a:lnTo>
                  <a:lnTo>
                    <a:pt x="1523561" y="7303"/>
                  </a:lnTo>
                  <a:lnTo>
                    <a:pt x="1562886" y="27639"/>
                  </a:lnTo>
                  <a:lnTo>
                    <a:pt x="1593896" y="58649"/>
                  </a:lnTo>
                  <a:lnTo>
                    <a:pt x="1614232" y="97974"/>
                  </a:lnTo>
                  <a:lnTo>
                    <a:pt x="1621536" y="143255"/>
                  </a:lnTo>
                  <a:lnTo>
                    <a:pt x="1621536" y="716279"/>
                  </a:lnTo>
                  <a:lnTo>
                    <a:pt x="1614232" y="761561"/>
                  </a:lnTo>
                  <a:lnTo>
                    <a:pt x="1593896" y="800886"/>
                  </a:lnTo>
                  <a:lnTo>
                    <a:pt x="1562886" y="831896"/>
                  </a:lnTo>
                  <a:lnTo>
                    <a:pt x="1523561" y="852232"/>
                  </a:lnTo>
                  <a:lnTo>
                    <a:pt x="1478280" y="859536"/>
                  </a:lnTo>
                  <a:lnTo>
                    <a:pt x="143256" y="859536"/>
                  </a:lnTo>
                  <a:lnTo>
                    <a:pt x="97974" y="852232"/>
                  </a:lnTo>
                  <a:lnTo>
                    <a:pt x="58649" y="831896"/>
                  </a:lnTo>
                  <a:lnTo>
                    <a:pt x="27639" y="800886"/>
                  </a:lnTo>
                  <a:lnTo>
                    <a:pt x="7303" y="761561"/>
                  </a:lnTo>
                  <a:lnTo>
                    <a:pt x="0" y="716279"/>
                  </a:lnTo>
                  <a:lnTo>
                    <a:pt x="0" y="143255"/>
                  </a:lnTo>
                  <a:close/>
                </a:path>
              </a:pathLst>
            </a:custGeom>
            <a:ln w="25399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0504" y="1389075"/>
            <a:ext cx="12071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Background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Objective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31745" y="1377950"/>
            <a:ext cx="1648460" cy="885190"/>
            <a:chOff x="2031745" y="1377950"/>
            <a:chExt cx="1648460" cy="885190"/>
          </a:xfrm>
        </p:grpSpPr>
        <p:sp>
          <p:nvSpPr>
            <p:cNvPr id="8" name="object 8"/>
            <p:cNvSpPr/>
            <p:nvPr/>
          </p:nvSpPr>
          <p:spPr>
            <a:xfrm>
              <a:off x="2044445" y="1390650"/>
              <a:ext cx="1623060" cy="859790"/>
            </a:xfrm>
            <a:custGeom>
              <a:avLst/>
              <a:gdLst/>
              <a:ahLst/>
              <a:cxnLst/>
              <a:rect l="l" t="t" r="r" b="b"/>
              <a:pathLst>
                <a:path w="1623060" h="859789">
                  <a:moveTo>
                    <a:pt x="1479804" y="0"/>
                  </a:moveTo>
                  <a:lnTo>
                    <a:pt x="143256" y="0"/>
                  </a:ln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0" y="716279"/>
                  </a:lnTo>
                  <a:lnTo>
                    <a:pt x="7303" y="761561"/>
                  </a:lnTo>
                  <a:lnTo>
                    <a:pt x="27639" y="800886"/>
                  </a:lnTo>
                  <a:lnTo>
                    <a:pt x="58649" y="831896"/>
                  </a:lnTo>
                  <a:lnTo>
                    <a:pt x="97974" y="852232"/>
                  </a:lnTo>
                  <a:lnTo>
                    <a:pt x="143256" y="859536"/>
                  </a:lnTo>
                  <a:lnTo>
                    <a:pt x="1479804" y="859536"/>
                  </a:lnTo>
                  <a:lnTo>
                    <a:pt x="1525085" y="852232"/>
                  </a:lnTo>
                  <a:lnTo>
                    <a:pt x="1564410" y="831896"/>
                  </a:lnTo>
                  <a:lnTo>
                    <a:pt x="1595420" y="800886"/>
                  </a:lnTo>
                  <a:lnTo>
                    <a:pt x="1615756" y="761561"/>
                  </a:lnTo>
                  <a:lnTo>
                    <a:pt x="1623059" y="716279"/>
                  </a:lnTo>
                  <a:lnTo>
                    <a:pt x="1623059" y="143255"/>
                  </a:lnTo>
                  <a:lnTo>
                    <a:pt x="1615756" y="97974"/>
                  </a:lnTo>
                  <a:lnTo>
                    <a:pt x="1595420" y="58649"/>
                  </a:lnTo>
                  <a:lnTo>
                    <a:pt x="1564410" y="27639"/>
                  </a:lnTo>
                  <a:lnTo>
                    <a:pt x="1525085" y="7303"/>
                  </a:lnTo>
                  <a:lnTo>
                    <a:pt x="1479804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44445" y="1390650"/>
              <a:ext cx="1623060" cy="859790"/>
            </a:xfrm>
            <a:custGeom>
              <a:avLst/>
              <a:gdLst/>
              <a:ahLst/>
              <a:cxnLst/>
              <a:rect l="l" t="t" r="r" b="b"/>
              <a:pathLst>
                <a:path w="1623060" h="859789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479804" y="0"/>
                  </a:lnTo>
                  <a:lnTo>
                    <a:pt x="1525085" y="7303"/>
                  </a:lnTo>
                  <a:lnTo>
                    <a:pt x="1564410" y="27639"/>
                  </a:lnTo>
                  <a:lnTo>
                    <a:pt x="1595420" y="58649"/>
                  </a:lnTo>
                  <a:lnTo>
                    <a:pt x="1615756" y="97974"/>
                  </a:lnTo>
                  <a:lnTo>
                    <a:pt x="1623059" y="143255"/>
                  </a:lnTo>
                  <a:lnTo>
                    <a:pt x="1623059" y="716279"/>
                  </a:lnTo>
                  <a:lnTo>
                    <a:pt x="1615756" y="761561"/>
                  </a:lnTo>
                  <a:lnTo>
                    <a:pt x="1595420" y="800886"/>
                  </a:lnTo>
                  <a:lnTo>
                    <a:pt x="1564410" y="831896"/>
                  </a:lnTo>
                  <a:lnTo>
                    <a:pt x="1525085" y="852232"/>
                  </a:lnTo>
                  <a:lnTo>
                    <a:pt x="1479804" y="859536"/>
                  </a:lnTo>
                  <a:lnTo>
                    <a:pt x="143256" y="859536"/>
                  </a:lnTo>
                  <a:lnTo>
                    <a:pt x="97974" y="852232"/>
                  </a:lnTo>
                  <a:lnTo>
                    <a:pt x="58649" y="831896"/>
                  </a:lnTo>
                  <a:lnTo>
                    <a:pt x="27639" y="800886"/>
                  </a:lnTo>
                  <a:lnTo>
                    <a:pt x="7303" y="761561"/>
                  </a:lnTo>
                  <a:lnTo>
                    <a:pt x="0" y="716279"/>
                  </a:lnTo>
                  <a:lnTo>
                    <a:pt x="0" y="143255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61361" y="1526794"/>
            <a:ext cx="1189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544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Exploration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75429" y="1425194"/>
            <a:ext cx="1648460" cy="883919"/>
            <a:chOff x="4075429" y="1425194"/>
            <a:chExt cx="1648460" cy="883919"/>
          </a:xfrm>
        </p:grpSpPr>
        <p:sp>
          <p:nvSpPr>
            <p:cNvPr id="12" name="object 12"/>
            <p:cNvSpPr/>
            <p:nvPr/>
          </p:nvSpPr>
          <p:spPr>
            <a:xfrm>
              <a:off x="408812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60" h="858519">
                  <a:moveTo>
                    <a:pt x="1480058" y="0"/>
                  </a:moveTo>
                  <a:lnTo>
                    <a:pt x="143002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2" y="858011"/>
                  </a:lnTo>
                  <a:lnTo>
                    <a:pt x="1480058" y="858011"/>
                  </a:lnTo>
                  <a:lnTo>
                    <a:pt x="1525263" y="850723"/>
                  </a:lnTo>
                  <a:lnTo>
                    <a:pt x="1564520" y="830425"/>
                  </a:lnTo>
                  <a:lnTo>
                    <a:pt x="1595473" y="799472"/>
                  </a:lnTo>
                  <a:lnTo>
                    <a:pt x="1615771" y="760215"/>
                  </a:lnTo>
                  <a:lnTo>
                    <a:pt x="1623060" y="715009"/>
                  </a:lnTo>
                  <a:lnTo>
                    <a:pt x="1623060" y="143001"/>
                  </a:lnTo>
                  <a:lnTo>
                    <a:pt x="1615771" y="97796"/>
                  </a:lnTo>
                  <a:lnTo>
                    <a:pt x="1595473" y="58539"/>
                  </a:lnTo>
                  <a:lnTo>
                    <a:pt x="1564520" y="27586"/>
                  </a:lnTo>
                  <a:lnTo>
                    <a:pt x="1525263" y="7288"/>
                  </a:lnTo>
                  <a:lnTo>
                    <a:pt x="1480058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812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60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2" y="0"/>
                  </a:lnTo>
                  <a:lnTo>
                    <a:pt x="1480058" y="0"/>
                  </a:lnTo>
                  <a:lnTo>
                    <a:pt x="1525263" y="7288"/>
                  </a:lnTo>
                  <a:lnTo>
                    <a:pt x="1564520" y="27586"/>
                  </a:lnTo>
                  <a:lnTo>
                    <a:pt x="1595473" y="58539"/>
                  </a:lnTo>
                  <a:lnTo>
                    <a:pt x="1615771" y="97796"/>
                  </a:lnTo>
                  <a:lnTo>
                    <a:pt x="1623060" y="143001"/>
                  </a:lnTo>
                  <a:lnTo>
                    <a:pt x="1623060" y="715009"/>
                  </a:lnTo>
                  <a:lnTo>
                    <a:pt x="1615771" y="760215"/>
                  </a:lnTo>
                  <a:lnTo>
                    <a:pt x="1595473" y="799472"/>
                  </a:lnTo>
                  <a:lnTo>
                    <a:pt x="1564520" y="830425"/>
                  </a:lnTo>
                  <a:lnTo>
                    <a:pt x="1525263" y="850723"/>
                  </a:lnTo>
                  <a:lnTo>
                    <a:pt x="1480058" y="858011"/>
                  </a:lnTo>
                  <a:lnTo>
                    <a:pt x="143002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00803" y="1436370"/>
            <a:ext cx="99821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Preparing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for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60261" y="1425194"/>
            <a:ext cx="1647189" cy="883919"/>
            <a:chOff x="6160261" y="1425194"/>
            <a:chExt cx="1647189" cy="883919"/>
          </a:xfrm>
        </p:grpSpPr>
        <p:sp>
          <p:nvSpPr>
            <p:cNvPr id="16" name="object 16"/>
            <p:cNvSpPr/>
            <p:nvPr/>
          </p:nvSpPr>
          <p:spPr>
            <a:xfrm>
              <a:off x="6172961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1478534" y="0"/>
                  </a:moveTo>
                  <a:lnTo>
                    <a:pt x="143001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1" y="858011"/>
                  </a:lnTo>
                  <a:lnTo>
                    <a:pt x="1478534" y="858011"/>
                  </a:lnTo>
                  <a:lnTo>
                    <a:pt x="1523739" y="850723"/>
                  </a:lnTo>
                  <a:lnTo>
                    <a:pt x="1562996" y="830425"/>
                  </a:lnTo>
                  <a:lnTo>
                    <a:pt x="1593949" y="799472"/>
                  </a:lnTo>
                  <a:lnTo>
                    <a:pt x="1614247" y="760215"/>
                  </a:lnTo>
                  <a:lnTo>
                    <a:pt x="1621536" y="715009"/>
                  </a:lnTo>
                  <a:lnTo>
                    <a:pt x="1621536" y="143001"/>
                  </a:lnTo>
                  <a:lnTo>
                    <a:pt x="1614247" y="97796"/>
                  </a:lnTo>
                  <a:lnTo>
                    <a:pt x="1593949" y="58539"/>
                  </a:lnTo>
                  <a:lnTo>
                    <a:pt x="1562996" y="27586"/>
                  </a:lnTo>
                  <a:lnTo>
                    <a:pt x="1523739" y="7288"/>
                  </a:lnTo>
                  <a:lnTo>
                    <a:pt x="1478534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72961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1" y="0"/>
                  </a:lnTo>
                  <a:lnTo>
                    <a:pt x="1478534" y="0"/>
                  </a:lnTo>
                  <a:lnTo>
                    <a:pt x="1523739" y="7288"/>
                  </a:lnTo>
                  <a:lnTo>
                    <a:pt x="1562996" y="27586"/>
                  </a:lnTo>
                  <a:lnTo>
                    <a:pt x="1593949" y="58539"/>
                  </a:lnTo>
                  <a:lnTo>
                    <a:pt x="1614247" y="97796"/>
                  </a:lnTo>
                  <a:lnTo>
                    <a:pt x="1621536" y="143001"/>
                  </a:lnTo>
                  <a:lnTo>
                    <a:pt x="1621536" y="715009"/>
                  </a:lnTo>
                  <a:lnTo>
                    <a:pt x="1614247" y="760215"/>
                  </a:lnTo>
                  <a:lnTo>
                    <a:pt x="1593949" y="799472"/>
                  </a:lnTo>
                  <a:lnTo>
                    <a:pt x="1562996" y="830425"/>
                  </a:lnTo>
                  <a:lnTo>
                    <a:pt x="1523739" y="850723"/>
                  </a:lnTo>
                  <a:lnTo>
                    <a:pt x="1478534" y="858011"/>
                  </a:lnTo>
                  <a:lnTo>
                    <a:pt x="143001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58890" y="1573529"/>
            <a:ext cx="1250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Building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43569" y="1425194"/>
            <a:ext cx="1648460" cy="883919"/>
            <a:chOff x="8243569" y="1425194"/>
            <a:chExt cx="1648460" cy="883919"/>
          </a:xfrm>
        </p:grpSpPr>
        <p:sp>
          <p:nvSpPr>
            <p:cNvPr id="20" name="object 20"/>
            <p:cNvSpPr/>
            <p:nvPr/>
          </p:nvSpPr>
          <p:spPr>
            <a:xfrm>
              <a:off x="825626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59" h="858519">
                  <a:moveTo>
                    <a:pt x="1480057" y="0"/>
                  </a:moveTo>
                  <a:lnTo>
                    <a:pt x="143001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1" y="858011"/>
                  </a:lnTo>
                  <a:lnTo>
                    <a:pt x="1480057" y="858011"/>
                  </a:lnTo>
                  <a:lnTo>
                    <a:pt x="1525263" y="850723"/>
                  </a:lnTo>
                  <a:lnTo>
                    <a:pt x="1564520" y="830425"/>
                  </a:lnTo>
                  <a:lnTo>
                    <a:pt x="1595473" y="799472"/>
                  </a:lnTo>
                  <a:lnTo>
                    <a:pt x="1615771" y="760215"/>
                  </a:lnTo>
                  <a:lnTo>
                    <a:pt x="1623059" y="715009"/>
                  </a:lnTo>
                  <a:lnTo>
                    <a:pt x="1623059" y="143001"/>
                  </a:lnTo>
                  <a:lnTo>
                    <a:pt x="1615771" y="97796"/>
                  </a:lnTo>
                  <a:lnTo>
                    <a:pt x="1595473" y="58539"/>
                  </a:lnTo>
                  <a:lnTo>
                    <a:pt x="1564520" y="27586"/>
                  </a:lnTo>
                  <a:lnTo>
                    <a:pt x="1525263" y="7288"/>
                  </a:lnTo>
                  <a:lnTo>
                    <a:pt x="1480057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5626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59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1" y="0"/>
                  </a:lnTo>
                  <a:lnTo>
                    <a:pt x="1480057" y="0"/>
                  </a:lnTo>
                  <a:lnTo>
                    <a:pt x="1525263" y="7288"/>
                  </a:lnTo>
                  <a:lnTo>
                    <a:pt x="1564520" y="27586"/>
                  </a:lnTo>
                  <a:lnTo>
                    <a:pt x="1595473" y="58539"/>
                  </a:lnTo>
                  <a:lnTo>
                    <a:pt x="1615771" y="97796"/>
                  </a:lnTo>
                  <a:lnTo>
                    <a:pt x="1623059" y="143001"/>
                  </a:lnTo>
                  <a:lnTo>
                    <a:pt x="1623059" y="715009"/>
                  </a:lnTo>
                  <a:lnTo>
                    <a:pt x="1615771" y="760215"/>
                  </a:lnTo>
                  <a:lnTo>
                    <a:pt x="1595473" y="799472"/>
                  </a:lnTo>
                  <a:lnTo>
                    <a:pt x="1564520" y="830425"/>
                  </a:lnTo>
                  <a:lnTo>
                    <a:pt x="1525263" y="850723"/>
                  </a:lnTo>
                  <a:lnTo>
                    <a:pt x="1480057" y="858011"/>
                  </a:lnTo>
                  <a:lnTo>
                    <a:pt x="143001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34527" y="1573529"/>
            <a:ext cx="1067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Validating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28402" y="1425194"/>
            <a:ext cx="1647189" cy="883919"/>
            <a:chOff x="10328402" y="1425194"/>
            <a:chExt cx="1647189" cy="883919"/>
          </a:xfrm>
        </p:grpSpPr>
        <p:sp>
          <p:nvSpPr>
            <p:cNvPr id="24" name="object 24"/>
            <p:cNvSpPr/>
            <p:nvPr/>
          </p:nvSpPr>
          <p:spPr>
            <a:xfrm>
              <a:off x="10341102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1478533" y="0"/>
                  </a:moveTo>
                  <a:lnTo>
                    <a:pt x="143001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1" y="858011"/>
                  </a:lnTo>
                  <a:lnTo>
                    <a:pt x="1478533" y="858011"/>
                  </a:lnTo>
                  <a:lnTo>
                    <a:pt x="1523739" y="850723"/>
                  </a:lnTo>
                  <a:lnTo>
                    <a:pt x="1562996" y="830425"/>
                  </a:lnTo>
                  <a:lnTo>
                    <a:pt x="1593949" y="799472"/>
                  </a:lnTo>
                  <a:lnTo>
                    <a:pt x="1614247" y="760215"/>
                  </a:lnTo>
                  <a:lnTo>
                    <a:pt x="1621536" y="715009"/>
                  </a:lnTo>
                  <a:lnTo>
                    <a:pt x="1621536" y="143001"/>
                  </a:lnTo>
                  <a:lnTo>
                    <a:pt x="1614247" y="97796"/>
                  </a:lnTo>
                  <a:lnTo>
                    <a:pt x="1593949" y="58539"/>
                  </a:lnTo>
                  <a:lnTo>
                    <a:pt x="1562996" y="27586"/>
                  </a:lnTo>
                  <a:lnTo>
                    <a:pt x="1523739" y="7288"/>
                  </a:lnTo>
                  <a:lnTo>
                    <a:pt x="1478533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41102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1" y="0"/>
                  </a:lnTo>
                  <a:lnTo>
                    <a:pt x="1478533" y="0"/>
                  </a:lnTo>
                  <a:lnTo>
                    <a:pt x="1523739" y="7288"/>
                  </a:lnTo>
                  <a:lnTo>
                    <a:pt x="1562996" y="27586"/>
                  </a:lnTo>
                  <a:lnTo>
                    <a:pt x="1593949" y="58539"/>
                  </a:lnTo>
                  <a:lnTo>
                    <a:pt x="1614247" y="97796"/>
                  </a:lnTo>
                  <a:lnTo>
                    <a:pt x="1621536" y="143001"/>
                  </a:lnTo>
                  <a:lnTo>
                    <a:pt x="1621536" y="715009"/>
                  </a:lnTo>
                  <a:lnTo>
                    <a:pt x="1614247" y="760215"/>
                  </a:lnTo>
                  <a:lnTo>
                    <a:pt x="1593949" y="799472"/>
                  </a:lnTo>
                  <a:lnTo>
                    <a:pt x="1562996" y="830425"/>
                  </a:lnTo>
                  <a:lnTo>
                    <a:pt x="1523739" y="850723"/>
                  </a:lnTo>
                  <a:lnTo>
                    <a:pt x="1478533" y="858011"/>
                  </a:lnTo>
                  <a:lnTo>
                    <a:pt x="143001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527283" y="1710690"/>
            <a:ext cx="125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Deployment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3444" y="2470404"/>
            <a:ext cx="1621790" cy="492759"/>
          </a:xfrm>
          <a:custGeom>
            <a:avLst/>
            <a:gdLst/>
            <a:ahLst/>
            <a:cxnLst/>
            <a:rect l="l" t="t" r="r" b="b"/>
            <a:pathLst>
              <a:path w="1621789" h="492760">
                <a:moveTo>
                  <a:pt x="1539494" y="0"/>
                </a:moveTo>
                <a:lnTo>
                  <a:pt x="82041" y="0"/>
                </a:lnTo>
                <a:lnTo>
                  <a:pt x="50106" y="6443"/>
                </a:lnTo>
                <a:lnTo>
                  <a:pt x="24028" y="24018"/>
                </a:lnTo>
                <a:lnTo>
                  <a:pt x="6446" y="50095"/>
                </a:lnTo>
                <a:lnTo>
                  <a:pt x="0" y="82042"/>
                </a:lnTo>
                <a:lnTo>
                  <a:pt x="0" y="410210"/>
                </a:lnTo>
                <a:lnTo>
                  <a:pt x="6446" y="442156"/>
                </a:lnTo>
                <a:lnTo>
                  <a:pt x="24028" y="468233"/>
                </a:lnTo>
                <a:lnTo>
                  <a:pt x="50106" y="485808"/>
                </a:lnTo>
                <a:lnTo>
                  <a:pt x="82041" y="492251"/>
                </a:lnTo>
                <a:lnTo>
                  <a:pt x="1539494" y="492251"/>
                </a:lnTo>
                <a:lnTo>
                  <a:pt x="1571440" y="485808"/>
                </a:lnTo>
                <a:lnTo>
                  <a:pt x="1597517" y="468233"/>
                </a:lnTo>
                <a:lnTo>
                  <a:pt x="1615092" y="442156"/>
                </a:lnTo>
                <a:lnTo>
                  <a:pt x="1621536" y="410210"/>
                </a:lnTo>
                <a:lnTo>
                  <a:pt x="1621536" y="82042"/>
                </a:lnTo>
                <a:lnTo>
                  <a:pt x="1615092" y="50095"/>
                </a:lnTo>
                <a:lnTo>
                  <a:pt x="1597517" y="24018"/>
                </a:lnTo>
                <a:lnTo>
                  <a:pt x="1571440" y="6443"/>
                </a:lnTo>
                <a:lnTo>
                  <a:pt x="153949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4111" y="2484882"/>
            <a:ext cx="8007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Business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rebuchet MS"/>
                <a:cs typeface="Trebuchet MS"/>
              </a:rPr>
              <a:t>Objective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43683" y="2470404"/>
            <a:ext cx="1623060" cy="492759"/>
          </a:xfrm>
          <a:custGeom>
            <a:avLst/>
            <a:gdLst/>
            <a:ahLst/>
            <a:cxnLst/>
            <a:rect l="l" t="t" r="r" b="b"/>
            <a:pathLst>
              <a:path w="1623060" h="492760">
                <a:moveTo>
                  <a:pt x="1541018" y="0"/>
                </a:moveTo>
                <a:lnTo>
                  <a:pt x="82042" y="0"/>
                </a:lnTo>
                <a:lnTo>
                  <a:pt x="50095" y="6443"/>
                </a:lnTo>
                <a:lnTo>
                  <a:pt x="24018" y="24018"/>
                </a:lnTo>
                <a:lnTo>
                  <a:pt x="6443" y="50095"/>
                </a:lnTo>
                <a:lnTo>
                  <a:pt x="0" y="82042"/>
                </a:lnTo>
                <a:lnTo>
                  <a:pt x="0" y="410210"/>
                </a:lnTo>
                <a:lnTo>
                  <a:pt x="6443" y="442156"/>
                </a:lnTo>
                <a:lnTo>
                  <a:pt x="24018" y="468233"/>
                </a:lnTo>
                <a:lnTo>
                  <a:pt x="50095" y="485808"/>
                </a:lnTo>
                <a:lnTo>
                  <a:pt x="82042" y="492251"/>
                </a:lnTo>
                <a:lnTo>
                  <a:pt x="1541018" y="492251"/>
                </a:lnTo>
                <a:lnTo>
                  <a:pt x="1572964" y="485808"/>
                </a:lnTo>
                <a:lnTo>
                  <a:pt x="1599041" y="468233"/>
                </a:lnTo>
                <a:lnTo>
                  <a:pt x="1616616" y="442156"/>
                </a:lnTo>
                <a:lnTo>
                  <a:pt x="1623060" y="410210"/>
                </a:lnTo>
                <a:lnTo>
                  <a:pt x="1623060" y="82042"/>
                </a:lnTo>
                <a:lnTo>
                  <a:pt x="1616616" y="50095"/>
                </a:lnTo>
                <a:lnTo>
                  <a:pt x="1599041" y="24018"/>
                </a:lnTo>
                <a:lnTo>
                  <a:pt x="1572964" y="6443"/>
                </a:lnTo>
                <a:lnTo>
                  <a:pt x="1541018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358389" y="2591257"/>
            <a:ext cx="99504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Collect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87367" y="2516123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60" h="494030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79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359021" y="2637866"/>
            <a:ext cx="10820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Validate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72200" y="2516123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30">
                <a:moveTo>
                  <a:pt x="1539240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39240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40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351778" y="2531186"/>
            <a:ext cx="12636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Select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 </a:t>
            </a:r>
            <a:r>
              <a:rPr sz="1400" spc="-20" dirty="0">
                <a:latin typeface="Trebuchet MS"/>
                <a:cs typeface="Trebuchet MS"/>
              </a:rPr>
              <a:t>right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255507" y="2516123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59" h="494030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79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378190" y="2637866"/>
            <a:ext cx="13798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Intime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validation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340340" y="2516123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30">
                <a:moveTo>
                  <a:pt x="1539239" y="0"/>
                </a:moveTo>
                <a:lnTo>
                  <a:pt x="82295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5" y="493775"/>
                </a:lnTo>
                <a:lnTo>
                  <a:pt x="1539239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595229" y="2637866"/>
            <a:ext cx="11131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Deploy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23444" y="3232404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89" h="494029">
                <a:moveTo>
                  <a:pt x="1539239" y="0"/>
                </a:moveTo>
                <a:lnTo>
                  <a:pt x="82295" y="0"/>
                </a:lnTo>
                <a:lnTo>
                  <a:pt x="50261" y="6465"/>
                </a:lnTo>
                <a:lnTo>
                  <a:pt x="24103" y="24098"/>
                </a:lnTo>
                <a:lnTo>
                  <a:pt x="6466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6" y="443519"/>
                </a:lnTo>
                <a:lnTo>
                  <a:pt x="24103" y="469677"/>
                </a:lnTo>
                <a:lnTo>
                  <a:pt x="50261" y="487310"/>
                </a:lnTo>
                <a:lnTo>
                  <a:pt x="82295" y="493776"/>
                </a:lnTo>
                <a:lnTo>
                  <a:pt x="1539239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6" y="411480"/>
                </a:lnTo>
                <a:lnTo>
                  <a:pt x="1621536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50875" y="3354704"/>
            <a:ext cx="766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Set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Goals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043683" y="3232404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60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6"/>
                </a:lnTo>
                <a:lnTo>
                  <a:pt x="1540764" y="493776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80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340101" y="3354704"/>
            <a:ext cx="10325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Explore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087367" y="3279647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60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79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480940" y="3294633"/>
            <a:ext cx="8382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Outlier treatment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72200" y="3279647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40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39240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40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609333" y="3294633"/>
            <a:ext cx="7473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81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Variable selection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255507" y="3279647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59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79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594852" y="3294633"/>
            <a:ext cx="94551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Out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time </a:t>
            </a:r>
            <a:r>
              <a:rPr sz="1400" spc="-10" dirty="0">
                <a:latin typeface="Trebuchet MS"/>
                <a:cs typeface="Trebuchet MS"/>
              </a:rPr>
              <a:t>validation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340340" y="3279647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39" y="0"/>
                </a:moveTo>
                <a:lnTo>
                  <a:pt x="82295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5" y="493775"/>
                </a:lnTo>
                <a:lnTo>
                  <a:pt x="1539239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0529696" y="3294633"/>
            <a:ext cx="124587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Maintenance</a:t>
            </a:r>
            <a:r>
              <a:rPr sz="1400" spc="-8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of </a:t>
            </a:r>
            <a:r>
              <a:rPr sz="1400" spc="-10" dirty="0"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23444" y="4018788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89" h="494029">
                <a:moveTo>
                  <a:pt x="1539239" y="0"/>
                </a:moveTo>
                <a:lnTo>
                  <a:pt x="82295" y="0"/>
                </a:lnTo>
                <a:lnTo>
                  <a:pt x="50261" y="6465"/>
                </a:lnTo>
                <a:lnTo>
                  <a:pt x="24103" y="24098"/>
                </a:lnTo>
                <a:lnTo>
                  <a:pt x="6466" y="50256"/>
                </a:lnTo>
                <a:lnTo>
                  <a:pt x="0" y="82295"/>
                </a:lnTo>
                <a:lnTo>
                  <a:pt x="0" y="411480"/>
                </a:lnTo>
                <a:lnTo>
                  <a:pt x="6466" y="443519"/>
                </a:lnTo>
                <a:lnTo>
                  <a:pt x="24103" y="469677"/>
                </a:lnTo>
                <a:lnTo>
                  <a:pt x="50261" y="487310"/>
                </a:lnTo>
                <a:lnTo>
                  <a:pt x="82295" y="493775"/>
                </a:lnTo>
                <a:lnTo>
                  <a:pt x="1539239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6" y="411480"/>
                </a:lnTo>
                <a:lnTo>
                  <a:pt x="1621536" y="82295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36575" y="4141470"/>
            <a:ext cx="9963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Project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Plan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043683" y="4018788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60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80"/>
                </a:lnTo>
                <a:lnTo>
                  <a:pt x="1623060" y="82295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250185" y="4141470"/>
            <a:ext cx="1210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Basic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Summary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087367" y="4066032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60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6"/>
                </a:lnTo>
                <a:lnTo>
                  <a:pt x="1540764" y="493776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80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368165" y="4081398"/>
            <a:ext cx="106299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Missing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value</a:t>
            </a:r>
            <a:endParaRPr sz="14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Trebuchet MS"/>
                <a:cs typeface="Trebuchet MS"/>
              </a:rPr>
              <a:t>treatment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172200" y="4066032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40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6"/>
                </a:lnTo>
                <a:lnTo>
                  <a:pt x="1539240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80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40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391402" y="4081398"/>
            <a:ext cx="118491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building</a:t>
            </a:r>
            <a:endParaRPr sz="140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finetuning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255507" y="4066032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59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6"/>
                </a:lnTo>
                <a:lnTo>
                  <a:pt x="1540764" y="493776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80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387333" y="4188078"/>
            <a:ext cx="13614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finetuning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0340340" y="4066032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39" y="0"/>
                </a:moveTo>
                <a:lnTo>
                  <a:pt x="82295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5" y="493776"/>
                </a:lnTo>
                <a:lnTo>
                  <a:pt x="1539239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80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0445877" y="4188078"/>
            <a:ext cx="1411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monitoring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23444" y="4817364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89" h="494029">
                <a:moveTo>
                  <a:pt x="1539239" y="0"/>
                </a:moveTo>
                <a:lnTo>
                  <a:pt x="82295" y="0"/>
                </a:lnTo>
                <a:lnTo>
                  <a:pt x="50261" y="6465"/>
                </a:lnTo>
                <a:lnTo>
                  <a:pt x="24103" y="24098"/>
                </a:lnTo>
                <a:lnTo>
                  <a:pt x="6466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6" y="443519"/>
                </a:lnTo>
                <a:lnTo>
                  <a:pt x="24103" y="469677"/>
                </a:lnTo>
                <a:lnTo>
                  <a:pt x="50261" y="487310"/>
                </a:lnTo>
                <a:lnTo>
                  <a:pt x="82295" y="493776"/>
                </a:lnTo>
                <a:lnTo>
                  <a:pt x="1539239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6" y="411480"/>
                </a:lnTo>
                <a:lnTo>
                  <a:pt x="1621536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29539" y="4832730"/>
            <a:ext cx="8108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Budget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&amp; </a:t>
            </a:r>
            <a:r>
              <a:rPr sz="1400" spc="-10" dirty="0">
                <a:latin typeface="Trebuchet MS"/>
                <a:cs typeface="Trebuchet MS"/>
              </a:rPr>
              <a:t>Resources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087367" y="4864608"/>
            <a:ext cx="1623060" cy="492759"/>
          </a:xfrm>
          <a:custGeom>
            <a:avLst/>
            <a:gdLst/>
            <a:ahLst/>
            <a:cxnLst/>
            <a:rect l="l" t="t" r="r" b="b"/>
            <a:pathLst>
              <a:path w="1623060" h="492760">
                <a:moveTo>
                  <a:pt x="1541018" y="0"/>
                </a:moveTo>
                <a:lnTo>
                  <a:pt x="82042" y="0"/>
                </a:lnTo>
                <a:lnTo>
                  <a:pt x="50095" y="6443"/>
                </a:lnTo>
                <a:lnTo>
                  <a:pt x="24018" y="24018"/>
                </a:lnTo>
                <a:lnTo>
                  <a:pt x="6443" y="50095"/>
                </a:lnTo>
                <a:lnTo>
                  <a:pt x="0" y="82042"/>
                </a:lnTo>
                <a:lnTo>
                  <a:pt x="0" y="410210"/>
                </a:lnTo>
                <a:lnTo>
                  <a:pt x="6443" y="442156"/>
                </a:lnTo>
                <a:lnTo>
                  <a:pt x="24018" y="468233"/>
                </a:lnTo>
                <a:lnTo>
                  <a:pt x="50095" y="485808"/>
                </a:lnTo>
                <a:lnTo>
                  <a:pt x="82042" y="492252"/>
                </a:lnTo>
                <a:lnTo>
                  <a:pt x="1541018" y="492252"/>
                </a:lnTo>
                <a:lnTo>
                  <a:pt x="1572964" y="485808"/>
                </a:lnTo>
                <a:lnTo>
                  <a:pt x="1599041" y="468233"/>
                </a:lnTo>
                <a:lnTo>
                  <a:pt x="1616616" y="442156"/>
                </a:lnTo>
                <a:lnTo>
                  <a:pt x="1623060" y="410210"/>
                </a:lnTo>
                <a:lnTo>
                  <a:pt x="1623060" y="82042"/>
                </a:lnTo>
                <a:lnTo>
                  <a:pt x="1616616" y="50095"/>
                </a:lnTo>
                <a:lnTo>
                  <a:pt x="1599041" y="24018"/>
                </a:lnTo>
                <a:lnTo>
                  <a:pt x="1572964" y="6443"/>
                </a:lnTo>
                <a:lnTo>
                  <a:pt x="1541018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301109" y="4986020"/>
            <a:ext cx="1198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Clean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172200" y="4864608"/>
            <a:ext cx="1621790" cy="492759"/>
          </a:xfrm>
          <a:custGeom>
            <a:avLst/>
            <a:gdLst/>
            <a:ahLst/>
            <a:cxnLst/>
            <a:rect l="l" t="t" r="r" b="b"/>
            <a:pathLst>
              <a:path w="1621790" h="492760">
                <a:moveTo>
                  <a:pt x="1539494" y="0"/>
                </a:moveTo>
                <a:lnTo>
                  <a:pt x="82041" y="0"/>
                </a:lnTo>
                <a:lnTo>
                  <a:pt x="50095" y="6443"/>
                </a:lnTo>
                <a:lnTo>
                  <a:pt x="24018" y="24018"/>
                </a:lnTo>
                <a:lnTo>
                  <a:pt x="6443" y="50095"/>
                </a:lnTo>
                <a:lnTo>
                  <a:pt x="0" y="82042"/>
                </a:lnTo>
                <a:lnTo>
                  <a:pt x="0" y="410210"/>
                </a:lnTo>
                <a:lnTo>
                  <a:pt x="6443" y="442156"/>
                </a:lnTo>
                <a:lnTo>
                  <a:pt x="24018" y="468233"/>
                </a:lnTo>
                <a:lnTo>
                  <a:pt x="50095" y="485808"/>
                </a:lnTo>
                <a:lnTo>
                  <a:pt x="82041" y="492252"/>
                </a:lnTo>
                <a:lnTo>
                  <a:pt x="1539494" y="492252"/>
                </a:lnTo>
                <a:lnTo>
                  <a:pt x="1571440" y="485808"/>
                </a:lnTo>
                <a:lnTo>
                  <a:pt x="1597517" y="468233"/>
                </a:lnTo>
                <a:lnTo>
                  <a:pt x="1615092" y="442156"/>
                </a:lnTo>
                <a:lnTo>
                  <a:pt x="1621535" y="410210"/>
                </a:lnTo>
                <a:lnTo>
                  <a:pt x="1621535" y="82042"/>
                </a:lnTo>
                <a:lnTo>
                  <a:pt x="1615092" y="50095"/>
                </a:lnTo>
                <a:lnTo>
                  <a:pt x="1597517" y="24018"/>
                </a:lnTo>
                <a:lnTo>
                  <a:pt x="1571440" y="6443"/>
                </a:lnTo>
                <a:lnTo>
                  <a:pt x="153949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327394" y="4986020"/>
            <a:ext cx="1313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iterations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046732" y="4814315"/>
            <a:ext cx="1621790" cy="685800"/>
          </a:xfrm>
          <a:custGeom>
            <a:avLst/>
            <a:gdLst/>
            <a:ahLst/>
            <a:cxnLst/>
            <a:rect l="l" t="t" r="r" b="b"/>
            <a:pathLst>
              <a:path w="1621789" h="685800">
                <a:moveTo>
                  <a:pt x="1507235" y="0"/>
                </a:moveTo>
                <a:lnTo>
                  <a:pt x="114300" y="0"/>
                </a:lnTo>
                <a:lnTo>
                  <a:pt x="69812" y="8983"/>
                </a:lnTo>
                <a:lnTo>
                  <a:pt x="33480" y="33480"/>
                </a:lnTo>
                <a:lnTo>
                  <a:pt x="8983" y="69812"/>
                </a:lnTo>
                <a:lnTo>
                  <a:pt x="0" y="114299"/>
                </a:lnTo>
                <a:lnTo>
                  <a:pt x="0" y="571499"/>
                </a:lnTo>
                <a:lnTo>
                  <a:pt x="8983" y="615987"/>
                </a:lnTo>
                <a:lnTo>
                  <a:pt x="33480" y="652319"/>
                </a:lnTo>
                <a:lnTo>
                  <a:pt x="69812" y="676816"/>
                </a:lnTo>
                <a:lnTo>
                  <a:pt x="114300" y="685799"/>
                </a:lnTo>
                <a:lnTo>
                  <a:pt x="1507235" y="685799"/>
                </a:lnTo>
                <a:lnTo>
                  <a:pt x="1551723" y="676816"/>
                </a:lnTo>
                <a:lnTo>
                  <a:pt x="1588055" y="652319"/>
                </a:lnTo>
                <a:lnTo>
                  <a:pt x="1612552" y="615987"/>
                </a:lnTo>
                <a:lnTo>
                  <a:pt x="1621535" y="571499"/>
                </a:lnTo>
                <a:lnTo>
                  <a:pt x="1621535" y="114299"/>
                </a:lnTo>
                <a:lnTo>
                  <a:pt x="1612552" y="69812"/>
                </a:lnTo>
                <a:lnTo>
                  <a:pt x="1588055" y="33480"/>
                </a:lnTo>
                <a:lnTo>
                  <a:pt x="1551723" y="8983"/>
                </a:lnTo>
                <a:lnTo>
                  <a:pt x="1507235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208022" y="4819650"/>
            <a:ext cx="130048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Identify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outliers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missing values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087367" y="5548884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60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5"/>
                </a:lnTo>
                <a:lnTo>
                  <a:pt x="0" y="411479"/>
                </a:lnTo>
                <a:lnTo>
                  <a:pt x="6465" y="443514"/>
                </a:lnTo>
                <a:lnTo>
                  <a:pt x="24098" y="469672"/>
                </a:lnTo>
                <a:lnTo>
                  <a:pt x="50256" y="487309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09"/>
                </a:lnTo>
                <a:lnTo>
                  <a:pt x="1598961" y="469672"/>
                </a:lnTo>
                <a:lnTo>
                  <a:pt x="1616594" y="443514"/>
                </a:lnTo>
                <a:lnTo>
                  <a:pt x="1623060" y="411479"/>
                </a:lnTo>
                <a:lnTo>
                  <a:pt x="1623060" y="82295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4232528" y="5565140"/>
            <a:ext cx="13360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Prepare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for </a:t>
            </a:r>
            <a:r>
              <a:rPr sz="1400" spc="-10" dirty="0"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Data</a:t>
            </a:r>
            <a:r>
              <a:rPr spc="-254" dirty="0"/>
              <a:t> </a:t>
            </a:r>
            <a:r>
              <a:rPr spc="-50" dirty="0"/>
              <a:t>Exploration</a:t>
            </a:r>
            <a:r>
              <a:rPr spc="-220" dirty="0"/>
              <a:t> </a:t>
            </a:r>
            <a:r>
              <a:rPr spc="-10" dirty="0"/>
              <a:t>and</a:t>
            </a:r>
            <a:r>
              <a:rPr spc="-245" dirty="0"/>
              <a:t> </a:t>
            </a:r>
            <a:r>
              <a:rPr spc="-50"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8201659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Junk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Junk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out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final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model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good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input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data.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70" dirty="0">
                <a:latin typeface="Trebuchet MS"/>
                <a:cs typeface="Trebuchet MS"/>
              </a:rPr>
              <a:t>You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never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build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great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model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erroneous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input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827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Model</a:t>
            </a:r>
            <a:r>
              <a:rPr spc="-215" dirty="0"/>
              <a:t> </a:t>
            </a:r>
            <a:r>
              <a:rPr spc="-45" dirty="0"/>
              <a:t>Building</a:t>
            </a:r>
            <a:r>
              <a:rPr spc="-210" dirty="0"/>
              <a:t> </a:t>
            </a:r>
            <a:r>
              <a:rPr spc="-30" dirty="0"/>
              <a:t>Life</a:t>
            </a:r>
            <a:r>
              <a:rPr spc="-229" dirty="0"/>
              <a:t> </a:t>
            </a:r>
            <a:r>
              <a:rPr spc="-20" dirty="0"/>
              <a:t>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505" y="1377950"/>
            <a:ext cx="1647189" cy="885190"/>
            <a:chOff x="111505" y="1377950"/>
            <a:chExt cx="1647189" cy="885190"/>
          </a:xfrm>
        </p:grpSpPr>
        <p:sp>
          <p:nvSpPr>
            <p:cNvPr id="4" name="object 4"/>
            <p:cNvSpPr/>
            <p:nvPr/>
          </p:nvSpPr>
          <p:spPr>
            <a:xfrm>
              <a:off x="124205" y="1390650"/>
              <a:ext cx="1621790" cy="859790"/>
            </a:xfrm>
            <a:custGeom>
              <a:avLst/>
              <a:gdLst/>
              <a:ahLst/>
              <a:cxnLst/>
              <a:rect l="l" t="t" r="r" b="b"/>
              <a:pathLst>
                <a:path w="1621789" h="859789">
                  <a:moveTo>
                    <a:pt x="1478280" y="0"/>
                  </a:moveTo>
                  <a:lnTo>
                    <a:pt x="143256" y="0"/>
                  </a:ln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0" y="716279"/>
                  </a:lnTo>
                  <a:lnTo>
                    <a:pt x="7303" y="761561"/>
                  </a:lnTo>
                  <a:lnTo>
                    <a:pt x="27639" y="800886"/>
                  </a:lnTo>
                  <a:lnTo>
                    <a:pt x="58649" y="831896"/>
                  </a:lnTo>
                  <a:lnTo>
                    <a:pt x="97974" y="852232"/>
                  </a:lnTo>
                  <a:lnTo>
                    <a:pt x="143256" y="859536"/>
                  </a:lnTo>
                  <a:lnTo>
                    <a:pt x="1478280" y="859536"/>
                  </a:lnTo>
                  <a:lnTo>
                    <a:pt x="1523561" y="852232"/>
                  </a:lnTo>
                  <a:lnTo>
                    <a:pt x="1562886" y="831896"/>
                  </a:lnTo>
                  <a:lnTo>
                    <a:pt x="1593896" y="800886"/>
                  </a:lnTo>
                  <a:lnTo>
                    <a:pt x="1614232" y="761561"/>
                  </a:lnTo>
                  <a:lnTo>
                    <a:pt x="1621536" y="716279"/>
                  </a:lnTo>
                  <a:lnTo>
                    <a:pt x="1621536" y="143255"/>
                  </a:lnTo>
                  <a:lnTo>
                    <a:pt x="1614232" y="97974"/>
                  </a:lnTo>
                  <a:lnTo>
                    <a:pt x="1593896" y="58649"/>
                  </a:lnTo>
                  <a:lnTo>
                    <a:pt x="1562886" y="27639"/>
                  </a:lnTo>
                  <a:lnTo>
                    <a:pt x="1523561" y="7303"/>
                  </a:lnTo>
                  <a:lnTo>
                    <a:pt x="1478280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4205" y="1390650"/>
              <a:ext cx="1621790" cy="859790"/>
            </a:xfrm>
            <a:custGeom>
              <a:avLst/>
              <a:gdLst/>
              <a:ahLst/>
              <a:cxnLst/>
              <a:rect l="l" t="t" r="r" b="b"/>
              <a:pathLst>
                <a:path w="1621789" h="859789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478280" y="0"/>
                  </a:lnTo>
                  <a:lnTo>
                    <a:pt x="1523561" y="7303"/>
                  </a:lnTo>
                  <a:lnTo>
                    <a:pt x="1562886" y="27639"/>
                  </a:lnTo>
                  <a:lnTo>
                    <a:pt x="1593896" y="58649"/>
                  </a:lnTo>
                  <a:lnTo>
                    <a:pt x="1614232" y="97974"/>
                  </a:lnTo>
                  <a:lnTo>
                    <a:pt x="1621536" y="143255"/>
                  </a:lnTo>
                  <a:lnTo>
                    <a:pt x="1621536" y="716279"/>
                  </a:lnTo>
                  <a:lnTo>
                    <a:pt x="1614232" y="761561"/>
                  </a:lnTo>
                  <a:lnTo>
                    <a:pt x="1593896" y="800886"/>
                  </a:lnTo>
                  <a:lnTo>
                    <a:pt x="1562886" y="831896"/>
                  </a:lnTo>
                  <a:lnTo>
                    <a:pt x="1523561" y="852232"/>
                  </a:lnTo>
                  <a:lnTo>
                    <a:pt x="1478280" y="859536"/>
                  </a:lnTo>
                  <a:lnTo>
                    <a:pt x="143256" y="859536"/>
                  </a:lnTo>
                  <a:lnTo>
                    <a:pt x="97974" y="852232"/>
                  </a:lnTo>
                  <a:lnTo>
                    <a:pt x="58649" y="831896"/>
                  </a:lnTo>
                  <a:lnTo>
                    <a:pt x="27639" y="800886"/>
                  </a:lnTo>
                  <a:lnTo>
                    <a:pt x="7303" y="761561"/>
                  </a:lnTo>
                  <a:lnTo>
                    <a:pt x="0" y="716279"/>
                  </a:lnTo>
                  <a:lnTo>
                    <a:pt x="0" y="143255"/>
                  </a:lnTo>
                  <a:close/>
                </a:path>
              </a:pathLst>
            </a:custGeom>
            <a:ln w="25399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0504" y="1389075"/>
            <a:ext cx="12071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Background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Objective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31745" y="1377950"/>
            <a:ext cx="1648460" cy="885190"/>
            <a:chOff x="2031745" y="1377950"/>
            <a:chExt cx="1648460" cy="885190"/>
          </a:xfrm>
        </p:grpSpPr>
        <p:sp>
          <p:nvSpPr>
            <p:cNvPr id="8" name="object 8"/>
            <p:cNvSpPr/>
            <p:nvPr/>
          </p:nvSpPr>
          <p:spPr>
            <a:xfrm>
              <a:off x="2044445" y="1390650"/>
              <a:ext cx="1623060" cy="859790"/>
            </a:xfrm>
            <a:custGeom>
              <a:avLst/>
              <a:gdLst/>
              <a:ahLst/>
              <a:cxnLst/>
              <a:rect l="l" t="t" r="r" b="b"/>
              <a:pathLst>
                <a:path w="1623060" h="859789">
                  <a:moveTo>
                    <a:pt x="1479804" y="0"/>
                  </a:moveTo>
                  <a:lnTo>
                    <a:pt x="143256" y="0"/>
                  </a:lnTo>
                  <a:lnTo>
                    <a:pt x="97974" y="7303"/>
                  </a:lnTo>
                  <a:lnTo>
                    <a:pt x="58649" y="27639"/>
                  </a:lnTo>
                  <a:lnTo>
                    <a:pt x="27639" y="58649"/>
                  </a:lnTo>
                  <a:lnTo>
                    <a:pt x="7303" y="97974"/>
                  </a:lnTo>
                  <a:lnTo>
                    <a:pt x="0" y="143255"/>
                  </a:lnTo>
                  <a:lnTo>
                    <a:pt x="0" y="716279"/>
                  </a:lnTo>
                  <a:lnTo>
                    <a:pt x="7303" y="761561"/>
                  </a:lnTo>
                  <a:lnTo>
                    <a:pt x="27639" y="800886"/>
                  </a:lnTo>
                  <a:lnTo>
                    <a:pt x="58649" y="831896"/>
                  </a:lnTo>
                  <a:lnTo>
                    <a:pt x="97974" y="852232"/>
                  </a:lnTo>
                  <a:lnTo>
                    <a:pt x="143256" y="859536"/>
                  </a:lnTo>
                  <a:lnTo>
                    <a:pt x="1479804" y="859536"/>
                  </a:lnTo>
                  <a:lnTo>
                    <a:pt x="1525085" y="852232"/>
                  </a:lnTo>
                  <a:lnTo>
                    <a:pt x="1564410" y="831896"/>
                  </a:lnTo>
                  <a:lnTo>
                    <a:pt x="1595420" y="800886"/>
                  </a:lnTo>
                  <a:lnTo>
                    <a:pt x="1615756" y="761561"/>
                  </a:lnTo>
                  <a:lnTo>
                    <a:pt x="1623059" y="716279"/>
                  </a:lnTo>
                  <a:lnTo>
                    <a:pt x="1623059" y="143255"/>
                  </a:lnTo>
                  <a:lnTo>
                    <a:pt x="1615756" y="97974"/>
                  </a:lnTo>
                  <a:lnTo>
                    <a:pt x="1595420" y="58649"/>
                  </a:lnTo>
                  <a:lnTo>
                    <a:pt x="1564410" y="27639"/>
                  </a:lnTo>
                  <a:lnTo>
                    <a:pt x="1525085" y="7303"/>
                  </a:lnTo>
                  <a:lnTo>
                    <a:pt x="1479804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44445" y="1390650"/>
              <a:ext cx="1623060" cy="859790"/>
            </a:xfrm>
            <a:custGeom>
              <a:avLst/>
              <a:gdLst/>
              <a:ahLst/>
              <a:cxnLst/>
              <a:rect l="l" t="t" r="r" b="b"/>
              <a:pathLst>
                <a:path w="1623060" h="859789">
                  <a:moveTo>
                    <a:pt x="0" y="143255"/>
                  </a:moveTo>
                  <a:lnTo>
                    <a:pt x="7303" y="97974"/>
                  </a:lnTo>
                  <a:lnTo>
                    <a:pt x="27639" y="58649"/>
                  </a:lnTo>
                  <a:lnTo>
                    <a:pt x="58649" y="27639"/>
                  </a:lnTo>
                  <a:lnTo>
                    <a:pt x="97974" y="7303"/>
                  </a:lnTo>
                  <a:lnTo>
                    <a:pt x="143256" y="0"/>
                  </a:lnTo>
                  <a:lnTo>
                    <a:pt x="1479804" y="0"/>
                  </a:lnTo>
                  <a:lnTo>
                    <a:pt x="1525085" y="7303"/>
                  </a:lnTo>
                  <a:lnTo>
                    <a:pt x="1564410" y="27639"/>
                  </a:lnTo>
                  <a:lnTo>
                    <a:pt x="1595420" y="58649"/>
                  </a:lnTo>
                  <a:lnTo>
                    <a:pt x="1615756" y="97974"/>
                  </a:lnTo>
                  <a:lnTo>
                    <a:pt x="1623059" y="143255"/>
                  </a:lnTo>
                  <a:lnTo>
                    <a:pt x="1623059" y="716279"/>
                  </a:lnTo>
                  <a:lnTo>
                    <a:pt x="1615756" y="761561"/>
                  </a:lnTo>
                  <a:lnTo>
                    <a:pt x="1595420" y="800886"/>
                  </a:lnTo>
                  <a:lnTo>
                    <a:pt x="1564410" y="831896"/>
                  </a:lnTo>
                  <a:lnTo>
                    <a:pt x="1525085" y="852232"/>
                  </a:lnTo>
                  <a:lnTo>
                    <a:pt x="1479804" y="859536"/>
                  </a:lnTo>
                  <a:lnTo>
                    <a:pt x="143256" y="859536"/>
                  </a:lnTo>
                  <a:lnTo>
                    <a:pt x="97974" y="852232"/>
                  </a:lnTo>
                  <a:lnTo>
                    <a:pt x="58649" y="831896"/>
                  </a:lnTo>
                  <a:lnTo>
                    <a:pt x="27639" y="800886"/>
                  </a:lnTo>
                  <a:lnTo>
                    <a:pt x="7303" y="761561"/>
                  </a:lnTo>
                  <a:lnTo>
                    <a:pt x="0" y="716279"/>
                  </a:lnTo>
                  <a:lnTo>
                    <a:pt x="0" y="143255"/>
                  </a:lnTo>
                  <a:close/>
                </a:path>
              </a:pathLst>
            </a:custGeom>
            <a:ln w="25400">
              <a:solidFill>
                <a:srgbClr val="B02C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61361" y="1526794"/>
            <a:ext cx="1189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544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Exploration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75429" y="1425194"/>
            <a:ext cx="1648460" cy="883919"/>
            <a:chOff x="4075429" y="1425194"/>
            <a:chExt cx="1648460" cy="883919"/>
          </a:xfrm>
        </p:grpSpPr>
        <p:sp>
          <p:nvSpPr>
            <p:cNvPr id="12" name="object 12"/>
            <p:cNvSpPr/>
            <p:nvPr/>
          </p:nvSpPr>
          <p:spPr>
            <a:xfrm>
              <a:off x="408812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60" h="858519">
                  <a:moveTo>
                    <a:pt x="1480058" y="0"/>
                  </a:moveTo>
                  <a:lnTo>
                    <a:pt x="143002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2" y="858011"/>
                  </a:lnTo>
                  <a:lnTo>
                    <a:pt x="1480058" y="858011"/>
                  </a:lnTo>
                  <a:lnTo>
                    <a:pt x="1525263" y="850723"/>
                  </a:lnTo>
                  <a:lnTo>
                    <a:pt x="1564520" y="830425"/>
                  </a:lnTo>
                  <a:lnTo>
                    <a:pt x="1595473" y="799472"/>
                  </a:lnTo>
                  <a:lnTo>
                    <a:pt x="1615771" y="760215"/>
                  </a:lnTo>
                  <a:lnTo>
                    <a:pt x="1623060" y="715009"/>
                  </a:lnTo>
                  <a:lnTo>
                    <a:pt x="1623060" y="143001"/>
                  </a:lnTo>
                  <a:lnTo>
                    <a:pt x="1615771" y="97796"/>
                  </a:lnTo>
                  <a:lnTo>
                    <a:pt x="1595473" y="58539"/>
                  </a:lnTo>
                  <a:lnTo>
                    <a:pt x="1564520" y="27586"/>
                  </a:lnTo>
                  <a:lnTo>
                    <a:pt x="1525263" y="7288"/>
                  </a:lnTo>
                  <a:lnTo>
                    <a:pt x="1480058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812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60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2" y="0"/>
                  </a:lnTo>
                  <a:lnTo>
                    <a:pt x="1480058" y="0"/>
                  </a:lnTo>
                  <a:lnTo>
                    <a:pt x="1525263" y="7288"/>
                  </a:lnTo>
                  <a:lnTo>
                    <a:pt x="1564520" y="27586"/>
                  </a:lnTo>
                  <a:lnTo>
                    <a:pt x="1595473" y="58539"/>
                  </a:lnTo>
                  <a:lnTo>
                    <a:pt x="1615771" y="97796"/>
                  </a:lnTo>
                  <a:lnTo>
                    <a:pt x="1623060" y="143001"/>
                  </a:lnTo>
                  <a:lnTo>
                    <a:pt x="1623060" y="715009"/>
                  </a:lnTo>
                  <a:lnTo>
                    <a:pt x="1615771" y="760215"/>
                  </a:lnTo>
                  <a:lnTo>
                    <a:pt x="1595473" y="799472"/>
                  </a:lnTo>
                  <a:lnTo>
                    <a:pt x="1564520" y="830425"/>
                  </a:lnTo>
                  <a:lnTo>
                    <a:pt x="1525263" y="850723"/>
                  </a:lnTo>
                  <a:lnTo>
                    <a:pt x="1480058" y="858011"/>
                  </a:lnTo>
                  <a:lnTo>
                    <a:pt x="143002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B02C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00803" y="1436370"/>
            <a:ext cx="99821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Preparing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for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60261" y="1425194"/>
            <a:ext cx="1647189" cy="883919"/>
            <a:chOff x="6160261" y="1425194"/>
            <a:chExt cx="1647189" cy="883919"/>
          </a:xfrm>
        </p:grpSpPr>
        <p:sp>
          <p:nvSpPr>
            <p:cNvPr id="16" name="object 16"/>
            <p:cNvSpPr/>
            <p:nvPr/>
          </p:nvSpPr>
          <p:spPr>
            <a:xfrm>
              <a:off x="6172961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1478534" y="0"/>
                  </a:moveTo>
                  <a:lnTo>
                    <a:pt x="143001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1" y="858011"/>
                  </a:lnTo>
                  <a:lnTo>
                    <a:pt x="1478534" y="858011"/>
                  </a:lnTo>
                  <a:lnTo>
                    <a:pt x="1523739" y="850723"/>
                  </a:lnTo>
                  <a:lnTo>
                    <a:pt x="1562996" y="830425"/>
                  </a:lnTo>
                  <a:lnTo>
                    <a:pt x="1593949" y="799472"/>
                  </a:lnTo>
                  <a:lnTo>
                    <a:pt x="1614247" y="760215"/>
                  </a:lnTo>
                  <a:lnTo>
                    <a:pt x="1621536" y="715009"/>
                  </a:lnTo>
                  <a:lnTo>
                    <a:pt x="1621536" y="143001"/>
                  </a:lnTo>
                  <a:lnTo>
                    <a:pt x="1614247" y="97796"/>
                  </a:lnTo>
                  <a:lnTo>
                    <a:pt x="1593949" y="58539"/>
                  </a:lnTo>
                  <a:lnTo>
                    <a:pt x="1562996" y="27586"/>
                  </a:lnTo>
                  <a:lnTo>
                    <a:pt x="1523739" y="7288"/>
                  </a:lnTo>
                  <a:lnTo>
                    <a:pt x="1478534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72961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1" y="0"/>
                  </a:lnTo>
                  <a:lnTo>
                    <a:pt x="1478534" y="0"/>
                  </a:lnTo>
                  <a:lnTo>
                    <a:pt x="1523739" y="7288"/>
                  </a:lnTo>
                  <a:lnTo>
                    <a:pt x="1562996" y="27586"/>
                  </a:lnTo>
                  <a:lnTo>
                    <a:pt x="1593949" y="58539"/>
                  </a:lnTo>
                  <a:lnTo>
                    <a:pt x="1614247" y="97796"/>
                  </a:lnTo>
                  <a:lnTo>
                    <a:pt x="1621536" y="143001"/>
                  </a:lnTo>
                  <a:lnTo>
                    <a:pt x="1621536" y="715009"/>
                  </a:lnTo>
                  <a:lnTo>
                    <a:pt x="1614247" y="760215"/>
                  </a:lnTo>
                  <a:lnTo>
                    <a:pt x="1593949" y="799472"/>
                  </a:lnTo>
                  <a:lnTo>
                    <a:pt x="1562996" y="830425"/>
                  </a:lnTo>
                  <a:lnTo>
                    <a:pt x="1523739" y="850723"/>
                  </a:lnTo>
                  <a:lnTo>
                    <a:pt x="1478534" y="858011"/>
                  </a:lnTo>
                  <a:lnTo>
                    <a:pt x="143001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58890" y="1573529"/>
            <a:ext cx="1250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Building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43569" y="1425194"/>
            <a:ext cx="1648460" cy="883919"/>
            <a:chOff x="8243569" y="1425194"/>
            <a:chExt cx="1648460" cy="883919"/>
          </a:xfrm>
        </p:grpSpPr>
        <p:sp>
          <p:nvSpPr>
            <p:cNvPr id="20" name="object 20"/>
            <p:cNvSpPr/>
            <p:nvPr/>
          </p:nvSpPr>
          <p:spPr>
            <a:xfrm>
              <a:off x="825626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59" h="858519">
                  <a:moveTo>
                    <a:pt x="1480057" y="0"/>
                  </a:moveTo>
                  <a:lnTo>
                    <a:pt x="143001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1" y="858011"/>
                  </a:lnTo>
                  <a:lnTo>
                    <a:pt x="1480057" y="858011"/>
                  </a:lnTo>
                  <a:lnTo>
                    <a:pt x="1525263" y="850723"/>
                  </a:lnTo>
                  <a:lnTo>
                    <a:pt x="1564520" y="830425"/>
                  </a:lnTo>
                  <a:lnTo>
                    <a:pt x="1595473" y="799472"/>
                  </a:lnTo>
                  <a:lnTo>
                    <a:pt x="1615771" y="760215"/>
                  </a:lnTo>
                  <a:lnTo>
                    <a:pt x="1623059" y="715009"/>
                  </a:lnTo>
                  <a:lnTo>
                    <a:pt x="1623059" y="143001"/>
                  </a:lnTo>
                  <a:lnTo>
                    <a:pt x="1615771" y="97796"/>
                  </a:lnTo>
                  <a:lnTo>
                    <a:pt x="1595473" y="58539"/>
                  </a:lnTo>
                  <a:lnTo>
                    <a:pt x="1564520" y="27586"/>
                  </a:lnTo>
                  <a:lnTo>
                    <a:pt x="1525263" y="7288"/>
                  </a:lnTo>
                  <a:lnTo>
                    <a:pt x="1480057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56269" y="1437894"/>
              <a:ext cx="1623060" cy="858519"/>
            </a:xfrm>
            <a:custGeom>
              <a:avLst/>
              <a:gdLst/>
              <a:ahLst/>
              <a:cxnLst/>
              <a:rect l="l" t="t" r="r" b="b"/>
              <a:pathLst>
                <a:path w="1623059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1" y="0"/>
                  </a:lnTo>
                  <a:lnTo>
                    <a:pt x="1480057" y="0"/>
                  </a:lnTo>
                  <a:lnTo>
                    <a:pt x="1525263" y="7288"/>
                  </a:lnTo>
                  <a:lnTo>
                    <a:pt x="1564520" y="27586"/>
                  </a:lnTo>
                  <a:lnTo>
                    <a:pt x="1595473" y="58539"/>
                  </a:lnTo>
                  <a:lnTo>
                    <a:pt x="1615771" y="97796"/>
                  </a:lnTo>
                  <a:lnTo>
                    <a:pt x="1623059" y="143001"/>
                  </a:lnTo>
                  <a:lnTo>
                    <a:pt x="1623059" y="715009"/>
                  </a:lnTo>
                  <a:lnTo>
                    <a:pt x="1615771" y="760215"/>
                  </a:lnTo>
                  <a:lnTo>
                    <a:pt x="1595473" y="799472"/>
                  </a:lnTo>
                  <a:lnTo>
                    <a:pt x="1564520" y="830425"/>
                  </a:lnTo>
                  <a:lnTo>
                    <a:pt x="1525263" y="850723"/>
                  </a:lnTo>
                  <a:lnTo>
                    <a:pt x="1480057" y="858011"/>
                  </a:lnTo>
                  <a:lnTo>
                    <a:pt x="143001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34527" y="1573529"/>
            <a:ext cx="1067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Validating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28402" y="1425194"/>
            <a:ext cx="1647189" cy="883919"/>
            <a:chOff x="10328402" y="1425194"/>
            <a:chExt cx="1647189" cy="883919"/>
          </a:xfrm>
        </p:grpSpPr>
        <p:sp>
          <p:nvSpPr>
            <p:cNvPr id="24" name="object 24"/>
            <p:cNvSpPr/>
            <p:nvPr/>
          </p:nvSpPr>
          <p:spPr>
            <a:xfrm>
              <a:off x="10341102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1478533" y="0"/>
                  </a:moveTo>
                  <a:lnTo>
                    <a:pt x="143001" y="0"/>
                  </a:lnTo>
                  <a:lnTo>
                    <a:pt x="97796" y="7288"/>
                  </a:lnTo>
                  <a:lnTo>
                    <a:pt x="58539" y="27586"/>
                  </a:lnTo>
                  <a:lnTo>
                    <a:pt x="27586" y="58539"/>
                  </a:lnTo>
                  <a:lnTo>
                    <a:pt x="7288" y="97796"/>
                  </a:lnTo>
                  <a:lnTo>
                    <a:pt x="0" y="143001"/>
                  </a:lnTo>
                  <a:lnTo>
                    <a:pt x="0" y="715009"/>
                  </a:lnTo>
                  <a:lnTo>
                    <a:pt x="7288" y="760215"/>
                  </a:lnTo>
                  <a:lnTo>
                    <a:pt x="27586" y="799472"/>
                  </a:lnTo>
                  <a:lnTo>
                    <a:pt x="58539" y="830425"/>
                  </a:lnTo>
                  <a:lnTo>
                    <a:pt x="97796" y="850723"/>
                  </a:lnTo>
                  <a:lnTo>
                    <a:pt x="143001" y="858011"/>
                  </a:lnTo>
                  <a:lnTo>
                    <a:pt x="1478533" y="858011"/>
                  </a:lnTo>
                  <a:lnTo>
                    <a:pt x="1523739" y="850723"/>
                  </a:lnTo>
                  <a:lnTo>
                    <a:pt x="1562996" y="830425"/>
                  </a:lnTo>
                  <a:lnTo>
                    <a:pt x="1593949" y="799472"/>
                  </a:lnTo>
                  <a:lnTo>
                    <a:pt x="1614247" y="760215"/>
                  </a:lnTo>
                  <a:lnTo>
                    <a:pt x="1621536" y="715009"/>
                  </a:lnTo>
                  <a:lnTo>
                    <a:pt x="1621536" y="143001"/>
                  </a:lnTo>
                  <a:lnTo>
                    <a:pt x="1614247" y="97796"/>
                  </a:lnTo>
                  <a:lnTo>
                    <a:pt x="1593949" y="58539"/>
                  </a:lnTo>
                  <a:lnTo>
                    <a:pt x="1562996" y="27586"/>
                  </a:lnTo>
                  <a:lnTo>
                    <a:pt x="1523739" y="7288"/>
                  </a:lnTo>
                  <a:lnTo>
                    <a:pt x="1478533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41102" y="1437894"/>
              <a:ext cx="1621790" cy="858519"/>
            </a:xfrm>
            <a:custGeom>
              <a:avLst/>
              <a:gdLst/>
              <a:ahLst/>
              <a:cxnLst/>
              <a:rect l="l" t="t" r="r" b="b"/>
              <a:pathLst>
                <a:path w="1621790" h="858519">
                  <a:moveTo>
                    <a:pt x="0" y="143001"/>
                  </a:moveTo>
                  <a:lnTo>
                    <a:pt x="7288" y="97796"/>
                  </a:lnTo>
                  <a:lnTo>
                    <a:pt x="27586" y="58539"/>
                  </a:lnTo>
                  <a:lnTo>
                    <a:pt x="58539" y="27586"/>
                  </a:lnTo>
                  <a:lnTo>
                    <a:pt x="97796" y="7288"/>
                  </a:lnTo>
                  <a:lnTo>
                    <a:pt x="143001" y="0"/>
                  </a:lnTo>
                  <a:lnTo>
                    <a:pt x="1478533" y="0"/>
                  </a:lnTo>
                  <a:lnTo>
                    <a:pt x="1523739" y="7288"/>
                  </a:lnTo>
                  <a:lnTo>
                    <a:pt x="1562996" y="27586"/>
                  </a:lnTo>
                  <a:lnTo>
                    <a:pt x="1593949" y="58539"/>
                  </a:lnTo>
                  <a:lnTo>
                    <a:pt x="1614247" y="97796"/>
                  </a:lnTo>
                  <a:lnTo>
                    <a:pt x="1621536" y="143001"/>
                  </a:lnTo>
                  <a:lnTo>
                    <a:pt x="1621536" y="715009"/>
                  </a:lnTo>
                  <a:lnTo>
                    <a:pt x="1614247" y="760215"/>
                  </a:lnTo>
                  <a:lnTo>
                    <a:pt x="1593949" y="799472"/>
                  </a:lnTo>
                  <a:lnTo>
                    <a:pt x="1562996" y="830425"/>
                  </a:lnTo>
                  <a:lnTo>
                    <a:pt x="1523739" y="850723"/>
                  </a:lnTo>
                  <a:lnTo>
                    <a:pt x="1478533" y="858011"/>
                  </a:lnTo>
                  <a:lnTo>
                    <a:pt x="143001" y="858011"/>
                  </a:lnTo>
                  <a:lnTo>
                    <a:pt x="97796" y="850723"/>
                  </a:lnTo>
                  <a:lnTo>
                    <a:pt x="58539" y="830425"/>
                  </a:lnTo>
                  <a:lnTo>
                    <a:pt x="27586" y="799472"/>
                  </a:lnTo>
                  <a:lnTo>
                    <a:pt x="7288" y="760215"/>
                  </a:lnTo>
                  <a:lnTo>
                    <a:pt x="0" y="715009"/>
                  </a:lnTo>
                  <a:lnTo>
                    <a:pt x="0" y="143001"/>
                  </a:lnTo>
                  <a:close/>
                </a:path>
              </a:pathLst>
            </a:custGeom>
            <a:ln w="25400">
              <a:solidFill>
                <a:srgbClr val="3749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527283" y="1710690"/>
            <a:ext cx="125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Deployment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3444" y="2470404"/>
            <a:ext cx="1621790" cy="492759"/>
          </a:xfrm>
          <a:custGeom>
            <a:avLst/>
            <a:gdLst/>
            <a:ahLst/>
            <a:cxnLst/>
            <a:rect l="l" t="t" r="r" b="b"/>
            <a:pathLst>
              <a:path w="1621789" h="492760">
                <a:moveTo>
                  <a:pt x="1539494" y="0"/>
                </a:moveTo>
                <a:lnTo>
                  <a:pt x="82041" y="0"/>
                </a:lnTo>
                <a:lnTo>
                  <a:pt x="50106" y="6443"/>
                </a:lnTo>
                <a:lnTo>
                  <a:pt x="24028" y="24018"/>
                </a:lnTo>
                <a:lnTo>
                  <a:pt x="6446" y="50095"/>
                </a:lnTo>
                <a:lnTo>
                  <a:pt x="0" y="82042"/>
                </a:lnTo>
                <a:lnTo>
                  <a:pt x="0" y="410210"/>
                </a:lnTo>
                <a:lnTo>
                  <a:pt x="6446" y="442156"/>
                </a:lnTo>
                <a:lnTo>
                  <a:pt x="24028" y="468233"/>
                </a:lnTo>
                <a:lnTo>
                  <a:pt x="50106" y="485808"/>
                </a:lnTo>
                <a:lnTo>
                  <a:pt x="82041" y="492251"/>
                </a:lnTo>
                <a:lnTo>
                  <a:pt x="1539494" y="492251"/>
                </a:lnTo>
                <a:lnTo>
                  <a:pt x="1571440" y="485808"/>
                </a:lnTo>
                <a:lnTo>
                  <a:pt x="1597517" y="468233"/>
                </a:lnTo>
                <a:lnTo>
                  <a:pt x="1615092" y="442156"/>
                </a:lnTo>
                <a:lnTo>
                  <a:pt x="1621536" y="410210"/>
                </a:lnTo>
                <a:lnTo>
                  <a:pt x="1621536" y="82042"/>
                </a:lnTo>
                <a:lnTo>
                  <a:pt x="1615092" y="50095"/>
                </a:lnTo>
                <a:lnTo>
                  <a:pt x="1597517" y="24018"/>
                </a:lnTo>
                <a:lnTo>
                  <a:pt x="1571440" y="6443"/>
                </a:lnTo>
                <a:lnTo>
                  <a:pt x="153949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4111" y="2484882"/>
            <a:ext cx="8007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Business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rebuchet MS"/>
                <a:cs typeface="Trebuchet MS"/>
              </a:rPr>
              <a:t>Objective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37333" y="2464054"/>
            <a:ext cx="1635760" cy="505459"/>
            <a:chOff x="2037333" y="2464054"/>
            <a:chExt cx="1635760" cy="505459"/>
          </a:xfrm>
        </p:grpSpPr>
        <p:sp>
          <p:nvSpPr>
            <p:cNvPr id="30" name="object 30"/>
            <p:cNvSpPr/>
            <p:nvPr/>
          </p:nvSpPr>
          <p:spPr>
            <a:xfrm>
              <a:off x="2043683" y="2470404"/>
              <a:ext cx="1623060" cy="492759"/>
            </a:xfrm>
            <a:custGeom>
              <a:avLst/>
              <a:gdLst/>
              <a:ahLst/>
              <a:cxnLst/>
              <a:rect l="l" t="t" r="r" b="b"/>
              <a:pathLst>
                <a:path w="1623060" h="492760">
                  <a:moveTo>
                    <a:pt x="1541018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2" y="492251"/>
                  </a:lnTo>
                  <a:lnTo>
                    <a:pt x="1541018" y="492251"/>
                  </a:lnTo>
                  <a:lnTo>
                    <a:pt x="1572964" y="485808"/>
                  </a:lnTo>
                  <a:lnTo>
                    <a:pt x="1599041" y="468233"/>
                  </a:lnTo>
                  <a:lnTo>
                    <a:pt x="1616616" y="442156"/>
                  </a:lnTo>
                  <a:lnTo>
                    <a:pt x="1623060" y="410210"/>
                  </a:lnTo>
                  <a:lnTo>
                    <a:pt x="1623060" y="82042"/>
                  </a:lnTo>
                  <a:lnTo>
                    <a:pt x="1616616" y="50095"/>
                  </a:lnTo>
                  <a:lnTo>
                    <a:pt x="1599041" y="24018"/>
                  </a:lnTo>
                  <a:lnTo>
                    <a:pt x="1572964" y="6443"/>
                  </a:lnTo>
                  <a:lnTo>
                    <a:pt x="1541018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43683" y="2470404"/>
              <a:ext cx="1623060" cy="492759"/>
            </a:xfrm>
            <a:custGeom>
              <a:avLst/>
              <a:gdLst/>
              <a:ahLst/>
              <a:cxnLst/>
              <a:rect l="l" t="t" r="r" b="b"/>
              <a:pathLst>
                <a:path w="1623060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2" y="0"/>
                  </a:lnTo>
                  <a:lnTo>
                    <a:pt x="1541018" y="0"/>
                  </a:lnTo>
                  <a:lnTo>
                    <a:pt x="1572964" y="6443"/>
                  </a:lnTo>
                  <a:lnTo>
                    <a:pt x="1599041" y="24018"/>
                  </a:lnTo>
                  <a:lnTo>
                    <a:pt x="1616616" y="50095"/>
                  </a:lnTo>
                  <a:lnTo>
                    <a:pt x="1623060" y="82042"/>
                  </a:lnTo>
                  <a:lnTo>
                    <a:pt x="1623060" y="410210"/>
                  </a:lnTo>
                  <a:lnTo>
                    <a:pt x="1616616" y="442156"/>
                  </a:lnTo>
                  <a:lnTo>
                    <a:pt x="1599041" y="468233"/>
                  </a:lnTo>
                  <a:lnTo>
                    <a:pt x="1572964" y="485808"/>
                  </a:lnTo>
                  <a:lnTo>
                    <a:pt x="1541018" y="492251"/>
                  </a:lnTo>
                  <a:lnTo>
                    <a:pt x="82042" y="492251"/>
                  </a:lnTo>
                  <a:lnTo>
                    <a:pt x="50095" y="485808"/>
                  </a:lnTo>
                  <a:lnTo>
                    <a:pt x="24018" y="468233"/>
                  </a:lnTo>
                  <a:lnTo>
                    <a:pt x="6443" y="442156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358389" y="2591257"/>
            <a:ext cx="99504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Collect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081017" y="2509773"/>
            <a:ext cx="1635760" cy="506730"/>
            <a:chOff x="4081017" y="2509773"/>
            <a:chExt cx="1635760" cy="506730"/>
          </a:xfrm>
        </p:grpSpPr>
        <p:sp>
          <p:nvSpPr>
            <p:cNvPr id="34" name="object 34"/>
            <p:cNvSpPr/>
            <p:nvPr/>
          </p:nvSpPr>
          <p:spPr>
            <a:xfrm>
              <a:off x="4087367" y="2516123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30">
                  <a:moveTo>
                    <a:pt x="154076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411479"/>
                  </a:lnTo>
                  <a:lnTo>
                    <a:pt x="6465" y="443519"/>
                  </a:lnTo>
                  <a:lnTo>
                    <a:pt x="24098" y="469677"/>
                  </a:lnTo>
                  <a:lnTo>
                    <a:pt x="50256" y="487310"/>
                  </a:lnTo>
                  <a:lnTo>
                    <a:pt x="82296" y="493775"/>
                  </a:lnTo>
                  <a:lnTo>
                    <a:pt x="1540764" y="493775"/>
                  </a:lnTo>
                  <a:lnTo>
                    <a:pt x="1572803" y="487310"/>
                  </a:lnTo>
                  <a:lnTo>
                    <a:pt x="1598961" y="469677"/>
                  </a:lnTo>
                  <a:lnTo>
                    <a:pt x="1616594" y="443519"/>
                  </a:lnTo>
                  <a:lnTo>
                    <a:pt x="1623060" y="411479"/>
                  </a:lnTo>
                  <a:lnTo>
                    <a:pt x="1623060" y="82296"/>
                  </a:lnTo>
                  <a:lnTo>
                    <a:pt x="1616594" y="50256"/>
                  </a:lnTo>
                  <a:lnTo>
                    <a:pt x="1598961" y="24098"/>
                  </a:lnTo>
                  <a:lnTo>
                    <a:pt x="1572803" y="6465"/>
                  </a:lnTo>
                  <a:lnTo>
                    <a:pt x="1540764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87367" y="2516123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30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1540764" y="0"/>
                  </a:lnTo>
                  <a:lnTo>
                    <a:pt x="1572803" y="6465"/>
                  </a:lnTo>
                  <a:lnTo>
                    <a:pt x="1598961" y="24098"/>
                  </a:lnTo>
                  <a:lnTo>
                    <a:pt x="1616594" y="50256"/>
                  </a:lnTo>
                  <a:lnTo>
                    <a:pt x="1623060" y="82296"/>
                  </a:lnTo>
                  <a:lnTo>
                    <a:pt x="1623060" y="411479"/>
                  </a:lnTo>
                  <a:lnTo>
                    <a:pt x="1616594" y="443519"/>
                  </a:lnTo>
                  <a:lnTo>
                    <a:pt x="1598961" y="469677"/>
                  </a:lnTo>
                  <a:lnTo>
                    <a:pt x="1572803" y="487310"/>
                  </a:lnTo>
                  <a:lnTo>
                    <a:pt x="1540764" y="493775"/>
                  </a:lnTo>
                  <a:lnTo>
                    <a:pt x="82296" y="493775"/>
                  </a:lnTo>
                  <a:lnTo>
                    <a:pt x="50256" y="487310"/>
                  </a:lnTo>
                  <a:lnTo>
                    <a:pt x="24098" y="469677"/>
                  </a:lnTo>
                  <a:lnTo>
                    <a:pt x="6465" y="443519"/>
                  </a:lnTo>
                  <a:lnTo>
                    <a:pt x="0" y="411479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359021" y="2637866"/>
            <a:ext cx="10820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Validate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172200" y="2516123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30">
                <a:moveTo>
                  <a:pt x="1539240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39240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40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51778" y="2531186"/>
            <a:ext cx="12636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Select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 </a:t>
            </a:r>
            <a:r>
              <a:rPr sz="1400" spc="-20" dirty="0">
                <a:latin typeface="Trebuchet MS"/>
                <a:cs typeface="Trebuchet MS"/>
              </a:rPr>
              <a:t>right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255507" y="2516123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59" h="494030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79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378190" y="2637866"/>
            <a:ext cx="13798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Intime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validation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340340" y="2516123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30">
                <a:moveTo>
                  <a:pt x="1539239" y="0"/>
                </a:moveTo>
                <a:lnTo>
                  <a:pt x="82295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5" y="493775"/>
                </a:lnTo>
                <a:lnTo>
                  <a:pt x="1539239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595229" y="2637866"/>
            <a:ext cx="11131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Deploy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23444" y="3232404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89" h="494029">
                <a:moveTo>
                  <a:pt x="1539239" y="0"/>
                </a:moveTo>
                <a:lnTo>
                  <a:pt x="82295" y="0"/>
                </a:lnTo>
                <a:lnTo>
                  <a:pt x="50261" y="6465"/>
                </a:lnTo>
                <a:lnTo>
                  <a:pt x="24103" y="24098"/>
                </a:lnTo>
                <a:lnTo>
                  <a:pt x="6466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6" y="443519"/>
                </a:lnTo>
                <a:lnTo>
                  <a:pt x="24103" y="469677"/>
                </a:lnTo>
                <a:lnTo>
                  <a:pt x="50261" y="487310"/>
                </a:lnTo>
                <a:lnTo>
                  <a:pt x="82295" y="493776"/>
                </a:lnTo>
                <a:lnTo>
                  <a:pt x="1539239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6" y="411480"/>
                </a:lnTo>
                <a:lnTo>
                  <a:pt x="1621536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50875" y="3354704"/>
            <a:ext cx="766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Set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Goals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037333" y="3226054"/>
            <a:ext cx="1635760" cy="506730"/>
            <a:chOff x="2037333" y="3226054"/>
            <a:chExt cx="1635760" cy="506730"/>
          </a:xfrm>
        </p:grpSpPr>
        <p:sp>
          <p:nvSpPr>
            <p:cNvPr id="46" name="object 46"/>
            <p:cNvSpPr/>
            <p:nvPr/>
          </p:nvSpPr>
          <p:spPr>
            <a:xfrm>
              <a:off x="2043683" y="3232404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154076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411480"/>
                  </a:lnTo>
                  <a:lnTo>
                    <a:pt x="6465" y="443519"/>
                  </a:lnTo>
                  <a:lnTo>
                    <a:pt x="24098" y="469677"/>
                  </a:lnTo>
                  <a:lnTo>
                    <a:pt x="50256" y="487310"/>
                  </a:lnTo>
                  <a:lnTo>
                    <a:pt x="82296" y="493776"/>
                  </a:lnTo>
                  <a:lnTo>
                    <a:pt x="1540764" y="493776"/>
                  </a:lnTo>
                  <a:lnTo>
                    <a:pt x="1572803" y="487310"/>
                  </a:lnTo>
                  <a:lnTo>
                    <a:pt x="1598961" y="469677"/>
                  </a:lnTo>
                  <a:lnTo>
                    <a:pt x="1616594" y="443519"/>
                  </a:lnTo>
                  <a:lnTo>
                    <a:pt x="1623060" y="411480"/>
                  </a:lnTo>
                  <a:lnTo>
                    <a:pt x="1623060" y="82296"/>
                  </a:lnTo>
                  <a:lnTo>
                    <a:pt x="1616594" y="50256"/>
                  </a:lnTo>
                  <a:lnTo>
                    <a:pt x="1598961" y="24098"/>
                  </a:lnTo>
                  <a:lnTo>
                    <a:pt x="1572803" y="6465"/>
                  </a:lnTo>
                  <a:lnTo>
                    <a:pt x="1540764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43683" y="3232404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1540764" y="0"/>
                  </a:lnTo>
                  <a:lnTo>
                    <a:pt x="1572803" y="6465"/>
                  </a:lnTo>
                  <a:lnTo>
                    <a:pt x="1598961" y="24098"/>
                  </a:lnTo>
                  <a:lnTo>
                    <a:pt x="1616594" y="50256"/>
                  </a:lnTo>
                  <a:lnTo>
                    <a:pt x="1623060" y="82296"/>
                  </a:lnTo>
                  <a:lnTo>
                    <a:pt x="1623060" y="411480"/>
                  </a:lnTo>
                  <a:lnTo>
                    <a:pt x="1616594" y="443519"/>
                  </a:lnTo>
                  <a:lnTo>
                    <a:pt x="1598961" y="469677"/>
                  </a:lnTo>
                  <a:lnTo>
                    <a:pt x="1572803" y="487310"/>
                  </a:lnTo>
                  <a:lnTo>
                    <a:pt x="1540764" y="493776"/>
                  </a:lnTo>
                  <a:lnTo>
                    <a:pt x="82296" y="493776"/>
                  </a:lnTo>
                  <a:lnTo>
                    <a:pt x="50256" y="487310"/>
                  </a:lnTo>
                  <a:lnTo>
                    <a:pt x="24098" y="469677"/>
                  </a:lnTo>
                  <a:lnTo>
                    <a:pt x="6465" y="443519"/>
                  </a:lnTo>
                  <a:lnTo>
                    <a:pt x="0" y="411480"/>
                  </a:lnTo>
                  <a:lnTo>
                    <a:pt x="0" y="82296"/>
                  </a:lnTo>
                  <a:close/>
                </a:path>
              </a:pathLst>
            </a:custGeom>
            <a:ln w="12699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340101" y="3354704"/>
            <a:ext cx="10325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Explore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081017" y="3273297"/>
            <a:ext cx="1635760" cy="506730"/>
            <a:chOff x="4081017" y="3273297"/>
            <a:chExt cx="1635760" cy="506730"/>
          </a:xfrm>
        </p:grpSpPr>
        <p:sp>
          <p:nvSpPr>
            <p:cNvPr id="50" name="object 50"/>
            <p:cNvSpPr/>
            <p:nvPr/>
          </p:nvSpPr>
          <p:spPr>
            <a:xfrm>
              <a:off x="4087367" y="3279647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154076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411479"/>
                  </a:lnTo>
                  <a:lnTo>
                    <a:pt x="6465" y="443519"/>
                  </a:lnTo>
                  <a:lnTo>
                    <a:pt x="24098" y="469677"/>
                  </a:lnTo>
                  <a:lnTo>
                    <a:pt x="50256" y="487310"/>
                  </a:lnTo>
                  <a:lnTo>
                    <a:pt x="82296" y="493775"/>
                  </a:lnTo>
                  <a:lnTo>
                    <a:pt x="1540764" y="493775"/>
                  </a:lnTo>
                  <a:lnTo>
                    <a:pt x="1572803" y="487310"/>
                  </a:lnTo>
                  <a:lnTo>
                    <a:pt x="1598961" y="469677"/>
                  </a:lnTo>
                  <a:lnTo>
                    <a:pt x="1616594" y="443519"/>
                  </a:lnTo>
                  <a:lnTo>
                    <a:pt x="1623060" y="411479"/>
                  </a:lnTo>
                  <a:lnTo>
                    <a:pt x="1623060" y="82296"/>
                  </a:lnTo>
                  <a:lnTo>
                    <a:pt x="1616594" y="50256"/>
                  </a:lnTo>
                  <a:lnTo>
                    <a:pt x="1598961" y="24098"/>
                  </a:lnTo>
                  <a:lnTo>
                    <a:pt x="1572803" y="6465"/>
                  </a:lnTo>
                  <a:lnTo>
                    <a:pt x="1540764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87367" y="3279647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1540764" y="0"/>
                  </a:lnTo>
                  <a:lnTo>
                    <a:pt x="1572803" y="6465"/>
                  </a:lnTo>
                  <a:lnTo>
                    <a:pt x="1598961" y="24098"/>
                  </a:lnTo>
                  <a:lnTo>
                    <a:pt x="1616594" y="50256"/>
                  </a:lnTo>
                  <a:lnTo>
                    <a:pt x="1623060" y="82296"/>
                  </a:lnTo>
                  <a:lnTo>
                    <a:pt x="1623060" y="411479"/>
                  </a:lnTo>
                  <a:lnTo>
                    <a:pt x="1616594" y="443519"/>
                  </a:lnTo>
                  <a:lnTo>
                    <a:pt x="1598961" y="469677"/>
                  </a:lnTo>
                  <a:lnTo>
                    <a:pt x="1572803" y="487310"/>
                  </a:lnTo>
                  <a:lnTo>
                    <a:pt x="1540764" y="493775"/>
                  </a:lnTo>
                  <a:lnTo>
                    <a:pt x="82296" y="493775"/>
                  </a:lnTo>
                  <a:lnTo>
                    <a:pt x="50256" y="487310"/>
                  </a:lnTo>
                  <a:lnTo>
                    <a:pt x="24098" y="469677"/>
                  </a:lnTo>
                  <a:lnTo>
                    <a:pt x="6465" y="443519"/>
                  </a:lnTo>
                  <a:lnTo>
                    <a:pt x="0" y="411479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480940" y="3294633"/>
            <a:ext cx="8382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Outlier treatment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172200" y="3279647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40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39240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40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609333" y="3294633"/>
            <a:ext cx="7473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81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Variable selection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255507" y="3279647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59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5"/>
                </a:lnTo>
                <a:lnTo>
                  <a:pt x="1540764" y="493775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79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594852" y="3294633"/>
            <a:ext cx="94551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Out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of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time </a:t>
            </a:r>
            <a:r>
              <a:rPr sz="1400" spc="-10" dirty="0">
                <a:latin typeface="Trebuchet MS"/>
                <a:cs typeface="Trebuchet MS"/>
              </a:rPr>
              <a:t>validation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0340340" y="3279647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39" y="0"/>
                </a:moveTo>
                <a:lnTo>
                  <a:pt x="82295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79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5" y="493775"/>
                </a:lnTo>
                <a:lnTo>
                  <a:pt x="1539239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79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0529696" y="3294633"/>
            <a:ext cx="124587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/>
                <a:cs typeface="Trebuchet MS"/>
              </a:rPr>
              <a:t>Maintenance</a:t>
            </a:r>
            <a:r>
              <a:rPr sz="1400" spc="-8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of </a:t>
            </a:r>
            <a:r>
              <a:rPr sz="1400" spc="-10" dirty="0"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23444" y="4018788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89" h="494029">
                <a:moveTo>
                  <a:pt x="1539239" y="0"/>
                </a:moveTo>
                <a:lnTo>
                  <a:pt x="82295" y="0"/>
                </a:lnTo>
                <a:lnTo>
                  <a:pt x="50261" y="6465"/>
                </a:lnTo>
                <a:lnTo>
                  <a:pt x="24103" y="24098"/>
                </a:lnTo>
                <a:lnTo>
                  <a:pt x="6466" y="50256"/>
                </a:lnTo>
                <a:lnTo>
                  <a:pt x="0" y="82295"/>
                </a:lnTo>
                <a:lnTo>
                  <a:pt x="0" y="411480"/>
                </a:lnTo>
                <a:lnTo>
                  <a:pt x="6466" y="443519"/>
                </a:lnTo>
                <a:lnTo>
                  <a:pt x="24103" y="469677"/>
                </a:lnTo>
                <a:lnTo>
                  <a:pt x="50261" y="487310"/>
                </a:lnTo>
                <a:lnTo>
                  <a:pt x="82295" y="493775"/>
                </a:lnTo>
                <a:lnTo>
                  <a:pt x="1539239" y="493775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6" y="411480"/>
                </a:lnTo>
                <a:lnTo>
                  <a:pt x="1621536" y="82295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36575" y="4141470"/>
            <a:ext cx="9963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Project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Plan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037333" y="4012438"/>
            <a:ext cx="1635760" cy="506730"/>
            <a:chOff x="2037333" y="4012438"/>
            <a:chExt cx="1635760" cy="506730"/>
          </a:xfrm>
        </p:grpSpPr>
        <p:sp>
          <p:nvSpPr>
            <p:cNvPr id="62" name="object 62"/>
            <p:cNvSpPr/>
            <p:nvPr/>
          </p:nvSpPr>
          <p:spPr>
            <a:xfrm>
              <a:off x="2043683" y="4018788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154076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411480"/>
                  </a:lnTo>
                  <a:lnTo>
                    <a:pt x="6465" y="443519"/>
                  </a:lnTo>
                  <a:lnTo>
                    <a:pt x="24098" y="469677"/>
                  </a:lnTo>
                  <a:lnTo>
                    <a:pt x="50256" y="487310"/>
                  </a:lnTo>
                  <a:lnTo>
                    <a:pt x="82296" y="493775"/>
                  </a:lnTo>
                  <a:lnTo>
                    <a:pt x="1540764" y="493775"/>
                  </a:lnTo>
                  <a:lnTo>
                    <a:pt x="1572803" y="487310"/>
                  </a:lnTo>
                  <a:lnTo>
                    <a:pt x="1598961" y="469677"/>
                  </a:lnTo>
                  <a:lnTo>
                    <a:pt x="1616594" y="443519"/>
                  </a:lnTo>
                  <a:lnTo>
                    <a:pt x="1623060" y="411480"/>
                  </a:lnTo>
                  <a:lnTo>
                    <a:pt x="1623060" y="82295"/>
                  </a:lnTo>
                  <a:lnTo>
                    <a:pt x="1616594" y="50256"/>
                  </a:lnTo>
                  <a:lnTo>
                    <a:pt x="1598961" y="24098"/>
                  </a:lnTo>
                  <a:lnTo>
                    <a:pt x="1572803" y="6465"/>
                  </a:lnTo>
                  <a:lnTo>
                    <a:pt x="1540764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043683" y="4018788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0" y="82295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1540764" y="0"/>
                  </a:lnTo>
                  <a:lnTo>
                    <a:pt x="1572803" y="6465"/>
                  </a:lnTo>
                  <a:lnTo>
                    <a:pt x="1598961" y="24098"/>
                  </a:lnTo>
                  <a:lnTo>
                    <a:pt x="1616594" y="50256"/>
                  </a:lnTo>
                  <a:lnTo>
                    <a:pt x="1623060" y="82295"/>
                  </a:lnTo>
                  <a:lnTo>
                    <a:pt x="1623060" y="411480"/>
                  </a:lnTo>
                  <a:lnTo>
                    <a:pt x="1616594" y="443519"/>
                  </a:lnTo>
                  <a:lnTo>
                    <a:pt x="1598961" y="469677"/>
                  </a:lnTo>
                  <a:lnTo>
                    <a:pt x="1572803" y="487310"/>
                  </a:lnTo>
                  <a:lnTo>
                    <a:pt x="1540764" y="493775"/>
                  </a:lnTo>
                  <a:lnTo>
                    <a:pt x="82296" y="493775"/>
                  </a:lnTo>
                  <a:lnTo>
                    <a:pt x="50256" y="487310"/>
                  </a:lnTo>
                  <a:lnTo>
                    <a:pt x="24098" y="469677"/>
                  </a:lnTo>
                  <a:lnTo>
                    <a:pt x="6465" y="443519"/>
                  </a:lnTo>
                  <a:lnTo>
                    <a:pt x="0" y="411480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250185" y="4141470"/>
            <a:ext cx="1210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Basic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Summary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081017" y="4059682"/>
            <a:ext cx="1635760" cy="506730"/>
            <a:chOff x="4081017" y="4059682"/>
            <a:chExt cx="1635760" cy="506730"/>
          </a:xfrm>
        </p:grpSpPr>
        <p:sp>
          <p:nvSpPr>
            <p:cNvPr id="66" name="object 66"/>
            <p:cNvSpPr/>
            <p:nvPr/>
          </p:nvSpPr>
          <p:spPr>
            <a:xfrm>
              <a:off x="4087367" y="4066032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154076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411480"/>
                  </a:lnTo>
                  <a:lnTo>
                    <a:pt x="6465" y="443519"/>
                  </a:lnTo>
                  <a:lnTo>
                    <a:pt x="24098" y="469677"/>
                  </a:lnTo>
                  <a:lnTo>
                    <a:pt x="50256" y="487310"/>
                  </a:lnTo>
                  <a:lnTo>
                    <a:pt x="82296" y="493776"/>
                  </a:lnTo>
                  <a:lnTo>
                    <a:pt x="1540764" y="493776"/>
                  </a:lnTo>
                  <a:lnTo>
                    <a:pt x="1572803" y="487310"/>
                  </a:lnTo>
                  <a:lnTo>
                    <a:pt x="1598961" y="469677"/>
                  </a:lnTo>
                  <a:lnTo>
                    <a:pt x="1616594" y="443519"/>
                  </a:lnTo>
                  <a:lnTo>
                    <a:pt x="1623060" y="411480"/>
                  </a:lnTo>
                  <a:lnTo>
                    <a:pt x="1623060" y="82296"/>
                  </a:lnTo>
                  <a:lnTo>
                    <a:pt x="1616594" y="50256"/>
                  </a:lnTo>
                  <a:lnTo>
                    <a:pt x="1598961" y="24098"/>
                  </a:lnTo>
                  <a:lnTo>
                    <a:pt x="1572803" y="6465"/>
                  </a:lnTo>
                  <a:lnTo>
                    <a:pt x="1540764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087367" y="4066032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1540764" y="0"/>
                  </a:lnTo>
                  <a:lnTo>
                    <a:pt x="1572803" y="6465"/>
                  </a:lnTo>
                  <a:lnTo>
                    <a:pt x="1598961" y="24098"/>
                  </a:lnTo>
                  <a:lnTo>
                    <a:pt x="1616594" y="50256"/>
                  </a:lnTo>
                  <a:lnTo>
                    <a:pt x="1623060" y="82296"/>
                  </a:lnTo>
                  <a:lnTo>
                    <a:pt x="1623060" y="411480"/>
                  </a:lnTo>
                  <a:lnTo>
                    <a:pt x="1616594" y="443519"/>
                  </a:lnTo>
                  <a:lnTo>
                    <a:pt x="1598961" y="469677"/>
                  </a:lnTo>
                  <a:lnTo>
                    <a:pt x="1572803" y="487310"/>
                  </a:lnTo>
                  <a:lnTo>
                    <a:pt x="1540764" y="493776"/>
                  </a:lnTo>
                  <a:lnTo>
                    <a:pt x="82296" y="493776"/>
                  </a:lnTo>
                  <a:lnTo>
                    <a:pt x="50256" y="487310"/>
                  </a:lnTo>
                  <a:lnTo>
                    <a:pt x="24098" y="469677"/>
                  </a:lnTo>
                  <a:lnTo>
                    <a:pt x="6465" y="443519"/>
                  </a:lnTo>
                  <a:lnTo>
                    <a:pt x="0" y="41148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368165" y="4081398"/>
            <a:ext cx="106299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Missing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value</a:t>
            </a:r>
            <a:endParaRPr sz="14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Trebuchet MS"/>
                <a:cs typeface="Trebuchet MS"/>
              </a:rPr>
              <a:t>treatment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172200" y="4066032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40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6"/>
                </a:lnTo>
                <a:lnTo>
                  <a:pt x="1539240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80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40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6391402" y="4081398"/>
            <a:ext cx="118491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building</a:t>
            </a:r>
            <a:endParaRPr sz="140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finetuning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255507" y="4066032"/>
            <a:ext cx="1623060" cy="494030"/>
          </a:xfrm>
          <a:custGeom>
            <a:avLst/>
            <a:gdLst/>
            <a:ahLst/>
            <a:cxnLst/>
            <a:rect l="l" t="t" r="r" b="b"/>
            <a:pathLst>
              <a:path w="1623059" h="494029">
                <a:moveTo>
                  <a:pt x="1540764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6" y="493776"/>
                </a:lnTo>
                <a:lnTo>
                  <a:pt x="1540764" y="493776"/>
                </a:lnTo>
                <a:lnTo>
                  <a:pt x="1572803" y="487310"/>
                </a:lnTo>
                <a:lnTo>
                  <a:pt x="1598961" y="469677"/>
                </a:lnTo>
                <a:lnTo>
                  <a:pt x="1616594" y="443519"/>
                </a:lnTo>
                <a:lnTo>
                  <a:pt x="1623060" y="411480"/>
                </a:lnTo>
                <a:lnTo>
                  <a:pt x="1623060" y="82296"/>
                </a:lnTo>
                <a:lnTo>
                  <a:pt x="1616594" y="50256"/>
                </a:lnTo>
                <a:lnTo>
                  <a:pt x="1598961" y="24098"/>
                </a:lnTo>
                <a:lnTo>
                  <a:pt x="1572803" y="6465"/>
                </a:lnTo>
                <a:lnTo>
                  <a:pt x="154076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8387333" y="4188078"/>
            <a:ext cx="13614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finetuning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0340340" y="4066032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90" h="494029">
                <a:moveTo>
                  <a:pt x="1539239" y="0"/>
                </a:moveTo>
                <a:lnTo>
                  <a:pt x="82295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9"/>
                </a:lnTo>
                <a:lnTo>
                  <a:pt x="24098" y="469677"/>
                </a:lnTo>
                <a:lnTo>
                  <a:pt x="50256" y="487310"/>
                </a:lnTo>
                <a:lnTo>
                  <a:pt x="82295" y="493776"/>
                </a:lnTo>
                <a:lnTo>
                  <a:pt x="1539239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5" y="411480"/>
                </a:lnTo>
                <a:lnTo>
                  <a:pt x="1621535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0445877" y="4188078"/>
            <a:ext cx="1411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monitoring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3444" y="4817364"/>
            <a:ext cx="1621790" cy="494030"/>
          </a:xfrm>
          <a:custGeom>
            <a:avLst/>
            <a:gdLst/>
            <a:ahLst/>
            <a:cxnLst/>
            <a:rect l="l" t="t" r="r" b="b"/>
            <a:pathLst>
              <a:path w="1621789" h="494029">
                <a:moveTo>
                  <a:pt x="1539239" y="0"/>
                </a:moveTo>
                <a:lnTo>
                  <a:pt x="82295" y="0"/>
                </a:lnTo>
                <a:lnTo>
                  <a:pt x="50261" y="6465"/>
                </a:lnTo>
                <a:lnTo>
                  <a:pt x="24103" y="24098"/>
                </a:lnTo>
                <a:lnTo>
                  <a:pt x="6466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6" y="443519"/>
                </a:lnTo>
                <a:lnTo>
                  <a:pt x="24103" y="469677"/>
                </a:lnTo>
                <a:lnTo>
                  <a:pt x="50261" y="487310"/>
                </a:lnTo>
                <a:lnTo>
                  <a:pt x="82295" y="493776"/>
                </a:lnTo>
                <a:lnTo>
                  <a:pt x="1539239" y="493776"/>
                </a:lnTo>
                <a:lnTo>
                  <a:pt x="1571279" y="487310"/>
                </a:lnTo>
                <a:lnTo>
                  <a:pt x="1597437" y="469677"/>
                </a:lnTo>
                <a:lnTo>
                  <a:pt x="1615070" y="443519"/>
                </a:lnTo>
                <a:lnTo>
                  <a:pt x="1621536" y="411480"/>
                </a:lnTo>
                <a:lnTo>
                  <a:pt x="1621536" y="82296"/>
                </a:lnTo>
                <a:lnTo>
                  <a:pt x="1615070" y="50256"/>
                </a:lnTo>
                <a:lnTo>
                  <a:pt x="1597437" y="24098"/>
                </a:lnTo>
                <a:lnTo>
                  <a:pt x="1571279" y="6465"/>
                </a:lnTo>
                <a:lnTo>
                  <a:pt x="1539239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29539" y="4832730"/>
            <a:ext cx="8108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Budget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&amp; </a:t>
            </a:r>
            <a:r>
              <a:rPr sz="1400" spc="-10" dirty="0">
                <a:latin typeface="Trebuchet MS"/>
                <a:cs typeface="Trebuchet MS"/>
              </a:rPr>
              <a:t>Resources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081017" y="4858258"/>
            <a:ext cx="1635760" cy="505459"/>
            <a:chOff x="4081017" y="4858258"/>
            <a:chExt cx="1635760" cy="505459"/>
          </a:xfrm>
        </p:grpSpPr>
        <p:sp>
          <p:nvSpPr>
            <p:cNvPr id="78" name="object 78"/>
            <p:cNvSpPr/>
            <p:nvPr/>
          </p:nvSpPr>
          <p:spPr>
            <a:xfrm>
              <a:off x="4087367" y="4864608"/>
              <a:ext cx="1623060" cy="492759"/>
            </a:xfrm>
            <a:custGeom>
              <a:avLst/>
              <a:gdLst/>
              <a:ahLst/>
              <a:cxnLst/>
              <a:rect l="l" t="t" r="r" b="b"/>
              <a:pathLst>
                <a:path w="1623060" h="492760">
                  <a:moveTo>
                    <a:pt x="1541018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2" y="492252"/>
                  </a:lnTo>
                  <a:lnTo>
                    <a:pt x="1541018" y="492252"/>
                  </a:lnTo>
                  <a:lnTo>
                    <a:pt x="1572964" y="485808"/>
                  </a:lnTo>
                  <a:lnTo>
                    <a:pt x="1599041" y="468233"/>
                  </a:lnTo>
                  <a:lnTo>
                    <a:pt x="1616616" y="442156"/>
                  </a:lnTo>
                  <a:lnTo>
                    <a:pt x="1623060" y="410210"/>
                  </a:lnTo>
                  <a:lnTo>
                    <a:pt x="1623060" y="82042"/>
                  </a:lnTo>
                  <a:lnTo>
                    <a:pt x="1616616" y="50095"/>
                  </a:lnTo>
                  <a:lnTo>
                    <a:pt x="1599041" y="24018"/>
                  </a:lnTo>
                  <a:lnTo>
                    <a:pt x="1572964" y="6443"/>
                  </a:lnTo>
                  <a:lnTo>
                    <a:pt x="1541018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087367" y="4864608"/>
              <a:ext cx="1623060" cy="492759"/>
            </a:xfrm>
            <a:custGeom>
              <a:avLst/>
              <a:gdLst/>
              <a:ahLst/>
              <a:cxnLst/>
              <a:rect l="l" t="t" r="r" b="b"/>
              <a:pathLst>
                <a:path w="1623060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2" y="0"/>
                  </a:lnTo>
                  <a:lnTo>
                    <a:pt x="1541018" y="0"/>
                  </a:lnTo>
                  <a:lnTo>
                    <a:pt x="1572964" y="6443"/>
                  </a:lnTo>
                  <a:lnTo>
                    <a:pt x="1599041" y="24018"/>
                  </a:lnTo>
                  <a:lnTo>
                    <a:pt x="1616616" y="50095"/>
                  </a:lnTo>
                  <a:lnTo>
                    <a:pt x="1623060" y="82042"/>
                  </a:lnTo>
                  <a:lnTo>
                    <a:pt x="1623060" y="410210"/>
                  </a:lnTo>
                  <a:lnTo>
                    <a:pt x="1616616" y="442156"/>
                  </a:lnTo>
                  <a:lnTo>
                    <a:pt x="1599041" y="468233"/>
                  </a:lnTo>
                  <a:lnTo>
                    <a:pt x="1572964" y="485808"/>
                  </a:lnTo>
                  <a:lnTo>
                    <a:pt x="1541018" y="492252"/>
                  </a:lnTo>
                  <a:lnTo>
                    <a:pt x="82042" y="492252"/>
                  </a:lnTo>
                  <a:lnTo>
                    <a:pt x="50095" y="485808"/>
                  </a:lnTo>
                  <a:lnTo>
                    <a:pt x="24018" y="468233"/>
                  </a:lnTo>
                  <a:lnTo>
                    <a:pt x="6443" y="442156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301109" y="4986020"/>
            <a:ext cx="1198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Clean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the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172200" y="4864608"/>
            <a:ext cx="1621790" cy="492759"/>
          </a:xfrm>
          <a:custGeom>
            <a:avLst/>
            <a:gdLst/>
            <a:ahLst/>
            <a:cxnLst/>
            <a:rect l="l" t="t" r="r" b="b"/>
            <a:pathLst>
              <a:path w="1621790" h="492760">
                <a:moveTo>
                  <a:pt x="1539494" y="0"/>
                </a:moveTo>
                <a:lnTo>
                  <a:pt x="82041" y="0"/>
                </a:lnTo>
                <a:lnTo>
                  <a:pt x="50095" y="6443"/>
                </a:lnTo>
                <a:lnTo>
                  <a:pt x="24018" y="24018"/>
                </a:lnTo>
                <a:lnTo>
                  <a:pt x="6443" y="50095"/>
                </a:lnTo>
                <a:lnTo>
                  <a:pt x="0" y="82042"/>
                </a:lnTo>
                <a:lnTo>
                  <a:pt x="0" y="410210"/>
                </a:lnTo>
                <a:lnTo>
                  <a:pt x="6443" y="442156"/>
                </a:lnTo>
                <a:lnTo>
                  <a:pt x="24018" y="468233"/>
                </a:lnTo>
                <a:lnTo>
                  <a:pt x="50095" y="485808"/>
                </a:lnTo>
                <a:lnTo>
                  <a:pt x="82041" y="492252"/>
                </a:lnTo>
                <a:lnTo>
                  <a:pt x="1539494" y="492252"/>
                </a:lnTo>
                <a:lnTo>
                  <a:pt x="1571440" y="485808"/>
                </a:lnTo>
                <a:lnTo>
                  <a:pt x="1597517" y="468233"/>
                </a:lnTo>
                <a:lnTo>
                  <a:pt x="1615092" y="442156"/>
                </a:lnTo>
                <a:lnTo>
                  <a:pt x="1621535" y="410210"/>
                </a:lnTo>
                <a:lnTo>
                  <a:pt x="1621535" y="82042"/>
                </a:lnTo>
                <a:lnTo>
                  <a:pt x="1615092" y="50095"/>
                </a:lnTo>
                <a:lnTo>
                  <a:pt x="1597517" y="24018"/>
                </a:lnTo>
                <a:lnTo>
                  <a:pt x="1571440" y="6443"/>
                </a:lnTo>
                <a:lnTo>
                  <a:pt x="1539494" y="0"/>
                </a:lnTo>
                <a:close/>
              </a:path>
            </a:pathLst>
          </a:custGeom>
          <a:solidFill>
            <a:srgbClr val="B9C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327394" y="4986020"/>
            <a:ext cx="1313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Model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iterations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040382" y="4807965"/>
            <a:ext cx="1634489" cy="698500"/>
            <a:chOff x="2040382" y="4807965"/>
            <a:chExt cx="1634489" cy="698500"/>
          </a:xfrm>
        </p:grpSpPr>
        <p:sp>
          <p:nvSpPr>
            <p:cNvPr id="84" name="object 84"/>
            <p:cNvSpPr/>
            <p:nvPr/>
          </p:nvSpPr>
          <p:spPr>
            <a:xfrm>
              <a:off x="2046732" y="4814315"/>
              <a:ext cx="1621790" cy="685800"/>
            </a:xfrm>
            <a:custGeom>
              <a:avLst/>
              <a:gdLst/>
              <a:ahLst/>
              <a:cxnLst/>
              <a:rect l="l" t="t" r="r" b="b"/>
              <a:pathLst>
                <a:path w="1621789" h="685800">
                  <a:moveTo>
                    <a:pt x="1507235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299"/>
                  </a:lnTo>
                  <a:lnTo>
                    <a:pt x="0" y="571499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799"/>
                  </a:lnTo>
                  <a:lnTo>
                    <a:pt x="1507235" y="685799"/>
                  </a:lnTo>
                  <a:lnTo>
                    <a:pt x="1551723" y="676816"/>
                  </a:lnTo>
                  <a:lnTo>
                    <a:pt x="1588055" y="652319"/>
                  </a:lnTo>
                  <a:lnTo>
                    <a:pt x="1612552" y="615987"/>
                  </a:lnTo>
                  <a:lnTo>
                    <a:pt x="1621535" y="571499"/>
                  </a:lnTo>
                  <a:lnTo>
                    <a:pt x="1621535" y="114299"/>
                  </a:lnTo>
                  <a:lnTo>
                    <a:pt x="1612552" y="69812"/>
                  </a:lnTo>
                  <a:lnTo>
                    <a:pt x="1588055" y="33480"/>
                  </a:lnTo>
                  <a:lnTo>
                    <a:pt x="1551723" y="8983"/>
                  </a:lnTo>
                  <a:lnTo>
                    <a:pt x="1507235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046732" y="4814315"/>
              <a:ext cx="1621790" cy="685800"/>
            </a:xfrm>
            <a:custGeom>
              <a:avLst/>
              <a:gdLst/>
              <a:ahLst/>
              <a:cxnLst/>
              <a:rect l="l" t="t" r="r" b="b"/>
              <a:pathLst>
                <a:path w="1621789" h="6858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07235" y="0"/>
                  </a:lnTo>
                  <a:lnTo>
                    <a:pt x="1551723" y="8983"/>
                  </a:lnTo>
                  <a:lnTo>
                    <a:pt x="1588055" y="33480"/>
                  </a:lnTo>
                  <a:lnTo>
                    <a:pt x="1612552" y="69812"/>
                  </a:lnTo>
                  <a:lnTo>
                    <a:pt x="1621535" y="114299"/>
                  </a:lnTo>
                  <a:lnTo>
                    <a:pt x="1621535" y="571499"/>
                  </a:lnTo>
                  <a:lnTo>
                    <a:pt x="1612552" y="615987"/>
                  </a:lnTo>
                  <a:lnTo>
                    <a:pt x="1588055" y="652319"/>
                  </a:lnTo>
                  <a:lnTo>
                    <a:pt x="1551723" y="676816"/>
                  </a:lnTo>
                  <a:lnTo>
                    <a:pt x="1507235" y="685799"/>
                  </a:lnTo>
                  <a:lnTo>
                    <a:pt x="114300" y="685799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499"/>
                  </a:lnTo>
                  <a:lnTo>
                    <a:pt x="0" y="114299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2208022" y="4819650"/>
            <a:ext cx="130048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Identify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outliers </a:t>
            </a:r>
            <a:r>
              <a:rPr sz="1400" dirty="0">
                <a:latin typeface="Trebuchet MS"/>
                <a:cs typeface="Trebuchet MS"/>
              </a:rPr>
              <a:t>and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missing values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4081017" y="5542534"/>
            <a:ext cx="1635760" cy="506730"/>
            <a:chOff x="4081017" y="5542534"/>
            <a:chExt cx="1635760" cy="506730"/>
          </a:xfrm>
        </p:grpSpPr>
        <p:sp>
          <p:nvSpPr>
            <p:cNvPr id="88" name="object 88"/>
            <p:cNvSpPr/>
            <p:nvPr/>
          </p:nvSpPr>
          <p:spPr>
            <a:xfrm>
              <a:off x="4087367" y="5548884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154076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411479"/>
                  </a:lnTo>
                  <a:lnTo>
                    <a:pt x="6465" y="443514"/>
                  </a:lnTo>
                  <a:lnTo>
                    <a:pt x="24098" y="469672"/>
                  </a:lnTo>
                  <a:lnTo>
                    <a:pt x="50256" y="487309"/>
                  </a:lnTo>
                  <a:lnTo>
                    <a:pt x="82296" y="493775"/>
                  </a:lnTo>
                  <a:lnTo>
                    <a:pt x="1540764" y="493775"/>
                  </a:lnTo>
                  <a:lnTo>
                    <a:pt x="1572803" y="487309"/>
                  </a:lnTo>
                  <a:lnTo>
                    <a:pt x="1598961" y="469672"/>
                  </a:lnTo>
                  <a:lnTo>
                    <a:pt x="1616594" y="443514"/>
                  </a:lnTo>
                  <a:lnTo>
                    <a:pt x="1623060" y="411479"/>
                  </a:lnTo>
                  <a:lnTo>
                    <a:pt x="1623060" y="82295"/>
                  </a:lnTo>
                  <a:lnTo>
                    <a:pt x="1616594" y="50256"/>
                  </a:lnTo>
                  <a:lnTo>
                    <a:pt x="1598961" y="24098"/>
                  </a:lnTo>
                  <a:lnTo>
                    <a:pt x="1572803" y="6465"/>
                  </a:lnTo>
                  <a:lnTo>
                    <a:pt x="1540764" y="0"/>
                  </a:lnTo>
                  <a:close/>
                </a:path>
              </a:pathLst>
            </a:custGeom>
            <a:solidFill>
              <a:srgbClr val="F7B8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087367" y="5548884"/>
              <a:ext cx="1623060" cy="494030"/>
            </a:xfrm>
            <a:custGeom>
              <a:avLst/>
              <a:gdLst/>
              <a:ahLst/>
              <a:cxnLst/>
              <a:rect l="l" t="t" r="r" b="b"/>
              <a:pathLst>
                <a:path w="1623060" h="494029">
                  <a:moveTo>
                    <a:pt x="0" y="82295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1540764" y="0"/>
                  </a:lnTo>
                  <a:lnTo>
                    <a:pt x="1572803" y="6465"/>
                  </a:lnTo>
                  <a:lnTo>
                    <a:pt x="1598961" y="24098"/>
                  </a:lnTo>
                  <a:lnTo>
                    <a:pt x="1616594" y="50256"/>
                  </a:lnTo>
                  <a:lnTo>
                    <a:pt x="1623060" y="82295"/>
                  </a:lnTo>
                  <a:lnTo>
                    <a:pt x="1623060" y="411479"/>
                  </a:lnTo>
                  <a:lnTo>
                    <a:pt x="1616594" y="443514"/>
                  </a:lnTo>
                  <a:lnTo>
                    <a:pt x="1598961" y="469672"/>
                  </a:lnTo>
                  <a:lnTo>
                    <a:pt x="1572803" y="487309"/>
                  </a:lnTo>
                  <a:lnTo>
                    <a:pt x="1540764" y="493775"/>
                  </a:lnTo>
                  <a:lnTo>
                    <a:pt x="82296" y="493775"/>
                  </a:lnTo>
                  <a:lnTo>
                    <a:pt x="50256" y="487309"/>
                  </a:lnTo>
                  <a:lnTo>
                    <a:pt x="24098" y="469672"/>
                  </a:lnTo>
                  <a:lnTo>
                    <a:pt x="6465" y="443514"/>
                  </a:lnTo>
                  <a:lnTo>
                    <a:pt x="0" y="411479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4232528" y="5565140"/>
            <a:ext cx="13360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Prepare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data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for </a:t>
            </a:r>
            <a:r>
              <a:rPr sz="1400" spc="-10" dirty="0"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56921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Raw</a:t>
            </a:r>
            <a:r>
              <a:rPr sz="6000" spc="-254" dirty="0"/>
              <a:t> </a:t>
            </a:r>
            <a:r>
              <a:rPr sz="6000" dirty="0"/>
              <a:t>Data</a:t>
            </a:r>
            <a:r>
              <a:rPr sz="6000" spc="-254" dirty="0"/>
              <a:t> </a:t>
            </a:r>
            <a:r>
              <a:rPr sz="6000" dirty="0"/>
              <a:t>-</a:t>
            </a:r>
            <a:r>
              <a:rPr sz="6000" spc="-240" dirty="0"/>
              <a:t> </a:t>
            </a:r>
            <a:r>
              <a:rPr sz="6000" spc="-35" dirty="0"/>
              <a:t>issues</a:t>
            </a:r>
            <a:endParaRPr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225" dirty="0"/>
              <a:t> </a:t>
            </a:r>
            <a:r>
              <a:rPr spc="-10" dirty="0"/>
              <a:t>raw</a:t>
            </a:r>
            <a:r>
              <a:rPr spc="-245" dirty="0"/>
              <a:t> </a:t>
            </a:r>
            <a:r>
              <a:rPr spc="-25" dirty="0"/>
              <a:t>data</a:t>
            </a:r>
            <a:r>
              <a:rPr spc="-250" dirty="0"/>
              <a:t> </a:t>
            </a:r>
            <a:r>
              <a:rPr dirty="0"/>
              <a:t>is</a:t>
            </a:r>
            <a:r>
              <a:rPr spc="-254" dirty="0"/>
              <a:t> </a:t>
            </a:r>
            <a:r>
              <a:rPr spc="-10" dirty="0"/>
              <a:t>dirty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8424545" cy="2660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Wrong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formats-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expenses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read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Might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Income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records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Might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outliers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Number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loans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25000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Erroneous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Age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than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0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Default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Account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tenure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999999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Inconsistent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–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Age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25,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year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birth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1970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Preparing</a:t>
            </a:r>
            <a:r>
              <a:rPr spc="-220" dirty="0"/>
              <a:t> </a:t>
            </a:r>
            <a:r>
              <a:rPr spc="-20" dirty="0"/>
              <a:t>data</a:t>
            </a:r>
            <a:r>
              <a:rPr spc="-245" dirty="0"/>
              <a:t> </a:t>
            </a:r>
            <a:r>
              <a:rPr spc="-10" dirty="0"/>
              <a:t>for</a:t>
            </a:r>
            <a:r>
              <a:rPr spc="-229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704070" cy="23698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can't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directly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start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analysis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model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building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raw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data.</a:t>
            </a:r>
            <a:endParaRPr sz="2400">
              <a:latin typeface="Trebuchet MS"/>
              <a:cs typeface="Trebuchet MS"/>
            </a:endParaRPr>
          </a:p>
          <a:p>
            <a:pPr marL="141605" marR="691515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Before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getting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core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analysis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strategy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building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very </a:t>
            </a:r>
            <a:r>
              <a:rPr sz="2400" dirty="0">
                <a:latin typeface="Trebuchet MS"/>
                <a:cs typeface="Trebuchet MS"/>
              </a:rPr>
              <a:t>important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95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Explore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20" dirty="0">
                <a:latin typeface="Trebuchet MS"/>
                <a:cs typeface="Trebuchet MS"/>
              </a:rPr>
              <a:t> data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4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spc="-10" dirty="0">
                <a:latin typeface="Trebuchet MS"/>
                <a:cs typeface="Trebuchet MS"/>
              </a:rPr>
              <a:t>Validate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finally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clean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prepare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analysis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92633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Case</a:t>
            </a:r>
            <a:r>
              <a:rPr sz="6000" spc="-335" dirty="0"/>
              <a:t> </a:t>
            </a:r>
            <a:r>
              <a:rPr sz="6000" dirty="0"/>
              <a:t>Study-</a:t>
            </a:r>
            <a:r>
              <a:rPr sz="6000" spc="-310" dirty="0"/>
              <a:t> </a:t>
            </a:r>
            <a:r>
              <a:rPr sz="6000" dirty="0"/>
              <a:t>Data</a:t>
            </a:r>
            <a:r>
              <a:rPr sz="6000" spc="-345" dirty="0"/>
              <a:t> </a:t>
            </a:r>
            <a:r>
              <a:rPr sz="6000" spc="-45" dirty="0"/>
              <a:t>Exploration</a:t>
            </a:r>
            <a:endParaRPr sz="6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Give</a:t>
            </a:r>
            <a:r>
              <a:rPr spc="-225" dirty="0"/>
              <a:t> </a:t>
            </a:r>
            <a:r>
              <a:rPr dirty="0"/>
              <a:t>me</a:t>
            </a:r>
            <a:r>
              <a:rPr spc="-215" dirty="0"/>
              <a:t> </a:t>
            </a:r>
            <a:r>
              <a:rPr spc="-20" dirty="0"/>
              <a:t>some</a:t>
            </a:r>
            <a:r>
              <a:rPr spc="-200" dirty="0"/>
              <a:t> </a:t>
            </a:r>
            <a:r>
              <a:rPr spc="-50" dirty="0"/>
              <a:t>credit</a:t>
            </a:r>
            <a:r>
              <a:rPr spc="-21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931400" cy="33185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u="sng" spc="-10" dirty="0">
                <a:solidFill>
                  <a:srgbClr val="55C6AA"/>
                </a:solidFill>
                <a:uFill>
                  <a:solidFill>
                    <a:srgbClr val="55C6AA"/>
                  </a:solidFill>
                </a:uFill>
                <a:latin typeface="Trebuchet MS"/>
                <a:cs typeface="Trebuchet MS"/>
                <a:hlinkClick r:id="rId2"/>
              </a:rPr>
              <a:t>https://www.kaggle.com/c/GiveMeSomeCredit</a:t>
            </a:r>
            <a:endParaRPr sz="2400">
              <a:latin typeface="Trebuchet MS"/>
              <a:cs typeface="Trebuchet MS"/>
            </a:endParaRPr>
          </a:p>
          <a:p>
            <a:pPr marL="141605" marR="54737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will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try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understand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exploration,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validation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 </a:t>
            </a:r>
            <a:r>
              <a:rPr sz="2400" dirty="0">
                <a:latin typeface="Trebuchet MS"/>
                <a:cs typeface="Trebuchet MS"/>
              </a:rPr>
              <a:t>cleaning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using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case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study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loans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Give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credit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b="1" dirty="0">
                <a:latin typeface="Trebuchet MS"/>
                <a:cs typeface="Trebuchet MS"/>
              </a:rPr>
              <a:t>.</a:t>
            </a:r>
            <a:r>
              <a:rPr sz="2400" b="1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loans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b="1" dirty="0">
                <a:latin typeface="Trebuchet MS"/>
                <a:cs typeface="Trebuchet MS"/>
              </a:rPr>
              <a:t>.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Historical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provided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150,000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borrowers.</a:t>
            </a:r>
            <a:endParaRPr sz="2400">
              <a:latin typeface="Trebuchet MS"/>
              <a:cs typeface="Trebuchet MS"/>
            </a:endParaRPr>
          </a:p>
          <a:p>
            <a:pPr marL="141605" marR="239395" indent="-129539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final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objective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build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model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borrowers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help </a:t>
            </a:r>
            <a:r>
              <a:rPr sz="2400" dirty="0">
                <a:latin typeface="Trebuchet MS"/>
                <a:cs typeface="Trebuchet MS"/>
              </a:rPr>
              <a:t>make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best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financial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decisions.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generally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get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dictionary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team.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80847"/>
            <a:ext cx="36360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Data</a:t>
            </a:r>
            <a:r>
              <a:rPr spc="-245" dirty="0"/>
              <a:t> </a:t>
            </a:r>
            <a:r>
              <a:rPr spc="-40" dirty="0"/>
              <a:t>Dictionary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2722" y="1047305"/>
          <a:ext cx="11978003" cy="5697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5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8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16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9812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Short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9812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800" b="1" spc="-10" dirty="0">
                          <a:solidFill>
                            <a:srgbClr val="A7EA52"/>
                          </a:solidFill>
                          <a:latin typeface="Calibri"/>
                          <a:cs typeface="Calibri"/>
                        </a:rPr>
                        <a:t>Example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17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Min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25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Max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9812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SeriousDlqin2yrs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marR="636905">
                        <a:lnSpc>
                          <a:spcPts val="1660"/>
                        </a:lnSpc>
                        <a:spcBef>
                          <a:spcPts val="48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(loan defaulter)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RevolvingUtilizationOfUnsecuredLines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Credit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Utilization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24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8763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marR="1184910">
                        <a:lnSpc>
                          <a:spcPts val="166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NumberOfTime30- 59DaysPastDueNotWorse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882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DebtRatio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Debt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income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882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MonthlyIncome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NumberOfOpenCreditLinesAndLoans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8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NumberOfTimes90DaysLate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670"/>
                        </a:lnSpc>
                        <a:spcBef>
                          <a:spcPts val="409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Three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late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080">
                        <a:lnSpc>
                          <a:spcPts val="1670"/>
                        </a:lnSpc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206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9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882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NumberRealEstateLoansOrLines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House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10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marR="1184910">
                        <a:lnSpc>
                          <a:spcPts val="1660"/>
                        </a:lnSpc>
                        <a:spcBef>
                          <a:spcPts val="484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NumberOfTime60- 89DaysPastDueNotWorse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00" spc="-60" dirty="0"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11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889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23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Data</a:t>
            </a:r>
            <a:r>
              <a:rPr spc="-245" dirty="0"/>
              <a:t> </a:t>
            </a:r>
            <a:r>
              <a:rPr spc="-40" dirty="0"/>
              <a:t>Dictionary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36879" y="1412938"/>
          <a:ext cx="11447780" cy="5176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9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9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5080">
                        <a:lnSpc>
                          <a:spcPts val="2130"/>
                        </a:lnSpc>
                        <a:spcBef>
                          <a:spcPts val="159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25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2130"/>
                        </a:lnSpc>
                        <a:spcBef>
                          <a:spcPts val="159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25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2130"/>
                        </a:lnSpc>
                        <a:spcBef>
                          <a:spcPts val="15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Short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25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2130"/>
                        </a:lnSpc>
                        <a:spcBef>
                          <a:spcPts val="159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25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2130"/>
                        </a:lnSpc>
                        <a:spcBef>
                          <a:spcPts val="159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Type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25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SeriousDlqin2yrs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67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(loan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080">
                        <a:lnSpc>
                          <a:spcPts val="1620"/>
                        </a:lnSpc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defaulter)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Person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experienced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days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past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delinquency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or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715">
                        <a:lnSpc>
                          <a:spcPts val="165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worse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Y/N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080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755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RevolvingUtilizationOfUnsecuredLines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08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Credit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Utilization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71450">
                        <a:lnSpc>
                          <a:spcPts val="1680"/>
                        </a:lnSpc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cards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lines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credit except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real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estate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instalment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debt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loans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divided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limits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percentage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9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Age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borrower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years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integer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67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NumberOfTime30-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080">
                        <a:lnSpc>
                          <a:spcPts val="1620"/>
                        </a:lnSpc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59DaysPastDueNotWorse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64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borrower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been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30-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59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days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past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due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715">
                        <a:lnSpc>
                          <a:spcPts val="165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worse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last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years.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integer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DebtRatio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Debt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income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85420">
                        <a:lnSpc>
                          <a:spcPts val="168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debt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payments,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alimony,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living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costs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divided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by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month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gross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income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percentage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MonthlyIncome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income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real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NumberOfOpenCreditLinesAndLoans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628015">
                        <a:lnSpc>
                          <a:spcPts val="168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loans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(instalment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loan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mortgage)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Lines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(e.g.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cards)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Integer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8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NumberOfTimes90DaysLate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marR="640715">
                        <a:lnSpc>
                          <a:spcPts val="1660"/>
                        </a:lnSpc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Three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late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42545">
                        <a:lnSpc>
                          <a:spcPts val="168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borrower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been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days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past due.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integer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100" spc="-50" dirty="0">
                          <a:latin typeface="Trebuchet MS"/>
                          <a:cs typeface="Trebuchet MS"/>
                        </a:rPr>
                        <a:t>9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NumberRealEstateLoansOrLines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House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8415">
                        <a:lnSpc>
                          <a:spcPts val="168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mortgage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real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estate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loans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including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home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equity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lines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credit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integer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67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NumberOfTime60-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080">
                        <a:lnSpc>
                          <a:spcPts val="1614"/>
                        </a:lnSpc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89DaysPastDueNotWorse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670"/>
                        </a:lnSpc>
                        <a:spcBef>
                          <a:spcPts val="15"/>
                        </a:spcBef>
                      </a:pPr>
                      <a:r>
                        <a:rPr sz="1400" spc="-60" dirty="0"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late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5080">
                        <a:lnSpc>
                          <a:spcPts val="1614"/>
                        </a:lnSpc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65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borrower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been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60-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89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days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past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due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5715">
                        <a:lnSpc>
                          <a:spcPts val="165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worse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last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years.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integer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100" spc="-25" dirty="0">
                          <a:latin typeface="Trebuchet MS"/>
                          <a:cs typeface="Trebuchet MS"/>
                        </a:rPr>
                        <a:t>11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305435">
                        <a:lnSpc>
                          <a:spcPts val="168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dependents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in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family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excluding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themselves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(spouse,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children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etc.)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integer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Steps</a:t>
            </a:r>
            <a:r>
              <a:rPr spc="-210" dirty="0"/>
              <a:t> </a:t>
            </a:r>
            <a:r>
              <a:rPr dirty="0"/>
              <a:t>in</a:t>
            </a:r>
            <a:r>
              <a:rPr spc="-225" dirty="0"/>
              <a:t> </a:t>
            </a:r>
            <a:r>
              <a:rPr spc="-20" dirty="0"/>
              <a:t>Data</a:t>
            </a:r>
            <a:r>
              <a:rPr spc="-225" dirty="0"/>
              <a:t> </a:t>
            </a:r>
            <a:r>
              <a:rPr spc="-55" dirty="0"/>
              <a:t>Exploration</a:t>
            </a:r>
            <a:r>
              <a:rPr spc="-204" dirty="0"/>
              <a:t> </a:t>
            </a:r>
            <a:r>
              <a:rPr dirty="0"/>
              <a:t>and</a:t>
            </a:r>
            <a:r>
              <a:rPr spc="-204" dirty="0"/>
              <a:t> </a:t>
            </a:r>
            <a:r>
              <a:rPr spc="-10" dirty="0"/>
              <a:t>Cleaning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6287770" cy="17818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Step-</a:t>
            </a:r>
            <a:r>
              <a:rPr sz="2400" dirty="0">
                <a:latin typeface="Trebuchet MS"/>
                <a:cs typeface="Trebuchet MS"/>
              </a:rPr>
              <a:t>1: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Basic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details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Step-</a:t>
            </a:r>
            <a:r>
              <a:rPr sz="2400" dirty="0">
                <a:latin typeface="Trebuchet MS"/>
                <a:cs typeface="Trebuchet MS"/>
              </a:rPr>
              <a:t>2: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Categorical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exploration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Step-</a:t>
            </a:r>
            <a:r>
              <a:rPr sz="2400" dirty="0">
                <a:latin typeface="Trebuchet MS"/>
                <a:cs typeface="Trebuchet MS"/>
              </a:rPr>
              <a:t>3: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Continuous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exploration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Step-</a:t>
            </a:r>
            <a:r>
              <a:rPr sz="2400" dirty="0">
                <a:latin typeface="Trebuchet MS"/>
                <a:cs typeface="Trebuchet MS"/>
              </a:rPr>
              <a:t>4: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Values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Treatment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657"/>
            <a:ext cx="853376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110" dirty="0"/>
              <a:t>Step-</a:t>
            </a:r>
            <a:r>
              <a:rPr sz="6000" dirty="0"/>
              <a:t>1:</a:t>
            </a:r>
            <a:r>
              <a:rPr sz="6000" spc="-235" dirty="0"/>
              <a:t> </a:t>
            </a:r>
            <a:r>
              <a:rPr sz="6000" spc="-20" dirty="0"/>
              <a:t>Basic</a:t>
            </a:r>
            <a:r>
              <a:rPr sz="6000" spc="-260" dirty="0"/>
              <a:t> </a:t>
            </a:r>
            <a:r>
              <a:rPr sz="6000" spc="-40" dirty="0"/>
              <a:t>details</a:t>
            </a:r>
            <a:r>
              <a:rPr sz="6000" spc="-235" dirty="0"/>
              <a:t> </a:t>
            </a:r>
            <a:r>
              <a:rPr sz="6000" dirty="0"/>
              <a:t>of</a:t>
            </a:r>
            <a:r>
              <a:rPr sz="6000" spc="-275" dirty="0"/>
              <a:t> </a:t>
            </a:r>
            <a:r>
              <a:rPr sz="6000" spc="-25" dirty="0"/>
              <a:t>the </a:t>
            </a:r>
            <a:r>
              <a:rPr sz="6000" spc="-20" dirty="0"/>
              <a:t>data</a:t>
            </a:r>
            <a:endParaRPr sz="6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Check</a:t>
            </a:r>
            <a:r>
              <a:rPr spc="-250" dirty="0"/>
              <a:t> </a:t>
            </a:r>
            <a:r>
              <a:rPr dirty="0"/>
              <a:t>the</a:t>
            </a:r>
            <a:r>
              <a:rPr spc="-265" dirty="0"/>
              <a:t> </a:t>
            </a:r>
            <a:r>
              <a:rPr spc="-40" dirty="0"/>
              <a:t>Metadata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43786"/>
            <a:ext cx="9787890" cy="3275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72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600" dirty="0">
                <a:latin typeface="Trebuchet MS"/>
                <a:cs typeface="Trebuchet MS"/>
              </a:rPr>
              <a:t>Metadata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about</a:t>
            </a:r>
            <a:r>
              <a:rPr sz="2600" spc="-20" dirty="0">
                <a:latin typeface="Trebuchet MS"/>
                <a:cs typeface="Trebuchet MS"/>
              </a:rPr>
              <a:t> data</a:t>
            </a:r>
            <a:endParaRPr sz="26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2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600" dirty="0">
                <a:latin typeface="Trebuchet MS"/>
                <a:cs typeface="Trebuchet MS"/>
              </a:rPr>
              <a:t>What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are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total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number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of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observations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10" dirty="0">
                <a:latin typeface="Trebuchet MS"/>
                <a:cs typeface="Trebuchet MS"/>
              </a:rPr>
              <a:t> variables</a:t>
            </a:r>
            <a:endParaRPr sz="26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2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600" dirty="0">
                <a:latin typeface="Trebuchet MS"/>
                <a:cs typeface="Trebuchet MS"/>
              </a:rPr>
              <a:t>Check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field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name,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field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type,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Length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of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field</a:t>
            </a:r>
            <a:endParaRPr sz="26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2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  <a:tab pos="7405370" algn="l"/>
              </a:tabLst>
            </a:pPr>
            <a:r>
              <a:rPr sz="2600" dirty="0">
                <a:latin typeface="Trebuchet MS"/>
                <a:cs typeface="Trebuchet MS"/>
              </a:rPr>
              <a:t>Are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there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some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variables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which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are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unexpected</a:t>
            </a:r>
            <a:r>
              <a:rPr sz="2600" dirty="0">
                <a:latin typeface="Trebuchet MS"/>
                <a:cs typeface="Trebuchet MS"/>
              </a:rPr>
              <a:t>	say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q9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r10?</a:t>
            </a:r>
            <a:endParaRPr sz="26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2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600" dirty="0">
                <a:latin typeface="Trebuchet MS"/>
                <a:cs typeface="Trebuchet MS"/>
              </a:rPr>
              <a:t>Are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types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length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across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variables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correct</a:t>
            </a:r>
            <a:endParaRPr sz="26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62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600" dirty="0">
                <a:latin typeface="Trebuchet MS"/>
                <a:cs typeface="Trebuchet MS"/>
              </a:rPr>
              <a:t>For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known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variables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type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as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expected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(For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example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if </a:t>
            </a:r>
            <a:r>
              <a:rPr sz="2600" dirty="0">
                <a:latin typeface="Trebuchet MS"/>
                <a:cs typeface="Trebuchet MS"/>
              </a:rPr>
              <a:t>age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in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format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something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suspicious)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Print</a:t>
            </a:r>
            <a:r>
              <a:rPr spc="-235" dirty="0"/>
              <a:t> </a:t>
            </a:r>
            <a:r>
              <a:rPr spc="-25" dirty="0"/>
              <a:t>first</a:t>
            </a:r>
            <a:r>
              <a:rPr spc="-245" dirty="0"/>
              <a:t> </a:t>
            </a:r>
            <a:r>
              <a:rPr spc="-40" dirty="0"/>
              <a:t>few</a:t>
            </a:r>
            <a:r>
              <a:rPr spc="-235" dirty="0"/>
              <a:t> </a:t>
            </a:r>
            <a:r>
              <a:rPr spc="-30" dirty="0"/>
              <a:t>records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329"/>
            <a:ext cx="9744710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560705" indent="-129539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  <a:tab pos="4971415" algn="l"/>
              </a:tabLst>
            </a:pP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unique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identifier?</a:t>
            </a:r>
            <a:r>
              <a:rPr sz="2400" dirty="0">
                <a:latin typeface="Trebuchet MS"/>
                <a:cs typeface="Trebuchet MS"/>
              </a:rPr>
              <a:t>	Is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unique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identifier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getting </a:t>
            </a:r>
            <a:r>
              <a:rPr sz="2400" dirty="0">
                <a:latin typeface="Trebuchet MS"/>
                <a:cs typeface="Trebuchet MS"/>
              </a:rPr>
              <a:t>repeated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different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records?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text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meaningful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data?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coded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all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appear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data?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Lab:</a:t>
            </a:r>
            <a:r>
              <a:rPr spc="-24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Basic</a:t>
            </a:r>
            <a:r>
              <a:rPr spc="-215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contents</a:t>
            </a:r>
            <a:r>
              <a:rPr spc="-20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2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04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360" y="1539215"/>
            <a:ext cx="6868795" cy="398970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Import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“Give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some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Credit\cs-training.csv”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What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number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rows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columns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there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any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suspicious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variables?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variable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names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correct?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Display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variable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formats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Print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first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10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observations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have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any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unique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identifier?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text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numeric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variables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have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meaningful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data?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some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coded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data?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4E67C7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variables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appear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have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Code:</a:t>
            </a:r>
            <a:r>
              <a:rPr spc="-229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Basic</a:t>
            </a:r>
            <a:r>
              <a:rPr spc="-215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contents</a:t>
            </a:r>
            <a:r>
              <a:rPr spc="-20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04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909"/>
            <a:ext cx="9878060" cy="47536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import</a:t>
            </a:r>
            <a:r>
              <a:rPr sz="22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pandas</a:t>
            </a:r>
            <a:r>
              <a:rPr sz="2200" spc="-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as</a:t>
            </a:r>
            <a:r>
              <a:rPr sz="2200" spc="-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25" dirty="0">
                <a:solidFill>
                  <a:srgbClr val="006FC0"/>
                </a:solidFill>
                <a:latin typeface="Consolas"/>
                <a:cs typeface="Consolas"/>
              </a:rPr>
              <a:t>pd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ts val="2510"/>
              </a:lnSpc>
              <a:spcBef>
                <a:spcPts val="265"/>
              </a:spcBef>
            </a:pP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loans=pd.read_csv("D:\\Google</a:t>
            </a:r>
            <a:r>
              <a:rPr sz="2200" spc="-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Drive\\Training\\Datasets\\Give</a:t>
            </a:r>
            <a:r>
              <a:rPr sz="22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25" dirty="0">
                <a:solidFill>
                  <a:srgbClr val="006FC0"/>
                </a:solidFill>
                <a:latin typeface="Consolas"/>
                <a:cs typeface="Consolas"/>
              </a:rPr>
              <a:t>me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some</a:t>
            </a:r>
            <a:r>
              <a:rPr sz="2200" spc="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20" dirty="0">
                <a:solidFill>
                  <a:srgbClr val="006FC0"/>
                </a:solidFill>
                <a:latin typeface="Consolas"/>
                <a:cs typeface="Consolas"/>
              </a:rPr>
              <a:t>Credit\\cs-</a:t>
            </a: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training.csv")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loans</a:t>
            </a:r>
            <a:endParaRPr sz="2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#What</a:t>
            </a:r>
            <a:r>
              <a:rPr sz="22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are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number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of</a:t>
            </a:r>
            <a:r>
              <a:rPr sz="22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rows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and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columns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loans.shape</a:t>
            </a:r>
            <a:endParaRPr sz="2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#Are</a:t>
            </a:r>
            <a:r>
              <a:rPr sz="2200" spc="-6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there</a:t>
            </a:r>
            <a:r>
              <a:rPr sz="2200" spc="-6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any</a:t>
            </a:r>
            <a:r>
              <a:rPr sz="2200" spc="-6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suspicious</a:t>
            </a:r>
            <a:r>
              <a:rPr sz="2200" spc="-6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variables?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loans.columns.values</a:t>
            </a:r>
            <a:endParaRPr sz="2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200">
              <a:latin typeface="Consolas"/>
              <a:cs typeface="Consolas"/>
            </a:endParaRPr>
          </a:p>
          <a:p>
            <a:pPr marL="12700" marR="5394325">
              <a:lnSpc>
                <a:spcPct val="110000"/>
              </a:lnSpc>
              <a:spcBef>
                <a:spcPts val="5"/>
              </a:spcBef>
            </a:pP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#Display</a:t>
            </a:r>
            <a:r>
              <a:rPr sz="2200" spc="-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2200" spc="-7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variable</a:t>
            </a:r>
            <a:r>
              <a:rPr sz="2200" spc="-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formats loans.dtypes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Code:</a:t>
            </a:r>
            <a:r>
              <a:rPr spc="-229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Basic</a:t>
            </a:r>
            <a:r>
              <a:rPr spc="-215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contents</a:t>
            </a:r>
            <a:r>
              <a:rPr spc="-20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04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909"/>
            <a:ext cx="5259070" cy="18700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#Print</a:t>
            </a:r>
            <a:r>
              <a:rPr sz="22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22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first</a:t>
            </a:r>
            <a:r>
              <a:rPr sz="22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10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observations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loans.head(10)</a:t>
            </a:r>
            <a:endParaRPr sz="2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200">
              <a:latin typeface="Consolas"/>
              <a:cs typeface="Consolas"/>
            </a:endParaRPr>
          </a:p>
          <a:p>
            <a:pPr marL="12700" marR="5080">
              <a:lnSpc>
                <a:spcPct val="110000"/>
              </a:lnSpc>
            </a:pP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#Do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we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have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any</a:t>
            </a:r>
            <a:r>
              <a:rPr sz="22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06FC0"/>
                </a:solidFill>
                <a:latin typeface="Consolas"/>
                <a:cs typeface="Consolas"/>
              </a:rPr>
              <a:t>unique</a:t>
            </a:r>
            <a:r>
              <a:rPr sz="22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onsolas"/>
                <a:cs typeface="Consolas"/>
              </a:rPr>
              <a:t>identifier? loans.columns.values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657"/>
            <a:ext cx="800100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60" dirty="0"/>
              <a:t>Categorical,</a:t>
            </a:r>
            <a:r>
              <a:rPr sz="6000" spc="-275" dirty="0"/>
              <a:t> </a:t>
            </a:r>
            <a:r>
              <a:rPr sz="6000" spc="-65" dirty="0"/>
              <a:t>Discrete</a:t>
            </a:r>
            <a:r>
              <a:rPr sz="6000" spc="-275" dirty="0"/>
              <a:t> </a:t>
            </a:r>
            <a:r>
              <a:rPr sz="6000" spc="-25" dirty="0"/>
              <a:t>and </a:t>
            </a:r>
            <a:r>
              <a:rPr sz="6000" spc="-40" dirty="0"/>
              <a:t>Continuous</a:t>
            </a:r>
            <a:r>
              <a:rPr sz="6000" spc="-300" dirty="0"/>
              <a:t> </a:t>
            </a:r>
            <a:r>
              <a:rPr sz="6000" spc="-10" dirty="0"/>
              <a:t>Variables</a:t>
            </a:r>
            <a:endParaRPr sz="6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80847"/>
            <a:ext cx="36360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Data</a:t>
            </a:r>
            <a:r>
              <a:rPr spc="-245" dirty="0"/>
              <a:t> </a:t>
            </a:r>
            <a:r>
              <a:rPr spc="-40" dirty="0"/>
              <a:t>Dictionary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2722" y="1047305"/>
          <a:ext cx="10952479" cy="535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4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4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9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Short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A7EA52"/>
                          </a:solidFill>
                          <a:latin typeface="Calibri"/>
                          <a:cs typeface="Calibri"/>
                        </a:rPr>
                        <a:t>Categorical/Discrete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A7EA52"/>
                          </a:solidFill>
                          <a:latin typeface="Calibri"/>
                          <a:cs typeface="Calibri"/>
                        </a:rPr>
                        <a:t>/Continuous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SeriousDlqin2yrs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(loan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defaulter)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RevolvingUtilizationOfUnsecuredLines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Credit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Utilization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NumberOfTime30-59DaysPastDueNotWorse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DebtRatio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Debt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income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MonthlyIncome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NumberOfOpenCreditLinesAndLoans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8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NumberOfTimes90DaysLate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Three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9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NumberRealEstateLoansOrLines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House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10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NumberOfTime60-89DaysPastDueNotWorse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60" dirty="0"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11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657"/>
            <a:ext cx="943737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110" dirty="0"/>
              <a:t>Step-</a:t>
            </a:r>
            <a:r>
              <a:rPr sz="6000" dirty="0"/>
              <a:t>2:</a:t>
            </a:r>
            <a:r>
              <a:rPr sz="6000" spc="-210" dirty="0"/>
              <a:t> </a:t>
            </a:r>
            <a:r>
              <a:rPr sz="6000" spc="-60" dirty="0"/>
              <a:t>Categorical</a:t>
            </a:r>
            <a:r>
              <a:rPr sz="6000" spc="-204" dirty="0"/>
              <a:t> </a:t>
            </a:r>
            <a:r>
              <a:rPr sz="6000" spc="-25" dirty="0"/>
              <a:t>and </a:t>
            </a:r>
            <a:r>
              <a:rPr sz="6000" spc="-55" dirty="0"/>
              <a:t>Discrete</a:t>
            </a:r>
            <a:r>
              <a:rPr sz="6000" spc="-310" dirty="0"/>
              <a:t> </a:t>
            </a:r>
            <a:r>
              <a:rPr sz="6000" spc="-45" dirty="0"/>
              <a:t>variables</a:t>
            </a:r>
            <a:r>
              <a:rPr sz="6000" spc="-305" dirty="0"/>
              <a:t> </a:t>
            </a:r>
            <a:r>
              <a:rPr sz="6000" spc="-55" dirty="0"/>
              <a:t>exploration</a:t>
            </a:r>
            <a:endParaRPr sz="6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275" dirty="0"/>
              <a:t> </a:t>
            </a:r>
            <a:r>
              <a:rPr spc="-75" dirty="0"/>
              <a:t>Frequency</a:t>
            </a:r>
            <a:r>
              <a:rPr spc="-200" dirty="0"/>
              <a:t> </a:t>
            </a:r>
            <a:r>
              <a:rPr spc="-95" dirty="0"/>
              <a:t>Table</a:t>
            </a:r>
            <a:r>
              <a:rPr spc="-180" dirty="0"/>
              <a:t> </a:t>
            </a:r>
            <a:r>
              <a:rPr dirty="0"/>
              <a:t>and</a:t>
            </a:r>
            <a:r>
              <a:rPr spc="-25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329"/>
            <a:ext cx="980376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5080" indent="-129539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Calculate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frequency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counts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cross-</a:t>
            </a:r>
            <a:r>
              <a:rPr sz="2400" dirty="0">
                <a:latin typeface="Trebuchet MS"/>
                <a:cs typeface="Trebuchet MS"/>
              </a:rPr>
              <a:t>tabulation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frequencies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Especially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categorical,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discrete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&amp;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class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fields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Frequencies</a:t>
            </a:r>
            <a:endParaRPr sz="24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95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help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understanding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variable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by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looking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it’s </a:t>
            </a:r>
            <a:r>
              <a:rPr sz="2000" dirty="0">
                <a:latin typeface="Trebuchet MS"/>
                <a:cs typeface="Trebuchet MS"/>
              </a:rPr>
              <a:t>taking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marL="30988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count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value.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They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also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helps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analyzing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relationships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between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variables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by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looking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at</a:t>
            </a:r>
            <a:endParaRPr sz="2000">
              <a:latin typeface="Trebuchet MS"/>
              <a:cs typeface="Trebuchet MS"/>
            </a:endParaRPr>
          </a:p>
          <a:p>
            <a:pPr marL="30988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cross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tab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frequencies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 by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looking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association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215" dirty="0"/>
              <a:t> </a:t>
            </a:r>
            <a:r>
              <a:rPr spc="-75" dirty="0"/>
              <a:t>Frequency</a:t>
            </a:r>
            <a:r>
              <a:rPr spc="-160" dirty="0"/>
              <a:t> </a:t>
            </a:r>
            <a:r>
              <a:rPr spc="-100" dirty="0"/>
              <a:t>Table</a:t>
            </a:r>
            <a:r>
              <a:rPr spc="-17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30" dirty="0"/>
              <a:t>Visualization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40" y="1624329"/>
            <a:ext cx="498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Use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horizontal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Vertical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charts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8" y="2491636"/>
            <a:ext cx="686054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800" dirty="0">
                <a:solidFill>
                  <a:srgbClr val="AE00DB"/>
                </a:solidFill>
                <a:latin typeface="Consolas"/>
                <a:cs typeface="Consolas"/>
              </a:rPr>
              <a:t>import</a:t>
            </a:r>
            <a:r>
              <a:rPr sz="2800" spc="-95" dirty="0">
                <a:solidFill>
                  <a:srgbClr val="AE00DB"/>
                </a:solidFill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seaborn</a:t>
            </a:r>
            <a:r>
              <a:rPr sz="2800" spc="-85" dirty="0"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AE00DB"/>
                </a:solidFill>
                <a:latin typeface="Consolas"/>
                <a:cs typeface="Consolas"/>
              </a:rPr>
              <a:t>as</a:t>
            </a:r>
            <a:r>
              <a:rPr sz="2800" spc="-105" dirty="0">
                <a:solidFill>
                  <a:srgbClr val="AE00DB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latin typeface="Consolas"/>
                <a:cs typeface="Consolas"/>
              </a:rPr>
              <a:t>sns </a:t>
            </a:r>
            <a:r>
              <a:rPr sz="2800" spc="-10" dirty="0">
                <a:latin typeface="Consolas"/>
                <a:cs typeface="Consolas"/>
              </a:rPr>
              <a:t>sns.countplot(y=</a:t>
            </a:r>
            <a:r>
              <a:rPr sz="2800" spc="-10" dirty="0">
                <a:solidFill>
                  <a:srgbClr val="A21515"/>
                </a:solidFill>
                <a:latin typeface="Consolas"/>
                <a:cs typeface="Consolas"/>
              </a:rPr>
              <a:t>"SeriousDlqin2yrs"</a:t>
            </a:r>
            <a:r>
              <a:rPr sz="2800" spc="-10" dirty="0">
                <a:latin typeface="Consolas"/>
                <a:cs typeface="Consolas"/>
              </a:rPr>
              <a:t>,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8520" y="3088970"/>
            <a:ext cx="2173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onsolas"/>
                <a:cs typeface="Consolas"/>
              </a:rPr>
              <a:t>data=loans)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30638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Check</a:t>
            </a:r>
            <a:r>
              <a:rPr spc="-250" dirty="0"/>
              <a:t> </a:t>
            </a:r>
            <a:r>
              <a:rPr spc="-45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40" y="1550797"/>
            <a:ext cx="9416415" cy="25139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expected?</a:t>
            </a:r>
            <a:endParaRPr sz="2400">
              <a:latin typeface="Trebuchet MS"/>
              <a:cs typeface="Trebuchet MS"/>
            </a:endParaRPr>
          </a:p>
          <a:p>
            <a:pPr marL="469900" marR="147955" indent="-457834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AutoNum type="arabicPeriod"/>
              <a:tabLst>
                <a:tab pos="469900" algn="l"/>
              </a:tabLst>
            </a:pPr>
            <a:r>
              <a:rPr sz="2400" spc="-20" dirty="0">
                <a:latin typeface="Trebuchet MS"/>
                <a:cs typeface="Trebuchet MS"/>
              </a:rPr>
              <a:t>Variable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understanding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Distinct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particular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variable,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percentages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extreme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outliers?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AutoNum type="arabicPeriod"/>
              <a:tabLst>
                <a:tab pos="469900" algn="l"/>
              </a:tabLst>
            </a:pP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possibility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creating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new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having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small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number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of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distinct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category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clubbing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certain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categories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others.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Lab</a:t>
            </a:r>
            <a:r>
              <a:rPr spc="-20" dirty="0"/>
              <a:t>:</a:t>
            </a:r>
            <a:r>
              <a:rPr spc="-185" dirty="0"/>
              <a:t> </a:t>
            </a:r>
            <a:r>
              <a:rPr spc="-85" dirty="0"/>
              <a:t>Frequencies</a:t>
            </a:r>
            <a:r>
              <a:rPr spc="-150" dirty="0"/>
              <a:t> </a:t>
            </a:r>
            <a:r>
              <a:rPr dirty="0"/>
              <a:t>&amp;</a:t>
            </a:r>
            <a:r>
              <a:rPr spc="-185" dirty="0"/>
              <a:t> </a:t>
            </a:r>
            <a:r>
              <a:rPr dirty="0"/>
              <a:t>Bar</a:t>
            </a:r>
            <a:r>
              <a:rPr spc="-170" dirty="0"/>
              <a:t> </a:t>
            </a:r>
            <a:r>
              <a:rPr spc="-10" dirty="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329"/>
            <a:ext cx="866076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5080" indent="-129539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categorical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discrete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variables?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</a:t>
            </a:r>
            <a:r>
              <a:rPr sz="2400" dirty="0">
                <a:latin typeface="Trebuchet MS"/>
                <a:cs typeface="Trebuchet MS"/>
              </a:rPr>
              <a:t>continues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variables.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frequencies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all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class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default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you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identify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outliers?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other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issues?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</a:t>
            </a:r>
            <a:r>
              <a:rPr spc="-35" dirty="0"/>
              <a:t>:</a:t>
            </a:r>
            <a:r>
              <a:rPr spc="-229" dirty="0"/>
              <a:t> </a:t>
            </a:r>
            <a:r>
              <a:rPr spc="-65" dirty="0"/>
              <a:t>Frequencies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8259"/>
            <a:ext cx="9524365" cy="404939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spc="-10" dirty="0">
                <a:latin typeface="Consolas"/>
                <a:cs typeface="Consolas"/>
              </a:rPr>
              <a:t>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'SeriousDlqin2yrs'</a:t>
            </a:r>
            <a:r>
              <a:rPr sz="2000" spc="-10" dirty="0">
                <a:latin typeface="Consolas"/>
                <a:cs typeface="Consolas"/>
              </a:rPr>
              <a:t>].value_counts())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5180965" algn="l"/>
              </a:tabLst>
            </a:pPr>
            <a:r>
              <a:rPr sz="2000" spc="-10" dirty="0">
                <a:latin typeface="Consolas"/>
                <a:cs typeface="Consolas"/>
              </a:rPr>
              <a:t>sns.countplot(y=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"SeriousDlqin2yrs"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dirty="0">
                <a:latin typeface="Consolas"/>
                <a:cs typeface="Consolas"/>
              </a:rPr>
              <a:t>	</a:t>
            </a:r>
            <a:r>
              <a:rPr sz="2000" spc="-10" dirty="0">
                <a:latin typeface="Consolas"/>
                <a:cs typeface="Consolas"/>
              </a:rPr>
              <a:t>data=loans)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Consolas"/>
              <a:cs typeface="Consolas"/>
            </a:endParaRPr>
          </a:p>
          <a:p>
            <a:pPr marL="12700" marR="4613910">
              <a:lnSpc>
                <a:spcPct val="120000"/>
              </a:lnSpc>
              <a:tabLst>
                <a:tab pos="3365500" algn="l"/>
              </a:tabLst>
            </a:pP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spc="-10" dirty="0">
                <a:latin typeface="Consolas"/>
                <a:cs typeface="Consolas"/>
              </a:rPr>
              <a:t>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'age'</a:t>
            </a:r>
            <a:r>
              <a:rPr sz="2000" spc="-10" dirty="0">
                <a:latin typeface="Consolas"/>
                <a:cs typeface="Consolas"/>
              </a:rPr>
              <a:t>].value_counts()) sns.countplot(y=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"age"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dirty="0">
                <a:latin typeface="Consolas"/>
                <a:cs typeface="Consolas"/>
              </a:rPr>
              <a:t>	</a:t>
            </a:r>
            <a:r>
              <a:rPr sz="2000" spc="-10" dirty="0">
                <a:latin typeface="Consolas"/>
                <a:cs typeface="Consolas"/>
              </a:rPr>
              <a:t>data=loans)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120000"/>
              </a:lnSpc>
              <a:tabLst>
                <a:tab pos="7974965" algn="l"/>
              </a:tabLst>
            </a:pP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spc="-10" dirty="0">
                <a:latin typeface="Consolas"/>
                <a:cs typeface="Consolas"/>
              </a:rPr>
              <a:t>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'NumberOfTime30-59DaysPastDueNotWorse'</a:t>
            </a:r>
            <a:r>
              <a:rPr sz="2000" spc="-10" dirty="0">
                <a:latin typeface="Consolas"/>
                <a:cs typeface="Consolas"/>
              </a:rPr>
              <a:t>].value_counts()) sns.countplot(y=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"NumberOfTime30-59DaysPastDueNotWorse"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dirty="0">
                <a:latin typeface="Consolas"/>
                <a:cs typeface="Consolas"/>
              </a:rPr>
              <a:t>	</a:t>
            </a:r>
            <a:r>
              <a:rPr sz="2000" spc="-10" dirty="0">
                <a:latin typeface="Consolas"/>
                <a:cs typeface="Consolas"/>
              </a:rPr>
              <a:t>data=loans)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spc="-10" dirty="0">
                <a:latin typeface="Consolas"/>
                <a:cs typeface="Consolas"/>
              </a:rPr>
              <a:t>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'NumberOfOpenCreditLinesAndLoans'</a:t>
            </a:r>
            <a:r>
              <a:rPr sz="2000" spc="-10" dirty="0">
                <a:latin typeface="Consolas"/>
                <a:cs typeface="Consolas"/>
              </a:rPr>
              <a:t>].value_counts())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7276465" algn="l"/>
              </a:tabLst>
            </a:pPr>
            <a:r>
              <a:rPr sz="2000" spc="-10" dirty="0">
                <a:latin typeface="Consolas"/>
                <a:cs typeface="Consolas"/>
              </a:rPr>
              <a:t>sns.countplot(y=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"NumberOfOpenCreditLinesAndLoans"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dirty="0">
                <a:latin typeface="Consolas"/>
                <a:cs typeface="Consolas"/>
              </a:rPr>
              <a:t>	</a:t>
            </a:r>
            <a:r>
              <a:rPr sz="2000" spc="-10" dirty="0">
                <a:latin typeface="Consolas"/>
                <a:cs typeface="Consolas"/>
              </a:rPr>
              <a:t>data=loans)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80847"/>
            <a:ext cx="36360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Data</a:t>
            </a:r>
            <a:r>
              <a:rPr spc="-245" dirty="0"/>
              <a:t> </a:t>
            </a:r>
            <a:r>
              <a:rPr spc="-40" dirty="0"/>
              <a:t>Dictionary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2722" y="1047305"/>
          <a:ext cx="10952479" cy="535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4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4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9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8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Short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10" dirty="0">
                          <a:solidFill>
                            <a:srgbClr val="A7EA52"/>
                          </a:solidFill>
                          <a:latin typeface="Calibri"/>
                          <a:cs typeface="Calibri"/>
                        </a:rPr>
                        <a:t>Issues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SeriousDlqin2yrs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(loan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defaulter)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RevolvingUtilizationOfUnsecuredLines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Credit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Utilization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589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55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NumberOfTime30-59DaysPastDueNotWorse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DebtRatio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Debt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income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ratio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68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MonthlyIncome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NumberOfOpenCreditLinesAndLoans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8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NumberOfTimes90DaysLate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Three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9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NumberRealEstateLoansOrLines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House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10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NumberOfTime60-89DaysPastDueNotWorse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60" dirty="0"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months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late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frequency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11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747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NumberOfDependents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Dependents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657"/>
            <a:ext cx="910971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110" dirty="0"/>
              <a:t>Step-</a:t>
            </a:r>
            <a:r>
              <a:rPr sz="6000" dirty="0"/>
              <a:t>3:</a:t>
            </a:r>
            <a:r>
              <a:rPr sz="6000" spc="-210" dirty="0"/>
              <a:t> </a:t>
            </a:r>
            <a:r>
              <a:rPr sz="6000" spc="-60" dirty="0"/>
              <a:t>Continuous</a:t>
            </a:r>
            <a:r>
              <a:rPr sz="6000" spc="-225" dirty="0"/>
              <a:t> </a:t>
            </a:r>
            <a:r>
              <a:rPr sz="6000" spc="-25" dirty="0"/>
              <a:t>variables </a:t>
            </a:r>
            <a:r>
              <a:rPr sz="6000" spc="-10" dirty="0"/>
              <a:t>exploration</a:t>
            </a:r>
            <a:endParaRPr sz="6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Summary</a:t>
            </a:r>
            <a:r>
              <a:rPr spc="-195" dirty="0"/>
              <a:t> </a:t>
            </a:r>
            <a:r>
              <a:rPr dirty="0"/>
              <a:t>of</a:t>
            </a:r>
            <a:r>
              <a:rPr spc="-200" dirty="0"/>
              <a:t> </a:t>
            </a:r>
            <a:r>
              <a:rPr spc="-55" dirty="0"/>
              <a:t>Continuous</a:t>
            </a:r>
            <a:r>
              <a:rPr spc="-204" dirty="0"/>
              <a:t> </a:t>
            </a:r>
            <a:r>
              <a:rPr spc="-3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6952615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Study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percentile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distrinution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Percentiles–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P1,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p5,p10,q1(p25),q3(p75),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p90,p99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Box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plots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identification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outliers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Visualization</a:t>
            </a:r>
            <a:r>
              <a:rPr spc="-170" dirty="0"/>
              <a:t> </a:t>
            </a:r>
            <a:r>
              <a:rPr dirty="0"/>
              <a:t>of</a:t>
            </a:r>
            <a:r>
              <a:rPr spc="-185" dirty="0"/>
              <a:t> </a:t>
            </a:r>
            <a:r>
              <a:rPr spc="-55" dirty="0"/>
              <a:t>Continuous</a:t>
            </a:r>
            <a:r>
              <a:rPr spc="-185" dirty="0"/>
              <a:t> </a:t>
            </a:r>
            <a:r>
              <a:rPr spc="-3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329"/>
            <a:ext cx="6237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Use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box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plots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Histograms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visualization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8079" y="1889187"/>
            <a:ext cx="2676777" cy="35985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30638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Check</a:t>
            </a:r>
            <a:r>
              <a:rPr spc="-250" dirty="0"/>
              <a:t> </a:t>
            </a:r>
            <a:r>
              <a:rPr spc="-45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719945" cy="45624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distribution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expected.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central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tendency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variable?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Mean,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Median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Mode </a:t>
            </a:r>
            <a:r>
              <a:rPr sz="2400" dirty="0">
                <a:latin typeface="Trebuchet MS"/>
                <a:cs typeface="Trebuchet MS"/>
              </a:rPr>
              <a:t>across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concentration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expected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?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quartiles?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Indicates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which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unary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I.e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stddev=0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;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which</a:t>
            </a:r>
            <a:endParaRPr sz="2400">
              <a:latin typeface="Trebuchet MS"/>
              <a:cs typeface="Trebuchet MS"/>
            </a:endParaRPr>
          </a:p>
          <a:p>
            <a:pPr marL="141605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useless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current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objective.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/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extreme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variable?</a:t>
            </a:r>
            <a:endParaRPr sz="2400">
              <a:latin typeface="Trebuchet MS"/>
              <a:cs typeface="Trebuchet MS"/>
            </a:endParaRPr>
          </a:p>
          <a:p>
            <a:pPr marL="141605" marR="17399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expected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abnormally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high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-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Age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max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p99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10000.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should </a:t>
            </a:r>
            <a:r>
              <a:rPr sz="2400" dirty="0">
                <a:latin typeface="Trebuchet MS"/>
                <a:cs typeface="Trebuchet MS"/>
              </a:rPr>
              <a:t>investigate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it’s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default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error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%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associated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variable?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LAB</a:t>
            </a:r>
            <a:r>
              <a:rPr spc="-20" dirty="0"/>
              <a:t>:</a:t>
            </a:r>
            <a:r>
              <a:rPr spc="-200" dirty="0"/>
              <a:t> </a:t>
            </a:r>
            <a:r>
              <a:rPr spc="-55" dirty="0"/>
              <a:t>Continuous</a:t>
            </a:r>
            <a:r>
              <a:rPr spc="-204" dirty="0"/>
              <a:t> </a:t>
            </a:r>
            <a:r>
              <a:rPr spc="-60" dirty="0"/>
              <a:t>variables</a:t>
            </a:r>
            <a:r>
              <a:rPr spc="-21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List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down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continuous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variables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summary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statistics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variable.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Min,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Max,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Median,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Mean,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sd, Var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Quartiles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Create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Box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plots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identify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outliers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percentage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</a:t>
            </a:r>
            <a:endParaRPr sz="2400">
              <a:latin typeface="Trebuchet MS"/>
              <a:cs typeface="Trebuchet MS"/>
            </a:endParaRPr>
          </a:p>
          <a:p>
            <a:pPr marL="141605" marR="16941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Percentiles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percentage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outliers,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P1, </a:t>
            </a:r>
            <a:r>
              <a:rPr sz="2400" spc="-10" dirty="0">
                <a:latin typeface="Trebuchet MS"/>
                <a:cs typeface="Trebuchet MS"/>
              </a:rPr>
              <a:t>p5,p10,q1(p25),q3(p75),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p90,p99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</a:t>
            </a:r>
            <a:r>
              <a:rPr spc="-35" dirty="0"/>
              <a:t>:</a:t>
            </a:r>
            <a:r>
              <a:rPr spc="-190" dirty="0"/>
              <a:t> </a:t>
            </a:r>
            <a:r>
              <a:rPr spc="-55" dirty="0"/>
              <a:t>Continuous</a:t>
            </a:r>
            <a:r>
              <a:rPr spc="-215" dirty="0"/>
              <a:t> </a:t>
            </a:r>
            <a:r>
              <a:rPr spc="-60" dirty="0"/>
              <a:t>variables</a:t>
            </a:r>
            <a:r>
              <a:rPr spc="-21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513" y="1742948"/>
            <a:ext cx="9927590" cy="297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onsolas"/>
                <a:cs typeface="Consolas"/>
              </a:rPr>
              <a:t>RevolvingUtilizationOfUnsecuredLines</a:t>
            </a:r>
            <a:endParaRPr sz="2800">
              <a:latin typeface="Consolas"/>
              <a:cs typeface="Consolas"/>
            </a:endParaRPr>
          </a:p>
          <a:p>
            <a:pPr marL="135255" marR="4057650">
              <a:lnSpc>
                <a:spcPct val="120000"/>
              </a:lnSpc>
              <a:spcBef>
                <a:spcPts val="3025"/>
              </a:spcBef>
            </a:pPr>
            <a:r>
              <a:rPr sz="2000" spc="-10" dirty="0">
                <a:latin typeface="Consolas"/>
                <a:cs typeface="Consolas"/>
              </a:rPr>
              <a:t>plt.boxplot(loans[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"monthly_utilization"</a:t>
            </a:r>
            <a:r>
              <a:rPr sz="2000" spc="-10" dirty="0">
                <a:latin typeface="Consolas"/>
                <a:cs typeface="Consolas"/>
              </a:rPr>
              <a:t>]) plt.hist(loans[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"monthly_utilization"</a:t>
            </a:r>
            <a:r>
              <a:rPr sz="2000" spc="-10" dirty="0">
                <a:latin typeface="Consolas"/>
                <a:cs typeface="Consolas"/>
              </a:rPr>
              <a:t>])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Consolas"/>
              <a:cs typeface="Consolas"/>
            </a:endParaRPr>
          </a:p>
          <a:p>
            <a:pPr marL="13525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nsolas"/>
                <a:cs typeface="Consolas"/>
              </a:rPr>
              <a:t>util_percentiles=loans[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'monthly_utilization'</a:t>
            </a:r>
            <a:r>
              <a:rPr sz="2000" dirty="0">
                <a:latin typeface="Consolas"/>
                <a:cs typeface="Consolas"/>
              </a:rPr>
              <a:t>].quantile([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0.05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12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0.1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105" dirty="0"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09875A"/>
                </a:solidFill>
                <a:latin typeface="Consolas"/>
                <a:cs typeface="Consolas"/>
              </a:rPr>
              <a:t>0.2</a:t>
            </a:r>
            <a:endParaRPr sz="2000">
              <a:latin typeface="Consolas"/>
              <a:cs typeface="Consolas"/>
            </a:endParaRPr>
          </a:p>
          <a:p>
            <a:pPr marL="135255">
              <a:lnSpc>
                <a:spcPct val="100000"/>
              </a:lnSpc>
            </a:pP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2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0.75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1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0.80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5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0.91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0.95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0.96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0.97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0.975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0.98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0.99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1</a:t>
            </a:r>
            <a:r>
              <a:rPr sz="2000" spc="-10" dirty="0">
                <a:latin typeface="Consolas"/>
                <a:cs typeface="Consolas"/>
              </a:rPr>
              <a:t>])</a:t>
            </a:r>
            <a:endParaRPr sz="2000">
              <a:latin typeface="Consolas"/>
              <a:cs typeface="Consolas"/>
            </a:endParaRPr>
          </a:p>
          <a:p>
            <a:pPr marL="13525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round</a:t>
            </a:r>
            <a:r>
              <a:rPr sz="2000" spc="-10" dirty="0">
                <a:latin typeface="Consolas"/>
                <a:cs typeface="Consolas"/>
              </a:rPr>
              <a:t>(util_percentiles,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2</a:t>
            </a:r>
            <a:r>
              <a:rPr sz="2000" spc="-10" dirty="0"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</a:t>
            </a:r>
            <a:r>
              <a:rPr spc="-35" dirty="0"/>
              <a:t>:</a:t>
            </a:r>
            <a:r>
              <a:rPr spc="-190" dirty="0"/>
              <a:t> </a:t>
            </a:r>
            <a:r>
              <a:rPr spc="-55" dirty="0"/>
              <a:t>Continuous</a:t>
            </a:r>
            <a:r>
              <a:rPr spc="-215" dirty="0"/>
              <a:t> </a:t>
            </a:r>
            <a:r>
              <a:rPr spc="-60" dirty="0"/>
              <a:t>variables</a:t>
            </a:r>
            <a:r>
              <a:rPr spc="-21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836" y="1427810"/>
            <a:ext cx="10502900" cy="3692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onsolas"/>
                <a:cs typeface="Consolas"/>
              </a:rPr>
              <a:t>MonthlyIncome</a:t>
            </a:r>
            <a:endParaRPr sz="2800">
              <a:latin typeface="Consolas"/>
              <a:cs typeface="Consolas"/>
            </a:endParaRPr>
          </a:p>
          <a:p>
            <a:pPr marL="12700" marR="5080">
              <a:lnSpc>
                <a:spcPct val="110100"/>
              </a:lnSpc>
              <a:spcBef>
                <a:spcPts val="3190"/>
              </a:spcBef>
            </a:pPr>
            <a:r>
              <a:rPr sz="2000" spc="-10" dirty="0">
                <a:latin typeface="Consolas"/>
                <a:cs typeface="Consolas"/>
              </a:rPr>
              <a:t>plt.boxplot(loans[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"MonthlyIncome"</a:t>
            </a:r>
            <a:r>
              <a:rPr sz="2000" spc="-10" dirty="0">
                <a:latin typeface="Consolas"/>
                <a:cs typeface="Consolas"/>
              </a:rPr>
              <a:t>][loans[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"MonthlyIncome"</a:t>
            </a:r>
            <a:r>
              <a:rPr sz="2000" spc="-10" dirty="0">
                <a:latin typeface="Consolas"/>
                <a:cs typeface="Consolas"/>
              </a:rPr>
              <a:t>].isnull()==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sz="2000" spc="-10" dirty="0">
                <a:latin typeface="Consolas"/>
                <a:cs typeface="Consolas"/>
              </a:rPr>
              <a:t>]) plt.hist(loans[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"MonthlyIncome"</a:t>
            </a:r>
            <a:r>
              <a:rPr sz="2000" spc="-10" dirty="0">
                <a:latin typeface="Consolas"/>
                <a:cs typeface="Consolas"/>
              </a:rPr>
              <a:t>])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000">
              <a:latin typeface="Consolas"/>
              <a:cs typeface="Consolas"/>
            </a:endParaRPr>
          </a:p>
          <a:p>
            <a:pPr marL="12700" marR="4335145">
              <a:lnSpc>
                <a:spcPct val="120000"/>
              </a:lnSpc>
              <a:spcBef>
                <a:spcPts val="5"/>
              </a:spcBef>
            </a:pP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#Find</a:t>
            </a:r>
            <a:r>
              <a:rPr sz="20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sz="20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percentage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sz="20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missing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8000"/>
                </a:solidFill>
                <a:latin typeface="Consolas"/>
                <a:cs typeface="Consolas"/>
              </a:rPr>
              <a:t>values </a:t>
            </a:r>
            <a:r>
              <a:rPr sz="200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dirty="0">
                <a:latin typeface="Consolas"/>
                <a:cs typeface="Consolas"/>
              </a:rPr>
              <a:t>(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"Count</a:t>
            </a:r>
            <a:r>
              <a:rPr sz="200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of</a:t>
            </a:r>
            <a:r>
              <a:rPr sz="2000" spc="-3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missing</a:t>
            </a:r>
            <a:r>
              <a:rPr sz="2000" spc="-1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values"</a:t>
            </a:r>
            <a:r>
              <a:rPr sz="2000" spc="-10" dirty="0">
                <a:latin typeface="Consolas"/>
                <a:cs typeface="Consolas"/>
              </a:rPr>
              <a:t>) </a:t>
            </a: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spc="-10" dirty="0">
                <a:latin typeface="Consolas"/>
                <a:cs typeface="Consolas"/>
              </a:rPr>
              <a:t>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'MonthlyIncome'</a:t>
            </a:r>
            <a:r>
              <a:rPr sz="2000" spc="-10" dirty="0">
                <a:latin typeface="Consolas"/>
                <a:cs typeface="Consolas"/>
              </a:rPr>
              <a:t>].isnull().</a:t>
            </a: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sum</a:t>
            </a:r>
            <a:r>
              <a:rPr sz="2000" spc="-10" dirty="0">
                <a:latin typeface="Consolas"/>
                <a:cs typeface="Consolas"/>
              </a:rPr>
              <a:t>()) </a:t>
            </a:r>
            <a:r>
              <a:rPr sz="200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dirty="0">
                <a:latin typeface="Consolas"/>
                <a:cs typeface="Consolas"/>
              </a:rPr>
              <a:t>(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"%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of</a:t>
            </a:r>
            <a:r>
              <a:rPr sz="20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missing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 values"</a:t>
            </a:r>
            <a:r>
              <a:rPr sz="2000" spc="-10" dirty="0"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000" spc="-10" dirty="0">
                <a:latin typeface="Consolas"/>
                <a:cs typeface="Consolas"/>
              </a:rPr>
              <a:t>(</a:t>
            </a: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round</a:t>
            </a:r>
            <a:r>
              <a:rPr sz="2000" spc="-10" dirty="0">
                <a:latin typeface="Consolas"/>
                <a:cs typeface="Consolas"/>
              </a:rPr>
              <a:t>(loans[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'MonthlyIncome'</a:t>
            </a:r>
            <a:r>
              <a:rPr sz="2000" spc="-10" dirty="0">
                <a:latin typeface="Consolas"/>
                <a:cs typeface="Consolas"/>
              </a:rPr>
              <a:t>].isnull().</a:t>
            </a: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sum</a:t>
            </a:r>
            <a:r>
              <a:rPr sz="2000" spc="-10" dirty="0">
                <a:latin typeface="Consolas"/>
                <a:cs typeface="Consolas"/>
              </a:rPr>
              <a:t>()/</a:t>
            </a: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len</a:t>
            </a:r>
            <a:r>
              <a:rPr sz="2000" spc="-10" dirty="0">
                <a:latin typeface="Consolas"/>
                <a:cs typeface="Consolas"/>
              </a:rPr>
              <a:t>(loans),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2</a:t>
            </a:r>
            <a:r>
              <a:rPr sz="2000" spc="-10" dirty="0">
                <a:latin typeface="Consolas"/>
                <a:cs typeface="Consolas"/>
              </a:rPr>
              <a:t>))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45415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Data</a:t>
            </a:r>
            <a:r>
              <a:rPr sz="6000" spc="-315" dirty="0"/>
              <a:t> </a:t>
            </a:r>
            <a:r>
              <a:rPr sz="6000" spc="-45" dirty="0"/>
              <a:t>Cleaning</a:t>
            </a:r>
            <a:endParaRPr sz="6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Data</a:t>
            </a:r>
            <a:r>
              <a:rPr spc="-245" dirty="0"/>
              <a:t> </a:t>
            </a:r>
            <a:r>
              <a:rPr spc="-45" dirty="0"/>
              <a:t>Cleaning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7478395" cy="44164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contain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outliers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default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Shall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delete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them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ahead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analysis?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Shall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u="sng" dirty="0">
                <a:solidFill>
                  <a:srgbClr val="22735D"/>
                </a:solidFill>
                <a:uFill>
                  <a:solidFill>
                    <a:srgbClr val="22735D"/>
                  </a:solidFill>
                </a:uFill>
                <a:latin typeface="Trebuchet MS"/>
                <a:cs typeface="Trebuchet MS"/>
              </a:rPr>
              <a:t>keep</a:t>
            </a:r>
            <a:r>
              <a:rPr sz="2400" spc="-25" dirty="0">
                <a:solidFill>
                  <a:srgbClr val="22735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them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ahead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our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analysis?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E67C7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14"/>
              </a:spcBef>
              <a:buClr>
                <a:srgbClr val="4E67C7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RevolvingUtilizationOfUnsecuredL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NumberOfTime30_59DaysPastDueNotW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Monthly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income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Keeping</a:t>
            </a:r>
            <a:r>
              <a:rPr spc="-195" dirty="0"/>
              <a:t> </a:t>
            </a:r>
            <a:r>
              <a:rPr spc="-10" dirty="0"/>
              <a:t>the</a:t>
            </a:r>
            <a:r>
              <a:rPr spc="-220" dirty="0"/>
              <a:t> </a:t>
            </a:r>
            <a:r>
              <a:rPr spc="-25" dirty="0"/>
              <a:t>outliers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329"/>
            <a:ext cx="912114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5080" indent="-129539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  <a:tab pos="5955030" algn="l"/>
              </a:tabLst>
            </a:pPr>
            <a:r>
              <a:rPr sz="2400" dirty="0">
                <a:latin typeface="Trebuchet MS"/>
                <a:cs typeface="Trebuchet MS"/>
              </a:rPr>
              <a:t>Keeping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-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good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option?</a:t>
            </a:r>
            <a:r>
              <a:rPr sz="2400" dirty="0">
                <a:latin typeface="Trebuchet MS"/>
                <a:cs typeface="Trebuchet MS"/>
              </a:rPr>
              <a:t>	–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Definitely,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good </a:t>
            </a:r>
            <a:r>
              <a:rPr sz="2400" spc="-10" dirty="0">
                <a:latin typeface="Trebuchet MS"/>
                <a:cs typeface="Trebuchet MS"/>
              </a:rPr>
              <a:t>option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Outliers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turn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results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upside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down.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Deleting</a:t>
            </a:r>
            <a:r>
              <a:rPr spc="-190" dirty="0"/>
              <a:t> </a:t>
            </a:r>
            <a:r>
              <a:rPr spc="-10" dirty="0"/>
              <a:t>the</a:t>
            </a:r>
            <a:r>
              <a:rPr spc="-200" dirty="0"/>
              <a:t> </a:t>
            </a:r>
            <a:r>
              <a:rPr spc="-40" dirty="0"/>
              <a:t>outliers</a:t>
            </a:r>
            <a:r>
              <a:rPr spc="-200" dirty="0"/>
              <a:t> </a:t>
            </a:r>
            <a:r>
              <a:rPr dirty="0"/>
              <a:t>–</a:t>
            </a:r>
            <a:r>
              <a:rPr spc="-215" dirty="0"/>
              <a:t> </a:t>
            </a:r>
            <a:r>
              <a:rPr spc="-10" dirty="0"/>
              <a:t>Not</a:t>
            </a:r>
            <a:r>
              <a:rPr spc="-210" dirty="0"/>
              <a:t> </a:t>
            </a:r>
            <a:r>
              <a:rPr dirty="0"/>
              <a:t>a</a:t>
            </a:r>
            <a:r>
              <a:rPr spc="-200" dirty="0"/>
              <a:t> </a:t>
            </a:r>
            <a:r>
              <a:rPr spc="-20" dirty="0"/>
              <a:t>good</a:t>
            </a:r>
            <a:r>
              <a:rPr spc="-204" dirty="0"/>
              <a:t> </a:t>
            </a:r>
            <a:r>
              <a:rPr spc="-10" dirty="0"/>
              <a:t>option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97888" y="1381886"/>
          <a:ext cx="8128000" cy="481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000" spc="-25" dirty="0">
                          <a:latin typeface="Trebuchet MS"/>
                          <a:cs typeface="Trebuchet MS"/>
                        </a:rPr>
                        <a:t>XX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000" spc="-25" dirty="0">
                          <a:latin typeface="Trebuchet MS"/>
                          <a:cs typeface="Trebuchet MS"/>
                        </a:rPr>
                        <a:t>XX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750314" y="2812542"/>
            <a:ext cx="8505825" cy="817244"/>
          </a:xfrm>
          <a:custGeom>
            <a:avLst/>
            <a:gdLst/>
            <a:ahLst/>
            <a:cxnLst/>
            <a:rect l="l" t="t" r="r" b="b"/>
            <a:pathLst>
              <a:path w="8505825" h="817245">
                <a:moveTo>
                  <a:pt x="0" y="136144"/>
                </a:moveTo>
                <a:lnTo>
                  <a:pt x="6941" y="93114"/>
                </a:lnTo>
                <a:lnTo>
                  <a:pt x="26269" y="55741"/>
                </a:lnTo>
                <a:lnTo>
                  <a:pt x="55741" y="26269"/>
                </a:lnTo>
                <a:lnTo>
                  <a:pt x="93114" y="6941"/>
                </a:lnTo>
                <a:lnTo>
                  <a:pt x="136144" y="0"/>
                </a:lnTo>
                <a:lnTo>
                  <a:pt x="8369300" y="0"/>
                </a:lnTo>
                <a:lnTo>
                  <a:pt x="8412329" y="6941"/>
                </a:lnTo>
                <a:lnTo>
                  <a:pt x="8449702" y="26269"/>
                </a:lnTo>
                <a:lnTo>
                  <a:pt x="8479174" y="55741"/>
                </a:lnTo>
                <a:lnTo>
                  <a:pt x="8498502" y="93114"/>
                </a:lnTo>
                <a:lnTo>
                  <a:pt x="8505444" y="136144"/>
                </a:lnTo>
                <a:lnTo>
                  <a:pt x="8505444" y="680720"/>
                </a:lnTo>
                <a:lnTo>
                  <a:pt x="8498502" y="723749"/>
                </a:lnTo>
                <a:lnTo>
                  <a:pt x="8479174" y="761122"/>
                </a:lnTo>
                <a:lnTo>
                  <a:pt x="8449702" y="790594"/>
                </a:lnTo>
                <a:lnTo>
                  <a:pt x="8412329" y="809922"/>
                </a:lnTo>
                <a:lnTo>
                  <a:pt x="8369300" y="816864"/>
                </a:lnTo>
                <a:lnTo>
                  <a:pt x="136144" y="816864"/>
                </a:lnTo>
                <a:lnTo>
                  <a:pt x="93114" y="809922"/>
                </a:lnTo>
                <a:lnTo>
                  <a:pt x="55741" y="790594"/>
                </a:lnTo>
                <a:lnTo>
                  <a:pt x="26269" y="761122"/>
                </a:lnTo>
                <a:lnTo>
                  <a:pt x="6941" y="723749"/>
                </a:lnTo>
                <a:lnTo>
                  <a:pt x="0" y="680720"/>
                </a:lnTo>
                <a:lnTo>
                  <a:pt x="0" y="136144"/>
                </a:lnTo>
                <a:close/>
              </a:path>
            </a:pathLst>
          </a:custGeom>
          <a:ln w="25400">
            <a:solidFill>
              <a:srgbClr val="3749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Deleting</a:t>
            </a:r>
            <a:r>
              <a:rPr spc="-190" dirty="0"/>
              <a:t> </a:t>
            </a:r>
            <a:r>
              <a:rPr spc="-10" dirty="0"/>
              <a:t>the</a:t>
            </a:r>
            <a:r>
              <a:rPr spc="-200" dirty="0"/>
              <a:t> </a:t>
            </a:r>
            <a:r>
              <a:rPr spc="-40" dirty="0"/>
              <a:t>outliers</a:t>
            </a:r>
            <a:r>
              <a:rPr spc="-200" dirty="0"/>
              <a:t> </a:t>
            </a:r>
            <a:r>
              <a:rPr dirty="0"/>
              <a:t>–</a:t>
            </a:r>
            <a:r>
              <a:rPr spc="-215" dirty="0"/>
              <a:t> </a:t>
            </a:r>
            <a:r>
              <a:rPr spc="-10" dirty="0"/>
              <a:t>Not</a:t>
            </a:r>
            <a:r>
              <a:rPr spc="-210" dirty="0"/>
              <a:t> </a:t>
            </a:r>
            <a:r>
              <a:rPr dirty="0"/>
              <a:t>a</a:t>
            </a:r>
            <a:r>
              <a:rPr spc="-200" dirty="0"/>
              <a:t> </a:t>
            </a:r>
            <a:r>
              <a:rPr spc="-20" dirty="0"/>
              <a:t>good</a:t>
            </a:r>
            <a:r>
              <a:rPr spc="-204" dirty="0"/>
              <a:t> </a:t>
            </a:r>
            <a:r>
              <a:rPr spc="-10" dirty="0"/>
              <a:t>option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8838" y="1375536"/>
            <a:ext cx="8178800" cy="4846955"/>
            <a:chOff x="1878838" y="1375536"/>
            <a:chExt cx="8178800" cy="4846955"/>
          </a:xfrm>
        </p:grpSpPr>
        <p:sp>
          <p:nvSpPr>
            <p:cNvPr id="4" name="object 4"/>
            <p:cNvSpPr/>
            <p:nvPr/>
          </p:nvSpPr>
          <p:spPr>
            <a:xfrm>
              <a:off x="1904238" y="138823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3251200" y="0"/>
                  </a:moveTo>
                  <a:lnTo>
                    <a:pt x="2438400" y="0"/>
                  </a:lnTo>
                  <a:lnTo>
                    <a:pt x="1625600" y="0"/>
                  </a:lnTo>
                  <a:lnTo>
                    <a:pt x="8128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" y="370840"/>
                  </a:lnTo>
                  <a:lnTo>
                    <a:pt x="1625600" y="370840"/>
                  </a:lnTo>
                  <a:lnTo>
                    <a:pt x="2438400" y="370840"/>
                  </a:lnTo>
                  <a:lnTo>
                    <a:pt x="3251200" y="370840"/>
                  </a:lnTo>
                  <a:lnTo>
                    <a:pt x="3251200" y="0"/>
                  </a:lnTo>
                  <a:close/>
                </a:path>
                <a:path w="8128000" h="370839">
                  <a:moveTo>
                    <a:pt x="6502400" y="0"/>
                  </a:moveTo>
                  <a:lnTo>
                    <a:pt x="5689600" y="0"/>
                  </a:lnTo>
                  <a:lnTo>
                    <a:pt x="4876800" y="0"/>
                  </a:lnTo>
                  <a:lnTo>
                    <a:pt x="4064000" y="0"/>
                  </a:lnTo>
                  <a:lnTo>
                    <a:pt x="4064000" y="370840"/>
                  </a:lnTo>
                  <a:lnTo>
                    <a:pt x="4876800" y="370840"/>
                  </a:lnTo>
                  <a:lnTo>
                    <a:pt x="5689600" y="370840"/>
                  </a:lnTo>
                  <a:lnTo>
                    <a:pt x="6502400" y="370840"/>
                  </a:lnTo>
                  <a:lnTo>
                    <a:pt x="6502400" y="0"/>
                  </a:lnTo>
                  <a:close/>
                </a:path>
                <a:path w="8128000" h="370839">
                  <a:moveTo>
                    <a:pt x="8128000" y="0"/>
                  </a:moveTo>
                  <a:lnTo>
                    <a:pt x="7315200" y="0"/>
                  </a:lnTo>
                  <a:lnTo>
                    <a:pt x="731520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04238" y="175907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04238" y="2129929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27"/>
                  </a:lnTo>
                  <a:lnTo>
                    <a:pt x="8128000" y="370827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04238" y="250075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04238" y="287159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3251200" y="0"/>
                  </a:moveTo>
                  <a:lnTo>
                    <a:pt x="2438400" y="0"/>
                  </a:lnTo>
                  <a:lnTo>
                    <a:pt x="1625600" y="0"/>
                  </a:lnTo>
                  <a:lnTo>
                    <a:pt x="8128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" y="370840"/>
                  </a:lnTo>
                  <a:lnTo>
                    <a:pt x="1625600" y="370840"/>
                  </a:lnTo>
                  <a:lnTo>
                    <a:pt x="2438400" y="370840"/>
                  </a:lnTo>
                  <a:lnTo>
                    <a:pt x="3251200" y="370840"/>
                  </a:lnTo>
                  <a:lnTo>
                    <a:pt x="3251200" y="0"/>
                  </a:lnTo>
                  <a:close/>
                </a:path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4064000" y="0"/>
                  </a:lnTo>
                  <a:lnTo>
                    <a:pt x="406400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4238" y="324243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3251200" y="0"/>
                  </a:moveTo>
                  <a:lnTo>
                    <a:pt x="2438400" y="0"/>
                  </a:lnTo>
                  <a:lnTo>
                    <a:pt x="1625600" y="0"/>
                  </a:lnTo>
                  <a:lnTo>
                    <a:pt x="8128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" y="370840"/>
                  </a:lnTo>
                  <a:lnTo>
                    <a:pt x="1625600" y="370840"/>
                  </a:lnTo>
                  <a:lnTo>
                    <a:pt x="2438400" y="370840"/>
                  </a:lnTo>
                  <a:lnTo>
                    <a:pt x="3251200" y="370840"/>
                  </a:lnTo>
                  <a:lnTo>
                    <a:pt x="3251200" y="0"/>
                  </a:lnTo>
                  <a:close/>
                </a:path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4064000" y="0"/>
                  </a:lnTo>
                  <a:lnTo>
                    <a:pt x="406400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04238" y="3613289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27"/>
                  </a:lnTo>
                  <a:lnTo>
                    <a:pt x="8128000" y="370827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04238" y="398411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04238" y="4354969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27"/>
                  </a:lnTo>
                  <a:lnTo>
                    <a:pt x="8128000" y="370827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4238" y="472579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6502400" y="0"/>
                  </a:moveTo>
                  <a:lnTo>
                    <a:pt x="65024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6502400" y="370840"/>
                  </a:lnTo>
                  <a:lnTo>
                    <a:pt x="6502400" y="0"/>
                  </a:lnTo>
                  <a:close/>
                </a:path>
                <a:path w="8128000" h="370839">
                  <a:moveTo>
                    <a:pt x="8128000" y="0"/>
                  </a:moveTo>
                  <a:lnTo>
                    <a:pt x="7315200" y="0"/>
                  </a:lnTo>
                  <a:lnTo>
                    <a:pt x="731520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04238" y="5096636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6502400" y="0"/>
                  </a:moveTo>
                  <a:lnTo>
                    <a:pt x="65024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6502400" y="370840"/>
                  </a:lnTo>
                  <a:lnTo>
                    <a:pt x="6502400" y="0"/>
                  </a:lnTo>
                  <a:close/>
                </a:path>
                <a:path w="8128000" h="370839">
                  <a:moveTo>
                    <a:pt x="8128000" y="0"/>
                  </a:moveTo>
                  <a:lnTo>
                    <a:pt x="7315200" y="0"/>
                  </a:lnTo>
                  <a:lnTo>
                    <a:pt x="731520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04238" y="5467502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04238" y="5838342"/>
              <a:ext cx="8128000" cy="370840"/>
            </a:xfrm>
            <a:custGeom>
              <a:avLst/>
              <a:gdLst/>
              <a:ahLst/>
              <a:cxnLst/>
              <a:rect l="l" t="t" r="r" b="b"/>
              <a:pathLst>
                <a:path w="8128000" h="370839">
                  <a:moveTo>
                    <a:pt x="8128000" y="0"/>
                  </a:moveTo>
                  <a:lnTo>
                    <a:pt x="8128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17038" y="1381886"/>
              <a:ext cx="6502400" cy="4834255"/>
            </a:xfrm>
            <a:custGeom>
              <a:avLst/>
              <a:gdLst/>
              <a:ahLst/>
              <a:cxnLst/>
              <a:rect l="l" t="t" r="r" b="b"/>
              <a:pathLst>
                <a:path w="6502400" h="4834255">
                  <a:moveTo>
                    <a:pt x="0" y="0"/>
                  </a:moveTo>
                  <a:lnTo>
                    <a:pt x="0" y="4833645"/>
                  </a:lnTo>
                </a:path>
                <a:path w="6502400" h="4834255">
                  <a:moveTo>
                    <a:pt x="812800" y="0"/>
                  </a:moveTo>
                  <a:lnTo>
                    <a:pt x="812800" y="4833645"/>
                  </a:lnTo>
                </a:path>
                <a:path w="6502400" h="4834255">
                  <a:moveTo>
                    <a:pt x="1625600" y="0"/>
                  </a:moveTo>
                  <a:lnTo>
                    <a:pt x="1625600" y="4833645"/>
                  </a:lnTo>
                </a:path>
                <a:path w="6502400" h="4834255">
                  <a:moveTo>
                    <a:pt x="2438400" y="0"/>
                  </a:moveTo>
                  <a:lnTo>
                    <a:pt x="2438400" y="4833645"/>
                  </a:lnTo>
                </a:path>
                <a:path w="6502400" h="4834255">
                  <a:moveTo>
                    <a:pt x="3251200" y="0"/>
                  </a:moveTo>
                  <a:lnTo>
                    <a:pt x="3251200" y="4833645"/>
                  </a:lnTo>
                </a:path>
                <a:path w="6502400" h="4834255">
                  <a:moveTo>
                    <a:pt x="4064000" y="0"/>
                  </a:moveTo>
                  <a:lnTo>
                    <a:pt x="4064000" y="4833645"/>
                  </a:lnTo>
                </a:path>
                <a:path w="6502400" h="4834255">
                  <a:moveTo>
                    <a:pt x="4876800" y="0"/>
                  </a:moveTo>
                  <a:lnTo>
                    <a:pt x="4876800" y="4833645"/>
                  </a:lnTo>
                </a:path>
                <a:path w="6502400" h="4834255">
                  <a:moveTo>
                    <a:pt x="5689600" y="0"/>
                  </a:moveTo>
                  <a:lnTo>
                    <a:pt x="5689600" y="4833645"/>
                  </a:lnTo>
                </a:path>
                <a:path w="6502400" h="4834255">
                  <a:moveTo>
                    <a:pt x="6502400" y="0"/>
                  </a:moveTo>
                  <a:lnTo>
                    <a:pt x="6502400" y="483364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97888" y="1759076"/>
              <a:ext cx="8140700" cy="0"/>
            </a:xfrm>
            <a:custGeom>
              <a:avLst/>
              <a:gdLst/>
              <a:ahLst/>
              <a:cxnLst/>
              <a:rect l="l" t="t" r="r" b="b"/>
              <a:pathLst>
                <a:path w="8140700">
                  <a:moveTo>
                    <a:pt x="0" y="0"/>
                  </a:moveTo>
                  <a:lnTo>
                    <a:pt x="8140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7888" y="1381886"/>
              <a:ext cx="8140700" cy="4834255"/>
            </a:xfrm>
            <a:custGeom>
              <a:avLst/>
              <a:gdLst/>
              <a:ahLst/>
              <a:cxnLst/>
              <a:rect l="l" t="t" r="r" b="b"/>
              <a:pathLst>
                <a:path w="8140700" h="4834255">
                  <a:moveTo>
                    <a:pt x="0" y="748029"/>
                  </a:moveTo>
                  <a:lnTo>
                    <a:pt x="8140700" y="748029"/>
                  </a:lnTo>
                </a:path>
                <a:path w="8140700" h="4834255">
                  <a:moveTo>
                    <a:pt x="0" y="1118870"/>
                  </a:moveTo>
                  <a:lnTo>
                    <a:pt x="8140700" y="1118870"/>
                  </a:lnTo>
                </a:path>
                <a:path w="8140700" h="4834255">
                  <a:moveTo>
                    <a:pt x="0" y="1489710"/>
                  </a:moveTo>
                  <a:lnTo>
                    <a:pt x="8140700" y="1489710"/>
                  </a:lnTo>
                </a:path>
                <a:path w="8140700" h="4834255">
                  <a:moveTo>
                    <a:pt x="0" y="1860550"/>
                  </a:moveTo>
                  <a:lnTo>
                    <a:pt x="8140700" y="1860550"/>
                  </a:lnTo>
                </a:path>
                <a:path w="8140700" h="4834255">
                  <a:moveTo>
                    <a:pt x="0" y="2231390"/>
                  </a:moveTo>
                  <a:lnTo>
                    <a:pt x="8140700" y="2231390"/>
                  </a:lnTo>
                </a:path>
                <a:path w="8140700" h="4834255">
                  <a:moveTo>
                    <a:pt x="0" y="2602230"/>
                  </a:moveTo>
                  <a:lnTo>
                    <a:pt x="8140700" y="2602230"/>
                  </a:lnTo>
                </a:path>
                <a:path w="8140700" h="4834255">
                  <a:moveTo>
                    <a:pt x="0" y="2973070"/>
                  </a:moveTo>
                  <a:lnTo>
                    <a:pt x="8140700" y="2973070"/>
                  </a:lnTo>
                </a:path>
                <a:path w="8140700" h="4834255">
                  <a:moveTo>
                    <a:pt x="0" y="3343910"/>
                  </a:moveTo>
                  <a:lnTo>
                    <a:pt x="8140700" y="3343910"/>
                  </a:lnTo>
                </a:path>
                <a:path w="8140700" h="4834255">
                  <a:moveTo>
                    <a:pt x="0" y="3714750"/>
                  </a:moveTo>
                  <a:lnTo>
                    <a:pt x="8140700" y="3714750"/>
                  </a:lnTo>
                </a:path>
                <a:path w="8140700" h="4834255">
                  <a:moveTo>
                    <a:pt x="0" y="4085590"/>
                  </a:moveTo>
                  <a:lnTo>
                    <a:pt x="8140700" y="4085590"/>
                  </a:lnTo>
                </a:path>
                <a:path w="8140700" h="4834255">
                  <a:moveTo>
                    <a:pt x="0" y="4456455"/>
                  </a:moveTo>
                  <a:lnTo>
                    <a:pt x="8140700" y="4456455"/>
                  </a:lnTo>
                </a:path>
                <a:path w="8140700" h="4834255">
                  <a:moveTo>
                    <a:pt x="6350" y="0"/>
                  </a:moveTo>
                  <a:lnTo>
                    <a:pt x="6350" y="4833645"/>
                  </a:lnTo>
                </a:path>
                <a:path w="8140700" h="4834255">
                  <a:moveTo>
                    <a:pt x="8134350" y="0"/>
                  </a:moveTo>
                  <a:lnTo>
                    <a:pt x="8134350" y="4833645"/>
                  </a:lnTo>
                </a:path>
                <a:path w="8140700" h="4834255">
                  <a:moveTo>
                    <a:pt x="0" y="6350"/>
                  </a:moveTo>
                  <a:lnTo>
                    <a:pt x="8140700" y="6350"/>
                  </a:lnTo>
                </a:path>
                <a:path w="8140700" h="4834255">
                  <a:moveTo>
                    <a:pt x="0" y="4827295"/>
                  </a:moveTo>
                  <a:lnTo>
                    <a:pt x="8140700" y="482729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61788" y="1394586"/>
            <a:ext cx="800100" cy="345440"/>
          </a:xfrm>
          <a:prstGeom prst="rect">
            <a:avLst/>
          </a:prstGeom>
          <a:solidFill>
            <a:srgbClr val="4E67C7"/>
          </a:solidFill>
        </p:spPr>
        <p:txBody>
          <a:bodyPr vert="horz" wrap="square" lIns="0" tIns="6731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530"/>
              </a:spcBef>
            </a:pP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Income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12988" y="1394586"/>
            <a:ext cx="800100" cy="345440"/>
          </a:xfrm>
          <a:prstGeom prst="rect">
            <a:avLst/>
          </a:prstGeom>
          <a:solidFill>
            <a:srgbClr val="4E67C7"/>
          </a:solidFill>
        </p:spPr>
        <p:txBody>
          <a:bodyPr vert="horz" wrap="square" lIns="0" tIns="6731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530"/>
              </a:spcBef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Util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55438" y="2871597"/>
            <a:ext cx="812800" cy="370840"/>
          </a:xfrm>
          <a:prstGeom prst="rect">
            <a:avLst/>
          </a:prstGeom>
          <a:solidFill>
            <a:srgbClr val="E9EBF5"/>
          </a:solidFill>
          <a:ln w="12700">
            <a:solidFill>
              <a:srgbClr val="FFFFFF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000" spc="-25" dirty="0">
                <a:latin typeface="Trebuchet MS"/>
                <a:cs typeface="Trebuchet MS"/>
              </a:rPr>
              <a:t>XX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55438" y="3242436"/>
            <a:ext cx="812800" cy="370840"/>
          </a:xfrm>
          <a:prstGeom prst="rect">
            <a:avLst/>
          </a:prstGeom>
          <a:solidFill>
            <a:srgbClr val="D0D2EB"/>
          </a:solidFill>
          <a:ln w="12700">
            <a:solidFill>
              <a:srgbClr val="FFFFFF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000" spc="-25" dirty="0">
                <a:latin typeface="Trebuchet MS"/>
                <a:cs typeface="Trebuchet MS"/>
              </a:rPr>
              <a:t>XX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06638" y="4725796"/>
            <a:ext cx="812800" cy="370840"/>
          </a:xfrm>
          <a:prstGeom prst="rect">
            <a:avLst/>
          </a:prstGeom>
          <a:solidFill>
            <a:srgbClr val="D0D2EB"/>
          </a:solidFill>
          <a:ln w="12700">
            <a:solidFill>
              <a:srgbClr val="FFFFFF"/>
            </a:solidFill>
          </a:ln>
        </p:spPr>
        <p:txBody>
          <a:bodyPr vert="horz" wrap="square" lIns="0" tIns="1073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845"/>
              </a:spcBef>
            </a:pPr>
            <a:r>
              <a:rPr sz="1000" spc="-25" dirty="0">
                <a:latin typeface="Trebuchet MS"/>
                <a:cs typeface="Trebuchet MS"/>
              </a:rPr>
              <a:t>XX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06638" y="5096636"/>
            <a:ext cx="812800" cy="370840"/>
          </a:xfrm>
          <a:prstGeom prst="rect">
            <a:avLst/>
          </a:prstGeom>
          <a:solidFill>
            <a:srgbClr val="E9EBF5"/>
          </a:solidFill>
          <a:ln w="12700">
            <a:solidFill>
              <a:srgbClr val="FFFFFF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844"/>
              </a:spcBef>
            </a:pPr>
            <a:r>
              <a:rPr sz="1000" spc="-25" dirty="0">
                <a:latin typeface="Trebuchet MS"/>
                <a:cs typeface="Trebuchet MS"/>
              </a:rPr>
              <a:t>XX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50314" y="2812542"/>
            <a:ext cx="8521065" cy="2748280"/>
          </a:xfrm>
          <a:custGeom>
            <a:avLst/>
            <a:gdLst/>
            <a:ahLst/>
            <a:cxnLst/>
            <a:rect l="l" t="t" r="r" b="b"/>
            <a:pathLst>
              <a:path w="8521065" h="2748279">
                <a:moveTo>
                  <a:pt x="0" y="136144"/>
                </a:moveTo>
                <a:lnTo>
                  <a:pt x="6941" y="93114"/>
                </a:lnTo>
                <a:lnTo>
                  <a:pt x="26269" y="55741"/>
                </a:lnTo>
                <a:lnTo>
                  <a:pt x="55741" y="26269"/>
                </a:lnTo>
                <a:lnTo>
                  <a:pt x="93114" y="6941"/>
                </a:lnTo>
                <a:lnTo>
                  <a:pt x="136144" y="0"/>
                </a:lnTo>
                <a:lnTo>
                  <a:pt x="8369300" y="0"/>
                </a:lnTo>
                <a:lnTo>
                  <a:pt x="8412329" y="6941"/>
                </a:lnTo>
                <a:lnTo>
                  <a:pt x="8449702" y="26269"/>
                </a:lnTo>
                <a:lnTo>
                  <a:pt x="8479174" y="55741"/>
                </a:lnTo>
                <a:lnTo>
                  <a:pt x="8498502" y="93114"/>
                </a:lnTo>
                <a:lnTo>
                  <a:pt x="8505444" y="136144"/>
                </a:lnTo>
                <a:lnTo>
                  <a:pt x="8505444" y="680720"/>
                </a:lnTo>
                <a:lnTo>
                  <a:pt x="8498502" y="723749"/>
                </a:lnTo>
                <a:lnTo>
                  <a:pt x="8479174" y="761122"/>
                </a:lnTo>
                <a:lnTo>
                  <a:pt x="8449702" y="790594"/>
                </a:lnTo>
                <a:lnTo>
                  <a:pt x="8412329" y="809922"/>
                </a:lnTo>
                <a:lnTo>
                  <a:pt x="8369300" y="816864"/>
                </a:lnTo>
                <a:lnTo>
                  <a:pt x="136144" y="816864"/>
                </a:lnTo>
                <a:lnTo>
                  <a:pt x="93114" y="809922"/>
                </a:lnTo>
                <a:lnTo>
                  <a:pt x="55741" y="790594"/>
                </a:lnTo>
                <a:lnTo>
                  <a:pt x="26269" y="761122"/>
                </a:lnTo>
                <a:lnTo>
                  <a:pt x="6941" y="723749"/>
                </a:lnTo>
                <a:lnTo>
                  <a:pt x="0" y="680720"/>
                </a:lnTo>
                <a:lnTo>
                  <a:pt x="0" y="136144"/>
                </a:lnTo>
                <a:close/>
              </a:path>
              <a:path w="8521065" h="2748279">
                <a:moveTo>
                  <a:pt x="15240" y="2068322"/>
                </a:moveTo>
                <a:lnTo>
                  <a:pt x="22167" y="2025367"/>
                </a:lnTo>
                <a:lnTo>
                  <a:pt x="41456" y="1988064"/>
                </a:lnTo>
                <a:lnTo>
                  <a:pt x="70872" y="1958648"/>
                </a:lnTo>
                <a:lnTo>
                  <a:pt x="108175" y="1939359"/>
                </a:lnTo>
                <a:lnTo>
                  <a:pt x="151130" y="1932432"/>
                </a:lnTo>
                <a:lnTo>
                  <a:pt x="8384794" y="1932432"/>
                </a:lnTo>
                <a:lnTo>
                  <a:pt x="8427748" y="1939359"/>
                </a:lnTo>
                <a:lnTo>
                  <a:pt x="8465051" y="1958648"/>
                </a:lnTo>
                <a:lnTo>
                  <a:pt x="8494467" y="1988064"/>
                </a:lnTo>
                <a:lnTo>
                  <a:pt x="8513756" y="2025367"/>
                </a:lnTo>
                <a:lnTo>
                  <a:pt x="8520684" y="2068322"/>
                </a:lnTo>
                <a:lnTo>
                  <a:pt x="8520684" y="2611882"/>
                </a:lnTo>
                <a:lnTo>
                  <a:pt x="8513756" y="2654836"/>
                </a:lnTo>
                <a:lnTo>
                  <a:pt x="8494467" y="2692139"/>
                </a:lnTo>
                <a:lnTo>
                  <a:pt x="8465051" y="2721555"/>
                </a:lnTo>
                <a:lnTo>
                  <a:pt x="8427748" y="2740844"/>
                </a:lnTo>
                <a:lnTo>
                  <a:pt x="8384794" y="2747772"/>
                </a:lnTo>
                <a:lnTo>
                  <a:pt x="151130" y="2747772"/>
                </a:lnTo>
                <a:lnTo>
                  <a:pt x="108175" y="2740844"/>
                </a:lnTo>
                <a:lnTo>
                  <a:pt x="70872" y="2721555"/>
                </a:lnTo>
                <a:lnTo>
                  <a:pt x="41456" y="2692139"/>
                </a:lnTo>
                <a:lnTo>
                  <a:pt x="22167" y="2654836"/>
                </a:lnTo>
                <a:lnTo>
                  <a:pt x="15240" y="2611882"/>
                </a:lnTo>
                <a:lnTo>
                  <a:pt x="15240" y="2068322"/>
                </a:lnTo>
                <a:close/>
              </a:path>
            </a:pathLst>
          </a:custGeom>
          <a:ln w="25400">
            <a:solidFill>
              <a:srgbClr val="3749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Deleting</a:t>
            </a:r>
            <a:r>
              <a:rPr spc="-190" dirty="0"/>
              <a:t> </a:t>
            </a:r>
            <a:r>
              <a:rPr spc="-10" dirty="0"/>
              <a:t>the</a:t>
            </a:r>
            <a:r>
              <a:rPr spc="-200" dirty="0"/>
              <a:t> </a:t>
            </a:r>
            <a:r>
              <a:rPr spc="-40" dirty="0"/>
              <a:t>outliers</a:t>
            </a:r>
            <a:r>
              <a:rPr spc="-200" dirty="0"/>
              <a:t> </a:t>
            </a:r>
            <a:r>
              <a:rPr dirty="0"/>
              <a:t>–</a:t>
            </a:r>
            <a:r>
              <a:rPr spc="-215" dirty="0"/>
              <a:t> </a:t>
            </a:r>
            <a:r>
              <a:rPr spc="-10" dirty="0"/>
              <a:t>Not</a:t>
            </a:r>
            <a:r>
              <a:rPr spc="-210" dirty="0"/>
              <a:t> </a:t>
            </a:r>
            <a:r>
              <a:rPr dirty="0"/>
              <a:t>a</a:t>
            </a:r>
            <a:r>
              <a:rPr spc="-200" dirty="0"/>
              <a:t> </a:t>
            </a:r>
            <a:r>
              <a:rPr spc="-20" dirty="0"/>
              <a:t>good</a:t>
            </a:r>
            <a:r>
              <a:rPr spc="-204" dirty="0"/>
              <a:t> </a:t>
            </a:r>
            <a:r>
              <a:rPr spc="-10" dirty="0"/>
              <a:t>option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97888" y="1381886"/>
          <a:ext cx="8128000" cy="481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Loans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Income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Util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000" spc="-25" dirty="0">
                          <a:latin typeface="Trebuchet MS"/>
                          <a:cs typeface="Trebuchet MS"/>
                        </a:rPr>
                        <a:t>XX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000" spc="-25" dirty="0">
                          <a:latin typeface="Trebuchet MS"/>
                          <a:cs typeface="Trebuchet MS"/>
                        </a:rPr>
                        <a:t>XX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000" spc="-25" dirty="0">
                          <a:latin typeface="Trebuchet MS"/>
                          <a:cs typeface="Trebuchet MS"/>
                        </a:rPr>
                        <a:t>XX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000" spc="-25" dirty="0">
                          <a:latin typeface="Trebuchet MS"/>
                          <a:cs typeface="Trebuchet MS"/>
                        </a:rPr>
                        <a:t>XX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073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000" spc="-25" dirty="0">
                          <a:latin typeface="Trebuchet MS"/>
                          <a:cs typeface="Trebuchet MS"/>
                        </a:rPr>
                        <a:t>XX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750314" y="2812542"/>
            <a:ext cx="8505825" cy="817244"/>
          </a:xfrm>
          <a:custGeom>
            <a:avLst/>
            <a:gdLst/>
            <a:ahLst/>
            <a:cxnLst/>
            <a:rect l="l" t="t" r="r" b="b"/>
            <a:pathLst>
              <a:path w="8505825" h="817245">
                <a:moveTo>
                  <a:pt x="0" y="136144"/>
                </a:moveTo>
                <a:lnTo>
                  <a:pt x="6941" y="93114"/>
                </a:lnTo>
                <a:lnTo>
                  <a:pt x="26269" y="55741"/>
                </a:lnTo>
                <a:lnTo>
                  <a:pt x="55741" y="26269"/>
                </a:lnTo>
                <a:lnTo>
                  <a:pt x="93114" y="6941"/>
                </a:lnTo>
                <a:lnTo>
                  <a:pt x="136144" y="0"/>
                </a:lnTo>
                <a:lnTo>
                  <a:pt x="8369300" y="0"/>
                </a:lnTo>
                <a:lnTo>
                  <a:pt x="8412329" y="6941"/>
                </a:lnTo>
                <a:lnTo>
                  <a:pt x="8449702" y="26269"/>
                </a:lnTo>
                <a:lnTo>
                  <a:pt x="8479174" y="55741"/>
                </a:lnTo>
                <a:lnTo>
                  <a:pt x="8498502" y="93114"/>
                </a:lnTo>
                <a:lnTo>
                  <a:pt x="8505444" y="136144"/>
                </a:lnTo>
                <a:lnTo>
                  <a:pt x="8505444" y="680720"/>
                </a:lnTo>
                <a:lnTo>
                  <a:pt x="8498502" y="723749"/>
                </a:lnTo>
                <a:lnTo>
                  <a:pt x="8479174" y="761122"/>
                </a:lnTo>
                <a:lnTo>
                  <a:pt x="8449702" y="790594"/>
                </a:lnTo>
                <a:lnTo>
                  <a:pt x="8412329" y="809922"/>
                </a:lnTo>
                <a:lnTo>
                  <a:pt x="8369300" y="816864"/>
                </a:lnTo>
                <a:lnTo>
                  <a:pt x="136144" y="816864"/>
                </a:lnTo>
                <a:lnTo>
                  <a:pt x="93114" y="809922"/>
                </a:lnTo>
                <a:lnTo>
                  <a:pt x="55741" y="790594"/>
                </a:lnTo>
                <a:lnTo>
                  <a:pt x="26269" y="761122"/>
                </a:lnTo>
                <a:lnTo>
                  <a:pt x="6941" y="723749"/>
                </a:lnTo>
                <a:lnTo>
                  <a:pt x="0" y="680720"/>
                </a:lnTo>
                <a:lnTo>
                  <a:pt x="0" y="136144"/>
                </a:lnTo>
                <a:close/>
              </a:path>
            </a:pathLst>
          </a:custGeom>
          <a:ln w="25400">
            <a:solidFill>
              <a:srgbClr val="3749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65554" y="4744973"/>
            <a:ext cx="8505825" cy="815340"/>
          </a:xfrm>
          <a:custGeom>
            <a:avLst/>
            <a:gdLst/>
            <a:ahLst/>
            <a:cxnLst/>
            <a:rect l="l" t="t" r="r" b="b"/>
            <a:pathLst>
              <a:path w="8505825" h="815339">
                <a:moveTo>
                  <a:pt x="0" y="135889"/>
                </a:moveTo>
                <a:lnTo>
                  <a:pt x="6927" y="92935"/>
                </a:lnTo>
                <a:lnTo>
                  <a:pt x="26216" y="55632"/>
                </a:lnTo>
                <a:lnTo>
                  <a:pt x="55632" y="26216"/>
                </a:lnTo>
                <a:lnTo>
                  <a:pt x="92935" y="6927"/>
                </a:lnTo>
                <a:lnTo>
                  <a:pt x="135889" y="0"/>
                </a:lnTo>
                <a:lnTo>
                  <a:pt x="8369554" y="0"/>
                </a:lnTo>
                <a:lnTo>
                  <a:pt x="8412508" y="6927"/>
                </a:lnTo>
                <a:lnTo>
                  <a:pt x="8449811" y="26216"/>
                </a:lnTo>
                <a:lnTo>
                  <a:pt x="8479227" y="55632"/>
                </a:lnTo>
                <a:lnTo>
                  <a:pt x="8498516" y="92935"/>
                </a:lnTo>
                <a:lnTo>
                  <a:pt x="8505444" y="135889"/>
                </a:lnTo>
                <a:lnTo>
                  <a:pt x="8505444" y="679450"/>
                </a:lnTo>
                <a:lnTo>
                  <a:pt x="8498516" y="722404"/>
                </a:lnTo>
                <a:lnTo>
                  <a:pt x="8479227" y="759707"/>
                </a:lnTo>
                <a:lnTo>
                  <a:pt x="8449811" y="789123"/>
                </a:lnTo>
                <a:lnTo>
                  <a:pt x="8412508" y="808412"/>
                </a:lnTo>
                <a:lnTo>
                  <a:pt x="8369554" y="815339"/>
                </a:lnTo>
                <a:lnTo>
                  <a:pt x="135889" y="815339"/>
                </a:lnTo>
                <a:lnTo>
                  <a:pt x="92935" y="808412"/>
                </a:lnTo>
                <a:lnTo>
                  <a:pt x="55632" y="789123"/>
                </a:lnTo>
                <a:lnTo>
                  <a:pt x="26216" y="759707"/>
                </a:lnTo>
                <a:lnTo>
                  <a:pt x="6927" y="722404"/>
                </a:lnTo>
                <a:lnTo>
                  <a:pt x="0" y="679450"/>
                </a:lnTo>
                <a:lnTo>
                  <a:pt x="0" y="135889"/>
                </a:lnTo>
                <a:close/>
              </a:path>
            </a:pathLst>
          </a:custGeom>
          <a:ln w="25400">
            <a:solidFill>
              <a:srgbClr val="3749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06117" y="2085594"/>
            <a:ext cx="8505825" cy="457200"/>
          </a:xfrm>
          <a:custGeom>
            <a:avLst/>
            <a:gdLst/>
            <a:ahLst/>
            <a:cxnLst/>
            <a:rect l="l" t="t" r="r" b="b"/>
            <a:pathLst>
              <a:path w="8505825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8429243" y="0"/>
                </a:lnTo>
                <a:lnTo>
                  <a:pt x="8458884" y="5994"/>
                </a:lnTo>
                <a:lnTo>
                  <a:pt x="8483107" y="22336"/>
                </a:lnTo>
                <a:lnTo>
                  <a:pt x="8499449" y="46559"/>
                </a:lnTo>
                <a:lnTo>
                  <a:pt x="8505443" y="76200"/>
                </a:lnTo>
                <a:lnTo>
                  <a:pt x="8505443" y="381000"/>
                </a:lnTo>
                <a:lnTo>
                  <a:pt x="8499449" y="410640"/>
                </a:lnTo>
                <a:lnTo>
                  <a:pt x="8483107" y="434863"/>
                </a:lnTo>
                <a:lnTo>
                  <a:pt x="8458884" y="451205"/>
                </a:lnTo>
                <a:lnTo>
                  <a:pt x="8429243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3749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Reason</a:t>
            </a:r>
            <a:r>
              <a:rPr spc="-190" dirty="0"/>
              <a:t> </a:t>
            </a:r>
            <a:r>
              <a:rPr spc="-10" dirty="0"/>
              <a:t>for</a:t>
            </a:r>
            <a:r>
              <a:rPr spc="-190" dirty="0"/>
              <a:t> </a:t>
            </a:r>
            <a:r>
              <a:rPr spc="-45" dirty="0"/>
              <a:t>Missing</a:t>
            </a:r>
            <a:r>
              <a:rPr spc="-204" dirty="0"/>
              <a:t> </a:t>
            </a:r>
            <a:r>
              <a:rPr spc="-50" dirty="0"/>
              <a:t>values</a:t>
            </a:r>
            <a:r>
              <a:rPr spc="-204" dirty="0"/>
              <a:t> </a:t>
            </a:r>
            <a:r>
              <a:rPr dirty="0"/>
              <a:t>&amp;</a:t>
            </a:r>
            <a:r>
              <a:rPr spc="-215" dirty="0"/>
              <a:t> </a:t>
            </a:r>
            <a:r>
              <a:rPr spc="-10" dirty="0"/>
              <a:t>Outliers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329"/>
            <a:ext cx="9756140" cy="479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5080" indent="-129539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always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available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E.g.,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many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tuples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recorded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several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attributes,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such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customer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income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sales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84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due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1025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Equipment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malfunction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960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Inconsistent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other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recorded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thus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deleted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965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entered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due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0" dirty="0">
                <a:latin typeface="Trebuchet MS"/>
                <a:cs typeface="Trebuchet MS"/>
              </a:rPr>
              <a:t> misunderstanding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955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Certain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may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considered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important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time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entry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965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register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history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changes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20" dirty="0">
                <a:latin typeface="Trebuchet MS"/>
                <a:cs typeface="Trebuchet MS"/>
              </a:rPr>
              <a:t> data</a:t>
            </a:r>
            <a:endParaRPr sz="20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109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need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inferred.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88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-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values,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attributes,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entire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records,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entire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sections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defaults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indistinguishable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493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Magnitude</a:t>
            </a:r>
            <a:r>
              <a:rPr spc="-204" dirty="0"/>
              <a:t> </a:t>
            </a:r>
            <a:r>
              <a:rPr dirty="0"/>
              <a:t>of</a:t>
            </a:r>
            <a:r>
              <a:rPr spc="-229" dirty="0"/>
              <a:t> </a:t>
            </a:r>
            <a:r>
              <a:rPr spc="-10" dirty="0"/>
              <a:t>the</a:t>
            </a:r>
            <a:r>
              <a:rPr spc="-215" dirty="0"/>
              <a:t> </a:t>
            </a:r>
            <a:r>
              <a:rPr spc="-10" dirty="0"/>
              <a:t>errors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5255" y="3413735"/>
            <a:ext cx="1716405" cy="737870"/>
            <a:chOff x="1795255" y="3413735"/>
            <a:chExt cx="1716405" cy="737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255" y="3413735"/>
              <a:ext cx="1716056" cy="7376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1620012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1620012" y="641604"/>
                  </a:lnTo>
                  <a:lnTo>
                    <a:pt x="1620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0" y="641604"/>
                  </a:moveTo>
                  <a:lnTo>
                    <a:pt x="1620012" y="641604"/>
                  </a:lnTo>
                  <a:lnTo>
                    <a:pt x="1620012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47645" y="3644900"/>
            <a:ext cx="76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5860" y="1546854"/>
            <a:ext cx="2924810" cy="786765"/>
            <a:chOff x="4405860" y="1546854"/>
            <a:chExt cx="2924810" cy="7867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1546854"/>
              <a:ext cx="2881931" cy="7391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7220" y="1560576"/>
              <a:ext cx="2903220" cy="7726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0268" y="1597152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5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30268" y="1597152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5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4507" y="1656333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05860" y="3409182"/>
            <a:ext cx="2924810" cy="786765"/>
            <a:chOff x="4405860" y="3409182"/>
            <a:chExt cx="2924810" cy="78676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3409182"/>
              <a:ext cx="2881931" cy="7391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7220" y="3422904"/>
              <a:ext cx="2903220" cy="7726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30268" y="3459480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2785872" y="0"/>
                  </a:moveTo>
                  <a:lnTo>
                    <a:pt x="0" y="0"/>
                  </a:lnTo>
                  <a:lnTo>
                    <a:pt x="0" y="643128"/>
                  </a:lnTo>
                  <a:lnTo>
                    <a:pt x="2785872" y="643128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30268" y="3459480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0" y="643128"/>
                  </a:moveTo>
                  <a:lnTo>
                    <a:pt x="2785872" y="643128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8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64507" y="3519297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Medium(10%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50%)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05860" y="5483320"/>
            <a:ext cx="2924810" cy="786765"/>
            <a:chOff x="4405860" y="5483320"/>
            <a:chExt cx="2924810" cy="78676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5483320"/>
              <a:ext cx="2881931" cy="7391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7220" y="5497067"/>
              <a:ext cx="2903220" cy="77266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64507" y="5593791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0400" marR="5080" indent="-647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95471" y="1751076"/>
            <a:ext cx="1225550" cy="4267835"/>
            <a:chOff x="3395471" y="1751076"/>
            <a:chExt cx="1225550" cy="426783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471" y="1751076"/>
              <a:ext cx="1225308" cy="209245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423665" y="1919478"/>
              <a:ext cx="1007744" cy="1875155"/>
            </a:xfrm>
            <a:custGeom>
              <a:avLst/>
              <a:gdLst/>
              <a:ahLst/>
              <a:cxnLst/>
              <a:rect l="l" t="t" r="r" b="b"/>
              <a:pathLst>
                <a:path w="1007745" h="1875154">
                  <a:moveTo>
                    <a:pt x="936838" y="92010"/>
                  </a:moveTo>
                  <a:lnTo>
                    <a:pt x="0" y="1857121"/>
                  </a:lnTo>
                  <a:lnTo>
                    <a:pt x="33528" y="1875028"/>
                  </a:lnTo>
                  <a:lnTo>
                    <a:pt x="970509" y="109884"/>
                  </a:lnTo>
                  <a:lnTo>
                    <a:pt x="936838" y="92010"/>
                  </a:lnTo>
                  <a:close/>
                </a:path>
                <a:path w="1007745" h="1875154">
                  <a:moveTo>
                    <a:pt x="1005443" y="75184"/>
                  </a:moveTo>
                  <a:lnTo>
                    <a:pt x="945769" y="75184"/>
                  </a:lnTo>
                  <a:lnTo>
                    <a:pt x="979424" y="93091"/>
                  </a:lnTo>
                  <a:lnTo>
                    <a:pt x="970509" y="109884"/>
                  </a:lnTo>
                  <a:lnTo>
                    <a:pt x="1004188" y="127762"/>
                  </a:lnTo>
                  <a:lnTo>
                    <a:pt x="1005443" y="75184"/>
                  </a:lnTo>
                  <a:close/>
                </a:path>
                <a:path w="1007745" h="1875154">
                  <a:moveTo>
                    <a:pt x="945769" y="75184"/>
                  </a:moveTo>
                  <a:lnTo>
                    <a:pt x="936838" y="92010"/>
                  </a:lnTo>
                  <a:lnTo>
                    <a:pt x="970509" y="109884"/>
                  </a:lnTo>
                  <a:lnTo>
                    <a:pt x="979424" y="93091"/>
                  </a:lnTo>
                  <a:lnTo>
                    <a:pt x="945769" y="75184"/>
                  </a:lnTo>
                  <a:close/>
                </a:path>
                <a:path w="1007745" h="1875154">
                  <a:moveTo>
                    <a:pt x="1007237" y="0"/>
                  </a:moveTo>
                  <a:lnTo>
                    <a:pt x="903224" y="74168"/>
                  </a:lnTo>
                  <a:lnTo>
                    <a:pt x="936838" y="92010"/>
                  </a:lnTo>
                  <a:lnTo>
                    <a:pt x="945769" y="75184"/>
                  </a:lnTo>
                  <a:lnTo>
                    <a:pt x="1005443" y="75184"/>
                  </a:lnTo>
                  <a:lnTo>
                    <a:pt x="1007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12235" y="3613378"/>
              <a:ext cx="1208544" cy="33225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440302" y="3725036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173" y="0"/>
                  </a:moveTo>
                  <a:lnTo>
                    <a:pt x="876300" y="38167"/>
                  </a:lnTo>
                  <a:lnTo>
                    <a:pt x="876310" y="41275"/>
                  </a:lnTo>
                  <a:lnTo>
                    <a:pt x="876427" y="76267"/>
                  </a:lnTo>
                  <a:lnTo>
                    <a:pt x="876554" y="114300"/>
                  </a:lnTo>
                  <a:lnTo>
                    <a:pt x="951947" y="76267"/>
                  </a:lnTo>
                  <a:lnTo>
                    <a:pt x="895477" y="76267"/>
                  </a:lnTo>
                  <a:lnTo>
                    <a:pt x="895360" y="41275"/>
                  </a:lnTo>
                  <a:lnTo>
                    <a:pt x="895350" y="38167"/>
                  </a:lnTo>
                  <a:lnTo>
                    <a:pt x="953105" y="38167"/>
                  </a:lnTo>
                  <a:lnTo>
                    <a:pt x="876173" y="0"/>
                  </a:lnTo>
                  <a:close/>
                </a:path>
                <a:path w="990600" h="114300">
                  <a:moveTo>
                    <a:pt x="876300" y="38167"/>
                  </a:moveTo>
                  <a:lnTo>
                    <a:pt x="0" y="41275"/>
                  </a:lnTo>
                  <a:lnTo>
                    <a:pt x="233" y="76267"/>
                  </a:lnTo>
                  <a:lnTo>
                    <a:pt x="254" y="79375"/>
                  </a:lnTo>
                  <a:lnTo>
                    <a:pt x="876427" y="76267"/>
                  </a:lnTo>
                  <a:lnTo>
                    <a:pt x="876310" y="41275"/>
                  </a:lnTo>
                  <a:lnTo>
                    <a:pt x="876300" y="38167"/>
                  </a:lnTo>
                  <a:close/>
                </a:path>
                <a:path w="990600" h="114300">
                  <a:moveTo>
                    <a:pt x="953105" y="38167"/>
                  </a:moveTo>
                  <a:lnTo>
                    <a:pt x="895350" y="38167"/>
                  </a:lnTo>
                  <a:lnTo>
                    <a:pt x="895360" y="41275"/>
                  </a:lnTo>
                  <a:lnTo>
                    <a:pt x="895477" y="76267"/>
                  </a:lnTo>
                  <a:lnTo>
                    <a:pt x="951947" y="76267"/>
                  </a:lnTo>
                  <a:lnTo>
                    <a:pt x="990600" y="56768"/>
                  </a:lnTo>
                  <a:lnTo>
                    <a:pt x="953105" y="38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5471" y="3723144"/>
              <a:ext cx="1225308" cy="22951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423284" y="3776599"/>
              <a:ext cx="1010285" cy="2078989"/>
            </a:xfrm>
            <a:custGeom>
              <a:avLst/>
              <a:gdLst/>
              <a:ahLst/>
              <a:cxnLst/>
              <a:rect l="l" t="t" r="r" b="b"/>
              <a:pathLst>
                <a:path w="1010285" h="2078989">
                  <a:moveTo>
                    <a:pt x="941110" y="1983765"/>
                  </a:moveTo>
                  <a:lnTo>
                    <a:pt x="906779" y="2000186"/>
                  </a:lnTo>
                  <a:lnTo>
                    <a:pt x="1007617" y="2078634"/>
                  </a:lnTo>
                  <a:lnTo>
                    <a:pt x="1009008" y="2000935"/>
                  </a:lnTo>
                  <a:lnTo>
                    <a:pt x="949325" y="2000935"/>
                  </a:lnTo>
                  <a:lnTo>
                    <a:pt x="941110" y="1983765"/>
                  </a:lnTo>
                  <a:close/>
                </a:path>
                <a:path w="1010285" h="2078989">
                  <a:moveTo>
                    <a:pt x="975520" y="1967306"/>
                  </a:moveTo>
                  <a:lnTo>
                    <a:pt x="941110" y="1983765"/>
                  </a:lnTo>
                  <a:lnTo>
                    <a:pt x="949325" y="2000935"/>
                  </a:lnTo>
                  <a:lnTo>
                    <a:pt x="983741" y="1984489"/>
                  </a:lnTo>
                  <a:lnTo>
                    <a:pt x="975520" y="1967306"/>
                  </a:lnTo>
                  <a:close/>
                </a:path>
                <a:path w="1010285" h="2078989">
                  <a:moveTo>
                    <a:pt x="1009903" y="1950859"/>
                  </a:moveTo>
                  <a:lnTo>
                    <a:pt x="975520" y="1967306"/>
                  </a:lnTo>
                  <a:lnTo>
                    <a:pt x="983741" y="1984489"/>
                  </a:lnTo>
                  <a:lnTo>
                    <a:pt x="949325" y="2000935"/>
                  </a:lnTo>
                  <a:lnTo>
                    <a:pt x="1009008" y="2000935"/>
                  </a:lnTo>
                  <a:lnTo>
                    <a:pt x="1009903" y="1950859"/>
                  </a:lnTo>
                  <a:close/>
                </a:path>
                <a:path w="1010285" h="2078989">
                  <a:moveTo>
                    <a:pt x="34289" y="0"/>
                  </a:moveTo>
                  <a:lnTo>
                    <a:pt x="0" y="16510"/>
                  </a:lnTo>
                  <a:lnTo>
                    <a:pt x="941110" y="1983765"/>
                  </a:lnTo>
                  <a:lnTo>
                    <a:pt x="975520" y="1967306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158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&gt;50%</a:t>
            </a:r>
            <a:r>
              <a:rPr spc="-250" dirty="0"/>
              <a:t> </a:t>
            </a:r>
            <a:r>
              <a:rPr spc="-20" dirty="0"/>
              <a:t>data</a:t>
            </a:r>
            <a:r>
              <a:rPr spc="-250" dirty="0"/>
              <a:t> </a:t>
            </a:r>
            <a:r>
              <a:rPr spc="-10" dirty="0"/>
              <a:t>has</a:t>
            </a:r>
            <a:r>
              <a:rPr spc="-250" dirty="0"/>
              <a:t> </a:t>
            </a:r>
            <a:r>
              <a:rPr spc="-10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5255" y="3413735"/>
            <a:ext cx="1716405" cy="737870"/>
            <a:chOff x="1795255" y="3413735"/>
            <a:chExt cx="1716405" cy="737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255" y="3413735"/>
              <a:ext cx="1716056" cy="7376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1620012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1620012" y="641604"/>
                  </a:lnTo>
                  <a:lnTo>
                    <a:pt x="1620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0" y="641604"/>
                  </a:moveTo>
                  <a:lnTo>
                    <a:pt x="1620012" y="641604"/>
                  </a:lnTo>
                  <a:lnTo>
                    <a:pt x="1620012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47645" y="3644900"/>
            <a:ext cx="76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5860" y="5483320"/>
            <a:ext cx="2924810" cy="786765"/>
            <a:chOff x="4405860" y="5483320"/>
            <a:chExt cx="2924810" cy="7867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5483320"/>
              <a:ext cx="2881931" cy="7391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7220" y="5497067"/>
              <a:ext cx="2903220" cy="7726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4507" y="5593791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0400" marR="5080" indent="-647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5471" y="1751076"/>
            <a:ext cx="1225550" cy="4267835"/>
            <a:chOff x="3395471" y="1751076"/>
            <a:chExt cx="1225550" cy="42678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5471" y="1751076"/>
              <a:ext cx="1225308" cy="20924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23665" y="1919478"/>
              <a:ext cx="1007744" cy="1875155"/>
            </a:xfrm>
            <a:custGeom>
              <a:avLst/>
              <a:gdLst/>
              <a:ahLst/>
              <a:cxnLst/>
              <a:rect l="l" t="t" r="r" b="b"/>
              <a:pathLst>
                <a:path w="1007745" h="1875154">
                  <a:moveTo>
                    <a:pt x="936838" y="92010"/>
                  </a:moveTo>
                  <a:lnTo>
                    <a:pt x="0" y="1857121"/>
                  </a:lnTo>
                  <a:lnTo>
                    <a:pt x="33528" y="1875028"/>
                  </a:lnTo>
                  <a:lnTo>
                    <a:pt x="970509" y="109884"/>
                  </a:lnTo>
                  <a:lnTo>
                    <a:pt x="936838" y="92010"/>
                  </a:lnTo>
                  <a:close/>
                </a:path>
                <a:path w="1007745" h="1875154">
                  <a:moveTo>
                    <a:pt x="1005443" y="75184"/>
                  </a:moveTo>
                  <a:lnTo>
                    <a:pt x="945769" y="75184"/>
                  </a:lnTo>
                  <a:lnTo>
                    <a:pt x="979424" y="93091"/>
                  </a:lnTo>
                  <a:lnTo>
                    <a:pt x="970509" y="109884"/>
                  </a:lnTo>
                  <a:lnTo>
                    <a:pt x="1004188" y="127762"/>
                  </a:lnTo>
                  <a:lnTo>
                    <a:pt x="1005443" y="75184"/>
                  </a:lnTo>
                  <a:close/>
                </a:path>
                <a:path w="1007745" h="1875154">
                  <a:moveTo>
                    <a:pt x="945769" y="75184"/>
                  </a:moveTo>
                  <a:lnTo>
                    <a:pt x="936838" y="92010"/>
                  </a:lnTo>
                  <a:lnTo>
                    <a:pt x="970509" y="109884"/>
                  </a:lnTo>
                  <a:lnTo>
                    <a:pt x="979424" y="93091"/>
                  </a:lnTo>
                  <a:lnTo>
                    <a:pt x="945769" y="75184"/>
                  </a:lnTo>
                  <a:close/>
                </a:path>
                <a:path w="1007745" h="1875154">
                  <a:moveTo>
                    <a:pt x="1007237" y="0"/>
                  </a:moveTo>
                  <a:lnTo>
                    <a:pt x="903224" y="74168"/>
                  </a:lnTo>
                  <a:lnTo>
                    <a:pt x="936838" y="92010"/>
                  </a:lnTo>
                  <a:lnTo>
                    <a:pt x="945769" y="75184"/>
                  </a:lnTo>
                  <a:lnTo>
                    <a:pt x="1005443" y="75184"/>
                  </a:lnTo>
                  <a:lnTo>
                    <a:pt x="1007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2235" y="3613378"/>
              <a:ext cx="1208544" cy="33225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440302" y="3725036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173" y="0"/>
                  </a:moveTo>
                  <a:lnTo>
                    <a:pt x="876300" y="38167"/>
                  </a:lnTo>
                  <a:lnTo>
                    <a:pt x="876310" y="41275"/>
                  </a:lnTo>
                  <a:lnTo>
                    <a:pt x="876427" y="76267"/>
                  </a:lnTo>
                  <a:lnTo>
                    <a:pt x="876554" y="114300"/>
                  </a:lnTo>
                  <a:lnTo>
                    <a:pt x="951947" y="76267"/>
                  </a:lnTo>
                  <a:lnTo>
                    <a:pt x="895477" y="76267"/>
                  </a:lnTo>
                  <a:lnTo>
                    <a:pt x="895360" y="41275"/>
                  </a:lnTo>
                  <a:lnTo>
                    <a:pt x="895350" y="38167"/>
                  </a:lnTo>
                  <a:lnTo>
                    <a:pt x="953105" y="38167"/>
                  </a:lnTo>
                  <a:lnTo>
                    <a:pt x="876173" y="0"/>
                  </a:lnTo>
                  <a:close/>
                </a:path>
                <a:path w="990600" h="114300">
                  <a:moveTo>
                    <a:pt x="876300" y="38167"/>
                  </a:moveTo>
                  <a:lnTo>
                    <a:pt x="0" y="41275"/>
                  </a:lnTo>
                  <a:lnTo>
                    <a:pt x="233" y="76267"/>
                  </a:lnTo>
                  <a:lnTo>
                    <a:pt x="254" y="79375"/>
                  </a:lnTo>
                  <a:lnTo>
                    <a:pt x="876427" y="76267"/>
                  </a:lnTo>
                  <a:lnTo>
                    <a:pt x="876310" y="41275"/>
                  </a:lnTo>
                  <a:lnTo>
                    <a:pt x="876300" y="38167"/>
                  </a:lnTo>
                  <a:close/>
                </a:path>
                <a:path w="990600" h="114300">
                  <a:moveTo>
                    <a:pt x="953105" y="38167"/>
                  </a:moveTo>
                  <a:lnTo>
                    <a:pt x="895350" y="38167"/>
                  </a:lnTo>
                  <a:lnTo>
                    <a:pt x="895360" y="41275"/>
                  </a:lnTo>
                  <a:lnTo>
                    <a:pt x="895477" y="76267"/>
                  </a:lnTo>
                  <a:lnTo>
                    <a:pt x="951947" y="76267"/>
                  </a:lnTo>
                  <a:lnTo>
                    <a:pt x="990600" y="56768"/>
                  </a:lnTo>
                  <a:lnTo>
                    <a:pt x="953105" y="38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471" y="3723144"/>
              <a:ext cx="1225308" cy="22951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23284" y="3776599"/>
              <a:ext cx="1010285" cy="2078989"/>
            </a:xfrm>
            <a:custGeom>
              <a:avLst/>
              <a:gdLst/>
              <a:ahLst/>
              <a:cxnLst/>
              <a:rect l="l" t="t" r="r" b="b"/>
              <a:pathLst>
                <a:path w="1010285" h="2078989">
                  <a:moveTo>
                    <a:pt x="941110" y="1983765"/>
                  </a:moveTo>
                  <a:lnTo>
                    <a:pt x="906779" y="2000186"/>
                  </a:lnTo>
                  <a:lnTo>
                    <a:pt x="1007617" y="2078634"/>
                  </a:lnTo>
                  <a:lnTo>
                    <a:pt x="1009008" y="2000935"/>
                  </a:lnTo>
                  <a:lnTo>
                    <a:pt x="949325" y="2000935"/>
                  </a:lnTo>
                  <a:lnTo>
                    <a:pt x="941110" y="1983765"/>
                  </a:lnTo>
                  <a:close/>
                </a:path>
                <a:path w="1010285" h="2078989">
                  <a:moveTo>
                    <a:pt x="975520" y="1967306"/>
                  </a:moveTo>
                  <a:lnTo>
                    <a:pt x="941110" y="1983765"/>
                  </a:lnTo>
                  <a:lnTo>
                    <a:pt x="949325" y="2000935"/>
                  </a:lnTo>
                  <a:lnTo>
                    <a:pt x="983741" y="1984489"/>
                  </a:lnTo>
                  <a:lnTo>
                    <a:pt x="975520" y="1967306"/>
                  </a:lnTo>
                  <a:close/>
                </a:path>
                <a:path w="1010285" h="2078989">
                  <a:moveTo>
                    <a:pt x="1009903" y="1950859"/>
                  </a:moveTo>
                  <a:lnTo>
                    <a:pt x="975520" y="1967306"/>
                  </a:lnTo>
                  <a:lnTo>
                    <a:pt x="983741" y="1984489"/>
                  </a:lnTo>
                  <a:lnTo>
                    <a:pt x="949325" y="2000935"/>
                  </a:lnTo>
                  <a:lnTo>
                    <a:pt x="1009008" y="2000935"/>
                  </a:lnTo>
                  <a:lnTo>
                    <a:pt x="1009903" y="1950859"/>
                  </a:lnTo>
                  <a:close/>
                </a:path>
                <a:path w="1010285" h="2078989">
                  <a:moveTo>
                    <a:pt x="34289" y="0"/>
                  </a:moveTo>
                  <a:lnTo>
                    <a:pt x="0" y="16510"/>
                  </a:lnTo>
                  <a:lnTo>
                    <a:pt x="941110" y="1983765"/>
                  </a:lnTo>
                  <a:lnTo>
                    <a:pt x="975520" y="1967306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158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&gt;50%</a:t>
            </a:r>
            <a:r>
              <a:rPr spc="-250" dirty="0"/>
              <a:t> </a:t>
            </a:r>
            <a:r>
              <a:rPr spc="-20" dirty="0"/>
              <a:t>data</a:t>
            </a:r>
            <a:r>
              <a:rPr spc="-250" dirty="0"/>
              <a:t> </a:t>
            </a:r>
            <a:r>
              <a:rPr spc="-10" dirty="0"/>
              <a:t>has</a:t>
            </a:r>
            <a:r>
              <a:rPr spc="-250" dirty="0"/>
              <a:t> </a:t>
            </a:r>
            <a:r>
              <a:rPr spc="-10"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592945" cy="20745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if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50%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missing?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doesn’t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make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sense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carry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analysis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20%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30%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  <a:p>
            <a:pPr marL="141605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whole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give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inferences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overall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best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imputation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ignore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actual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take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available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or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available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info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158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&gt;50%</a:t>
            </a:r>
            <a:r>
              <a:rPr spc="-250" dirty="0"/>
              <a:t> </a:t>
            </a:r>
            <a:r>
              <a:rPr spc="-20" dirty="0"/>
              <a:t>data</a:t>
            </a:r>
            <a:r>
              <a:rPr spc="-250" dirty="0"/>
              <a:t> </a:t>
            </a:r>
            <a:r>
              <a:rPr spc="-10" dirty="0"/>
              <a:t>has</a:t>
            </a:r>
            <a:r>
              <a:rPr spc="-250" dirty="0"/>
              <a:t> </a:t>
            </a:r>
            <a:r>
              <a:rPr spc="-10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5255" y="3413735"/>
            <a:ext cx="1716405" cy="737870"/>
            <a:chOff x="1795255" y="3413735"/>
            <a:chExt cx="1716405" cy="737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255" y="3413735"/>
              <a:ext cx="1716056" cy="7376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1620012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1620012" y="641604"/>
                  </a:lnTo>
                  <a:lnTo>
                    <a:pt x="1620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0" y="641604"/>
                  </a:moveTo>
                  <a:lnTo>
                    <a:pt x="1620012" y="641604"/>
                  </a:lnTo>
                  <a:lnTo>
                    <a:pt x="1620012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47645" y="3644900"/>
            <a:ext cx="76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5860" y="5483320"/>
            <a:ext cx="2924810" cy="786765"/>
            <a:chOff x="4405860" y="5483320"/>
            <a:chExt cx="2924810" cy="7867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5483320"/>
              <a:ext cx="2881931" cy="7391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7220" y="5497067"/>
              <a:ext cx="2903220" cy="7726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4507" y="5593791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0400" marR="5080" indent="-647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5471" y="1751076"/>
            <a:ext cx="1225550" cy="4267835"/>
            <a:chOff x="3395471" y="1751076"/>
            <a:chExt cx="1225550" cy="42678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5471" y="1751076"/>
              <a:ext cx="1225308" cy="20924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23665" y="1919478"/>
              <a:ext cx="1007744" cy="1875155"/>
            </a:xfrm>
            <a:custGeom>
              <a:avLst/>
              <a:gdLst/>
              <a:ahLst/>
              <a:cxnLst/>
              <a:rect l="l" t="t" r="r" b="b"/>
              <a:pathLst>
                <a:path w="1007745" h="1875154">
                  <a:moveTo>
                    <a:pt x="936838" y="92010"/>
                  </a:moveTo>
                  <a:lnTo>
                    <a:pt x="0" y="1857121"/>
                  </a:lnTo>
                  <a:lnTo>
                    <a:pt x="33528" y="1875028"/>
                  </a:lnTo>
                  <a:lnTo>
                    <a:pt x="970509" y="109884"/>
                  </a:lnTo>
                  <a:lnTo>
                    <a:pt x="936838" y="92010"/>
                  </a:lnTo>
                  <a:close/>
                </a:path>
                <a:path w="1007745" h="1875154">
                  <a:moveTo>
                    <a:pt x="1005443" y="75184"/>
                  </a:moveTo>
                  <a:lnTo>
                    <a:pt x="945769" y="75184"/>
                  </a:lnTo>
                  <a:lnTo>
                    <a:pt x="979424" y="93091"/>
                  </a:lnTo>
                  <a:lnTo>
                    <a:pt x="970509" y="109884"/>
                  </a:lnTo>
                  <a:lnTo>
                    <a:pt x="1004188" y="127762"/>
                  </a:lnTo>
                  <a:lnTo>
                    <a:pt x="1005443" y="75184"/>
                  </a:lnTo>
                  <a:close/>
                </a:path>
                <a:path w="1007745" h="1875154">
                  <a:moveTo>
                    <a:pt x="945769" y="75184"/>
                  </a:moveTo>
                  <a:lnTo>
                    <a:pt x="936838" y="92010"/>
                  </a:lnTo>
                  <a:lnTo>
                    <a:pt x="970509" y="109884"/>
                  </a:lnTo>
                  <a:lnTo>
                    <a:pt x="979424" y="93091"/>
                  </a:lnTo>
                  <a:lnTo>
                    <a:pt x="945769" y="75184"/>
                  </a:lnTo>
                  <a:close/>
                </a:path>
                <a:path w="1007745" h="1875154">
                  <a:moveTo>
                    <a:pt x="1007237" y="0"/>
                  </a:moveTo>
                  <a:lnTo>
                    <a:pt x="903224" y="74168"/>
                  </a:lnTo>
                  <a:lnTo>
                    <a:pt x="936838" y="92010"/>
                  </a:lnTo>
                  <a:lnTo>
                    <a:pt x="945769" y="75184"/>
                  </a:lnTo>
                  <a:lnTo>
                    <a:pt x="1005443" y="75184"/>
                  </a:lnTo>
                  <a:lnTo>
                    <a:pt x="1007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2235" y="3613378"/>
              <a:ext cx="1208544" cy="33225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440302" y="3725036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173" y="0"/>
                  </a:moveTo>
                  <a:lnTo>
                    <a:pt x="876300" y="38167"/>
                  </a:lnTo>
                  <a:lnTo>
                    <a:pt x="876310" y="41275"/>
                  </a:lnTo>
                  <a:lnTo>
                    <a:pt x="876427" y="76267"/>
                  </a:lnTo>
                  <a:lnTo>
                    <a:pt x="876554" y="114300"/>
                  </a:lnTo>
                  <a:lnTo>
                    <a:pt x="951947" y="76267"/>
                  </a:lnTo>
                  <a:lnTo>
                    <a:pt x="895477" y="76267"/>
                  </a:lnTo>
                  <a:lnTo>
                    <a:pt x="895360" y="41275"/>
                  </a:lnTo>
                  <a:lnTo>
                    <a:pt x="895350" y="38167"/>
                  </a:lnTo>
                  <a:lnTo>
                    <a:pt x="953105" y="38167"/>
                  </a:lnTo>
                  <a:lnTo>
                    <a:pt x="876173" y="0"/>
                  </a:lnTo>
                  <a:close/>
                </a:path>
                <a:path w="990600" h="114300">
                  <a:moveTo>
                    <a:pt x="876300" y="38167"/>
                  </a:moveTo>
                  <a:lnTo>
                    <a:pt x="0" y="41275"/>
                  </a:lnTo>
                  <a:lnTo>
                    <a:pt x="233" y="76267"/>
                  </a:lnTo>
                  <a:lnTo>
                    <a:pt x="254" y="79375"/>
                  </a:lnTo>
                  <a:lnTo>
                    <a:pt x="876427" y="76267"/>
                  </a:lnTo>
                  <a:lnTo>
                    <a:pt x="876310" y="41275"/>
                  </a:lnTo>
                  <a:lnTo>
                    <a:pt x="876300" y="38167"/>
                  </a:lnTo>
                  <a:close/>
                </a:path>
                <a:path w="990600" h="114300">
                  <a:moveTo>
                    <a:pt x="953105" y="38167"/>
                  </a:moveTo>
                  <a:lnTo>
                    <a:pt x="895350" y="38167"/>
                  </a:lnTo>
                  <a:lnTo>
                    <a:pt x="895360" y="41275"/>
                  </a:lnTo>
                  <a:lnTo>
                    <a:pt x="895477" y="76267"/>
                  </a:lnTo>
                  <a:lnTo>
                    <a:pt x="951947" y="76267"/>
                  </a:lnTo>
                  <a:lnTo>
                    <a:pt x="990600" y="56768"/>
                  </a:lnTo>
                  <a:lnTo>
                    <a:pt x="953105" y="38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471" y="3723144"/>
              <a:ext cx="1225308" cy="22951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23284" y="3776599"/>
              <a:ext cx="1010285" cy="2078989"/>
            </a:xfrm>
            <a:custGeom>
              <a:avLst/>
              <a:gdLst/>
              <a:ahLst/>
              <a:cxnLst/>
              <a:rect l="l" t="t" r="r" b="b"/>
              <a:pathLst>
                <a:path w="1010285" h="2078989">
                  <a:moveTo>
                    <a:pt x="941110" y="1983765"/>
                  </a:moveTo>
                  <a:lnTo>
                    <a:pt x="906779" y="2000186"/>
                  </a:lnTo>
                  <a:lnTo>
                    <a:pt x="1007617" y="2078634"/>
                  </a:lnTo>
                  <a:lnTo>
                    <a:pt x="1009008" y="2000935"/>
                  </a:lnTo>
                  <a:lnTo>
                    <a:pt x="949325" y="2000935"/>
                  </a:lnTo>
                  <a:lnTo>
                    <a:pt x="941110" y="1983765"/>
                  </a:lnTo>
                  <a:close/>
                </a:path>
                <a:path w="1010285" h="2078989">
                  <a:moveTo>
                    <a:pt x="975520" y="1967306"/>
                  </a:moveTo>
                  <a:lnTo>
                    <a:pt x="941110" y="1983765"/>
                  </a:lnTo>
                  <a:lnTo>
                    <a:pt x="949325" y="2000935"/>
                  </a:lnTo>
                  <a:lnTo>
                    <a:pt x="983741" y="1984489"/>
                  </a:lnTo>
                  <a:lnTo>
                    <a:pt x="975520" y="1967306"/>
                  </a:lnTo>
                  <a:close/>
                </a:path>
                <a:path w="1010285" h="2078989">
                  <a:moveTo>
                    <a:pt x="1009903" y="1950859"/>
                  </a:moveTo>
                  <a:lnTo>
                    <a:pt x="975520" y="1967306"/>
                  </a:lnTo>
                  <a:lnTo>
                    <a:pt x="983741" y="1984489"/>
                  </a:lnTo>
                  <a:lnTo>
                    <a:pt x="949325" y="2000935"/>
                  </a:lnTo>
                  <a:lnTo>
                    <a:pt x="1009008" y="2000935"/>
                  </a:lnTo>
                  <a:lnTo>
                    <a:pt x="1009903" y="1950859"/>
                  </a:lnTo>
                  <a:close/>
                </a:path>
                <a:path w="1010285" h="2078989">
                  <a:moveTo>
                    <a:pt x="34289" y="0"/>
                  </a:moveTo>
                  <a:lnTo>
                    <a:pt x="0" y="16510"/>
                  </a:lnTo>
                  <a:lnTo>
                    <a:pt x="941110" y="1983765"/>
                  </a:lnTo>
                  <a:lnTo>
                    <a:pt x="975520" y="1967306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262619" y="662305"/>
          <a:ext cx="1052195" cy="5915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Income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20" dirty="0">
                          <a:latin typeface="Trebuchet MS"/>
                          <a:cs typeface="Trebuchet MS"/>
                        </a:rPr>
                        <a:t>1500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20" dirty="0">
                          <a:latin typeface="Trebuchet MS"/>
                          <a:cs typeface="Trebuchet MS"/>
                        </a:rPr>
                        <a:t>2000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Trebuchet MS"/>
                          <a:cs typeface="Trebuchet MS"/>
                        </a:rPr>
                        <a:t>2500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3374044" y="1121698"/>
            <a:ext cx="5031105" cy="2103120"/>
            <a:chOff x="3374044" y="1121698"/>
            <a:chExt cx="5031105" cy="2103120"/>
          </a:xfrm>
        </p:grpSpPr>
        <p:sp>
          <p:nvSpPr>
            <p:cNvPr id="23" name="object 23"/>
            <p:cNvSpPr/>
            <p:nvPr/>
          </p:nvSpPr>
          <p:spPr>
            <a:xfrm>
              <a:off x="3393094" y="1140748"/>
              <a:ext cx="4993005" cy="2065020"/>
            </a:xfrm>
            <a:custGeom>
              <a:avLst/>
              <a:gdLst/>
              <a:ahLst/>
              <a:cxnLst/>
              <a:rect l="l" t="t" r="r" b="b"/>
              <a:pathLst>
                <a:path w="4993005" h="2065020">
                  <a:moveTo>
                    <a:pt x="1794307" y="43"/>
                  </a:moveTo>
                  <a:lnTo>
                    <a:pt x="1743080" y="0"/>
                  </a:lnTo>
                  <a:lnTo>
                    <a:pt x="1691908" y="822"/>
                  </a:lnTo>
                  <a:lnTo>
                    <a:pt x="1640827" y="2507"/>
                  </a:lnTo>
                  <a:lnTo>
                    <a:pt x="1589870" y="5051"/>
                  </a:lnTo>
                  <a:lnTo>
                    <a:pt x="1539071" y="8453"/>
                  </a:lnTo>
                  <a:lnTo>
                    <a:pt x="1488464" y="12708"/>
                  </a:lnTo>
                  <a:lnTo>
                    <a:pt x="1438083" y="17815"/>
                  </a:lnTo>
                  <a:lnTo>
                    <a:pt x="1387964" y="23770"/>
                  </a:lnTo>
                  <a:lnTo>
                    <a:pt x="1338139" y="30571"/>
                  </a:lnTo>
                  <a:lnTo>
                    <a:pt x="1288643" y="38214"/>
                  </a:lnTo>
                  <a:lnTo>
                    <a:pt x="1239510" y="46696"/>
                  </a:lnTo>
                  <a:lnTo>
                    <a:pt x="1190775" y="56016"/>
                  </a:lnTo>
                  <a:lnTo>
                    <a:pt x="1142471" y="66170"/>
                  </a:lnTo>
                  <a:lnTo>
                    <a:pt x="1094633" y="77154"/>
                  </a:lnTo>
                  <a:lnTo>
                    <a:pt x="1047295" y="88967"/>
                  </a:lnTo>
                  <a:lnTo>
                    <a:pt x="1000491" y="101606"/>
                  </a:lnTo>
                  <a:lnTo>
                    <a:pt x="954255" y="115066"/>
                  </a:lnTo>
                  <a:lnTo>
                    <a:pt x="908621" y="129347"/>
                  </a:lnTo>
                  <a:lnTo>
                    <a:pt x="863624" y="144444"/>
                  </a:lnTo>
                  <a:lnTo>
                    <a:pt x="819298" y="160355"/>
                  </a:lnTo>
                  <a:lnTo>
                    <a:pt x="775676" y="177077"/>
                  </a:lnTo>
                  <a:lnTo>
                    <a:pt x="732794" y="194608"/>
                  </a:lnTo>
                  <a:lnTo>
                    <a:pt x="690685" y="212944"/>
                  </a:lnTo>
                  <a:lnTo>
                    <a:pt x="649383" y="232082"/>
                  </a:lnTo>
                  <a:lnTo>
                    <a:pt x="608923" y="252019"/>
                  </a:lnTo>
                  <a:lnTo>
                    <a:pt x="569338" y="272754"/>
                  </a:lnTo>
                  <a:lnTo>
                    <a:pt x="530664" y="294282"/>
                  </a:lnTo>
                  <a:lnTo>
                    <a:pt x="492933" y="316601"/>
                  </a:lnTo>
                  <a:lnTo>
                    <a:pt x="456181" y="339709"/>
                  </a:lnTo>
                  <a:lnTo>
                    <a:pt x="420441" y="363601"/>
                  </a:lnTo>
                  <a:lnTo>
                    <a:pt x="385748" y="388276"/>
                  </a:lnTo>
                  <a:lnTo>
                    <a:pt x="352135" y="413731"/>
                  </a:lnTo>
                  <a:lnTo>
                    <a:pt x="313454" y="445141"/>
                  </a:lnTo>
                  <a:lnTo>
                    <a:pt x="277068" y="477108"/>
                  </a:lnTo>
                  <a:lnTo>
                    <a:pt x="242968" y="509596"/>
                  </a:lnTo>
                  <a:lnTo>
                    <a:pt x="211146" y="542570"/>
                  </a:lnTo>
                  <a:lnTo>
                    <a:pt x="181593" y="575996"/>
                  </a:lnTo>
                  <a:lnTo>
                    <a:pt x="154301" y="609838"/>
                  </a:lnTo>
                  <a:lnTo>
                    <a:pt x="129262" y="644062"/>
                  </a:lnTo>
                  <a:lnTo>
                    <a:pt x="106465" y="678632"/>
                  </a:lnTo>
                  <a:lnTo>
                    <a:pt x="85904" y="713513"/>
                  </a:lnTo>
                  <a:lnTo>
                    <a:pt x="67569" y="748671"/>
                  </a:lnTo>
                  <a:lnTo>
                    <a:pt x="51451" y="784071"/>
                  </a:lnTo>
                  <a:lnTo>
                    <a:pt x="37542" y="819677"/>
                  </a:lnTo>
                  <a:lnTo>
                    <a:pt x="16318" y="891370"/>
                  </a:lnTo>
                  <a:lnTo>
                    <a:pt x="3827" y="963469"/>
                  </a:lnTo>
                  <a:lnTo>
                    <a:pt x="0" y="1035696"/>
                  </a:lnTo>
                  <a:lnTo>
                    <a:pt x="1313" y="1071770"/>
                  </a:lnTo>
                  <a:lnTo>
                    <a:pt x="10353" y="1143664"/>
                  </a:lnTo>
                  <a:lnTo>
                    <a:pt x="27885" y="1214986"/>
                  </a:lnTo>
                  <a:lnTo>
                    <a:pt x="53840" y="1285456"/>
                  </a:lnTo>
                  <a:lnTo>
                    <a:pt x="69955" y="1320285"/>
                  </a:lnTo>
                  <a:lnTo>
                    <a:pt x="88149" y="1354796"/>
                  </a:lnTo>
                  <a:lnTo>
                    <a:pt x="108415" y="1388954"/>
                  </a:lnTo>
                  <a:lnTo>
                    <a:pt x="130744" y="1422724"/>
                  </a:lnTo>
                  <a:lnTo>
                    <a:pt x="155127" y="1456072"/>
                  </a:lnTo>
                  <a:lnTo>
                    <a:pt x="181555" y="1488962"/>
                  </a:lnTo>
                  <a:lnTo>
                    <a:pt x="210021" y="1521360"/>
                  </a:lnTo>
                  <a:lnTo>
                    <a:pt x="240514" y="1553230"/>
                  </a:lnTo>
                  <a:lnTo>
                    <a:pt x="273028" y="1584538"/>
                  </a:lnTo>
                  <a:lnTo>
                    <a:pt x="307552" y="1615249"/>
                  </a:lnTo>
                  <a:lnTo>
                    <a:pt x="344079" y="1645327"/>
                  </a:lnTo>
                  <a:lnTo>
                    <a:pt x="382600" y="1674737"/>
                  </a:lnTo>
                  <a:lnTo>
                    <a:pt x="423107" y="1703446"/>
                  </a:lnTo>
                  <a:lnTo>
                    <a:pt x="465590" y="1731417"/>
                  </a:lnTo>
                  <a:lnTo>
                    <a:pt x="510041" y="1758616"/>
                  </a:lnTo>
                  <a:lnTo>
                    <a:pt x="556452" y="1785008"/>
                  </a:lnTo>
                  <a:lnTo>
                    <a:pt x="604813" y="1810557"/>
                  </a:lnTo>
                  <a:lnTo>
                    <a:pt x="655117" y="1835230"/>
                  </a:lnTo>
                  <a:lnTo>
                    <a:pt x="707354" y="1858991"/>
                  </a:lnTo>
                  <a:lnTo>
                    <a:pt x="751857" y="1877872"/>
                  </a:lnTo>
                  <a:lnTo>
                    <a:pt x="797021" y="1895827"/>
                  </a:lnTo>
                  <a:lnTo>
                    <a:pt x="842813" y="1912859"/>
                  </a:lnTo>
                  <a:lnTo>
                    <a:pt x="889199" y="1928972"/>
                  </a:lnTo>
                  <a:lnTo>
                    <a:pt x="936144" y="1944167"/>
                  </a:lnTo>
                  <a:lnTo>
                    <a:pt x="983614" y="1958448"/>
                  </a:lnTo>
                  <a:lnTo>
                    <a:pt x="1031575" y="1971818"/>
                  </a:lnTo>
                  <a:lnTo>
                    <a:pt x="1079994" y="1984279"/>
                  </a:lnTo>
                  <a:lnTo>
                    <a:pt x="1128835" y="1995835"/>
                  </a:lnTo>
                  <a:lnTo>
                    <a:pt x="1178064" y="2006488"/>
                  </a:lnTo>
                  <a:lnTo>
                    <a:pt x="1227648" y="2016241"/>
                  </a:lnTo>
                  <a:lnTo>
                    <a:pt x="1277552" y="2025097"/>
                  </a:lnTo>
                  <a:lnTo>
                    <a:pt x="1327742" y="2033058"/>
                  </a:lnTo>
                  <a:lnTo>
                    <a:pt x="1378184" y="2040129"/>
                  </a:lnTo>
                  <a:lnTo>
                    <a:pt x="1428844" y="2046311"/>
                  </a:lnTo>
                  <a:lnTo>
                    <a:pt x="1479687" y="2051607"/>
                  </a:lnTo>
                  <a:lnTo>
                    <a:pt x="1530680" y="2056021"/>
                  </a:lnTo>
                  <a:lnTo>
                    <a:pt x="1581787" y="2059555"/>
                  </a:lnTo>
                  <a:lnTo>
                    <a:pt x="1632976" y="2062212"/>
                  </a:lnTo>
                  <a:lnTo>
                    <a:pt x="1684212" y="2063995"/>
                  </a:lnTo>
                  <a:lnTo>
                    <a:pt x="1735460" y="2064907"/>
                  </a:lnTo>
                  <a:lnTo>
                    <a:pt x="1786687" y="2064950"/>
                  </a:lnTo>
                  <a:lnTo>
                    <a:pt x="1837858" y="2064128"/>
                  </a:lnTo>
                  <a:lnTo>
                    <a:pt x="1888940" y="2062443"/>
                  </a:lnTo>
                  <a:lnTo>
                    <a:pt x="1939897" y="2059898"/>
                  </a:lnTo>
                  <a:lnTo>
                    <a:pt x="1990696" y="2056497"/>
                  </a:lnTo>
                  <a:lnTo>
                    <a:pt x="2041303" y="2052241"/>
                  </a:lnTo>
                  <a:lnTo>
                    <a:pt x="2091684" y="2047134"/>
                  </a:lnTo>
                  <a:lnTo>
                    <a:pt x="2141803" y="2041179"/>
                  </a:lnTo>
                  <a:lnTo>
                    <a:pt x="2191628" y="2034379"/>
                  </a:lnTo>
                  <a:lnTo>
                    <a:pt x="2241124" y="2026736"/>
                  </a:lnTo>
                  <a:lnTo>
                    <a:pt x="2290257" y="2018253"/>
                  </a:lnTo>
                  <a:lnTo>
                    <a:pt x="2338992" y="2008933"/>
                  </a:lnTo>
                  <a:lnTo>
                    <a:pt x="2387296" y="1998780"/>
                  </a:lnTo>
                  <a:lnTo>
                    <a:pt x="2435134" y="1987795"/>
                  </a:lnTo>
                  <a:lnTo>
                    <a:pt x="2482472" y="1975982"/>
                  </a:lnTo>
                  <a:lnTo>
                    <a:pt x="2529276" y="1963344"/>
                  </a:lnTo>
                  <a:lnTo>
                    <a:pt x="2575512" y="1949883"/>
                  </a:lnTo>
                  <a:lnTo>
                    <a:pt x="2621146" y="1935603"/>
                  </a:lnTo>
                  <a:lnTo>
                    <a:pt x="2666143" y="1920505"/>
                  </a:lnTo>
                  <a:lnTo>
                    <a:pt x="2710469" y="1904594"/>
                  </a:lnTo>
                  <a:lnTo>
                    <a:pt x="2754090" y="1887872"/>
                  </a:lnTo>
                  <a:lnTo>
                    <a:pt x="2796973" y="1870342"/>
                  </a:lnTo>
                  <a:lnTo>
                    <a:pt x="2839082" y="1852006"/>
                  </a:lnTo>
                  <a:lnTo>
                    <a:pt x="2880384" y="1832868"/>
                  </a:lnTo>
                  <a:lnTo>
                    <a:pt x="2920844" y="1812930"/>
                  </a:lnTo>
                  <a:lnTo>
                    <a:pt x="2960428" y="1792196"/>
                  </a:lnTo>
                  <a:lnTo>
                    <a:pt x="2999103" y="1770667"/>
                  </a:lnTo>
                  <a:lnTo>
                    <a:pt x="3036834" y="1748348"/>
                  </a:lnTo>
                  <a:lnTo>
                    <a:pt x="3073586" y="1725241"/>
                  </a:lnTo>
                  <a:lnTo>
                    <a:pt x="3109326" y="1701348"/>
                  </a:lnTo>
                  <a:lnTo>
                    <a:pt x="3144019" y="1676673"/>
                  </a:lnTo>
                  <a:lnTo>
                    <a:pt x="3177631" y="1651219"/>
                  </a:lnTo>
                  <a:lnTo>
                    <a:pt x="4992461" y="1945986"/>
                  </a:lnTo>
                  <a:lnTo>
                    <a:pt x="3471001" y="1296508"/>
                  </a:lnTo>
                  <a:lnTo>
                    <a:pt x="3487438" y="1257060"/>
                  </a:lnTo>
                  <a:lnTo>
                    <a:pt x="3501148" y="1217500"/>
                  </a:lnTo>
                  <a:lnTo>
                    <a:pt x="3512156" y="1177869"/>
                  </a:lnTo>
                  <a:lnTo>
                    <a:pt x="3520485" y="1138208"/>
                  </a:lnTo>
                  <a:lnTo>
                    <a:pt x="3526161" y="1098559"/>
                  </a:lnTo>
                  <a:lnTo>
                    <a:pt x="3529208" y="1058961"/>
                  </a:lnTo>
                  <a:lnTo>
                    <a:pt x="3529650" y="1019456"/>
                  </a:lnTo>
                  <a:lnTo>
                    <a:pt x="3527511" y="980086"/>
                  </a:lnTo>
                  <a:lnTo>
                    <a:pt x="3522817" y="940891"/>
                  </a:lnTo>
                  <a:lnTo>
                    <a:pt x="3515591" y="901912"/>
                  </a:lnTo>
                  <a:lnTo>
                    <a:pt x="3505859" y="863190"/>
                  </a:lnTo>
                  <a:lnTo>
                    <a:pt x="3493644" y="824767"/>
                  </a:lnTo>
                  <a:lnTo>
                    <a:pt x="3478971" y="786683"/>
                  </a:lnTo>
                  <a:lnTo>
                    <a:pt x="3461864" y="748979"/>
                  </a:lnTo>
                  <a:lnTo>
                    <a:pt x="3442349" y="711696"/>
                  </a:lnTo>
                  <a:lnTo>
                    <a:pt x="3420448" y="674876"/>
                  </a:lnTo>
                  <a:lnTo>
                    <a:pt x="3396188" y="638560"/>
                  </a:lnTo>
                  <a:lnTo>
                    <a:pt x="3369591" y="602787"/>
                  </a:lnTo>
                  <a:lnTo>
                    <a:pt x="3340684" y="567601"/>
                  </a:lnTo>
                  <a:lnTo>
                    <a:pt x="3309489" y="533040"/>
                  </a:lnTo>
                  <a:lnTo>
                    <a:pt x="3276033" y="499147"/>
                  </a:lnTo>
                  <a:lnTo>
                    <a:pt x="3240338" y="465963"/>
                  </a:lnTo>
                  <a:lnTo>
                    <a:pt x="3202430" y="433528"/>
                  </a:lnTo>
                  <a:lnTo>
                    <a:pt x="3162332" y="401884"/>
                  </a:lnTo>
                  <a:lnTo>
                    <a:pt x="3120070" y="371072"/>
                  </a:lnTo>
                  <a:lnTo>
                    <a:pt x="3075668" y="341132"/>
                  </a:lnTo>
                  <a:lnTo>
                    <a:pt x="3029151" y="312106"/>
                  </a:lnTo>
                  <a:lnTo>
                    <a:pt x="2980542" y="284035"/>
                  </a:lnTo>
                  <a:lnTo>
                    <a:pt x="2929866" y="256959"/>
                  </a:lnTo>
                  <a:lnTo>
                    <a:pt x="2877148" y="230920"/>
                  </a:lnTo>
                  <a:lnTo>
                    <a:pt x="2822412" y="205959"/>
                  </a:lnTo>
                  <a:lnTo>
                    <a:pt x="2777910" y="187078"/>
                  </a:lnTo>
                  <a:lnTo>
                    <a:pt x="2732746" y="169123"/>
                  </a:lnTo>
                  <a:lnTo>
                    <a:pt x="2686954" y="152090"/>
                  </a:lnTo>
                  <a:lnTo>
                    <a:pt x="2640568" y="135978"/>
                  </a:lnTo>
                  <a:lnTo>
                    <a:pt x="2593623" y="120782"/>
                  </a:lnTo>
                  <a:lnTo>
                    <a:pt x="2546153" y="106501"/>
                  </a:lnTo>
                  <a:lnTo>
                    <a:pt x="2498191" y="93131"/>
                  </a:lnTo>
                  <a:lnTo>
                    <a:pt x="2449773" y="80670"/>
                  </a:lnTo>
                  <a:lnTo>
                    <a:pt x="2400932" y="69115"/>
                  </a:lnTo>
                  <a:lnTo>
                    <a:pt x="2351703" y="58462"/>
                  </a:lnTo>
                  <a:lnTo>
                    <a:pt x="2302119" y="48709"/>
                  </a:lnTo>
                  <a:lnTo>
                    <a:pt x="2252215" y="39853"/>
                  </a:lnTo>
                  <a:lnTo>
                    <a:pt x="2202025" y="31891"/>
                  </a:lnTo>
                  <a:lnTo>
                    <a:pt x="2151583" y="24821"/>
                  </a:lnTo>
                  <a:lnTo>
                    <a:pt x="2100923" y="18638"/>
                  </a:lnTo>
                  <a:lnTo>
                    <a:pt x="2050080" y="13342"/>
                  </a:lnTo>
                  <a:lnTo>
                    <a:pt x="1999087" y="8928"/>
                  </a:lnTo>
                  <a:lnTo>
                    <a:pt x="1947979" y="5394"/>
                  </a:lnTo>
                  <a:lnTo>
                    <a:pt x="1896791" y="2737"/>
                  </a:lnTo>
                  <a:lnTo>
                    <a:pt x="1845555" y="954"/>
                  </a:lnTo>
                  <a:lnTo>
                    <a:pt x="1794307" y="43"/>
                  </a:lnTo>
                  <a:close/>
                </a:path>
              </a:pathLst>
            </a:custGeom>
            <a:solidFill>
              <a:srgbClr val="5ECC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93094" y="1140748"/>
              <a:ext cx="4993005" cy="2065020"/>
            </a:xfrm>
            <a:custGeom>
              <a:avLst/>
              <a:gdLst/>
              <a:ahLst/>
              <a:cxnLst/>
              <a:rect l="l" t="t" r="r" b="b"/>
              <a:pathLst>
                <a:path w="4993005" h="2065020">
                  <a:moveTo>
                    <a:pt x="4992461" y="1945986"/>
                  </a:moveTo>
                  <a:lnTo>
                    <a:pt x="3177631" y="1651219"/>
                  </a:lnTo>
                  <a:lnTo>
                    <a:pt x="3144019" y="1676673"/>
                  </a:lnTo>
                  <a:lnTo>
                    <a:pt x="3109326" y="1701348"/>
                  </a:lnTo>
                  <a:lnTo>
                    <a:pt x="3073586" y="1725241"/>
                  </a:lnTo>
                  <a:lnTo>
                    <a:pt x="3036834" y="1748348"/>
                  </a:lnTo>
                  <a:lnTo>
                    <a:pt x="2999103" y="1770667"/>
                  </a:lnTo>
                  <a:lnTo>
                    <a:pt x="2960428" y="1792196"/>
                  </a:lnTo>
                  <a:lnTo>
                    <a:pt x="2920844" y="1812930"/>
                  </a:lnTo>
                  <a:lnTo>
                    <a:pt x="2880384" y="1832868"/>
                  </a:lnTo>
                  <a:lnTo>
                    <a:pt x="2839082" y="1852006"/>
                  </a:lnTo>
                  <a:lnTo>
                    <a:pt x="2796973" y="1870342"/>
                  </a:lnTo>
                  <a:lnTo>
                    <a:pt x="2754090" y="1887872"/>
                  </a:lnTo>
                  <a:lnTo>
                    <a:pt x="2710469" y="1904594"/>
                  </a:lnTo>
                  <a:lnTo>
                    <a:pt x="2666143" y="1920505"/>
                  </a:lnTo>
                  <a:lnTo>
                    <a:pt x="2621146" y="1935603"/>
                  </a:lnTo>
                  <a:lnTo>
                    <a:pt x="2575512" y="1949883"/>
                  </a:lnTo>
                  <a:lnTo>
                    <a:pt x="2529276" y="1963344"/>
                  </a:lnTo>
                  <a:lnTo>
                    <a:pt x="2482472" y="1975982"/>
                  </a:lnTo>
                  <a:lnTo>
                    <a:pt x="2435134" y="1987795"/>
                  </a:lnTo>
                  <a:lnTo>
                    <a:pt x="2387296" y="1998780"/>
                  </a:lnTo>
                  <a:lnTo>
                    <a:pt x="2338992" y="2008933"/>
                  </a:lnTo>
                  <a:lnTo>
                    <a:pt x="2290257" y="2018253"/>
                  </a:lnTo>
                  <a:lnTo>
                    <a:pt x="2241124" y="2026736"/>
                  </a:lnTo>
                  <a:lnTo>
                    <a:pt x="2191628" y="2034379"/>
                  </a:lnTo>
                  <a:lnTo>
                    <a:pt x="2141803" y="2041179"/>
                  </a:lnTo>
                  <a:lnTo>
                    <a:pt x="2091684" y="2047134"/>
                  </a:lnTo>
                  <a:lnTo>
                    <a:pt x="2041303" y="2052241"/>
                  </a:lnTo>
                  <a:lnTo>
                    <a:pt x="1990696" y="2056497"/>
                  </a:lnTo>
                  <a:lnTo>
                    <a:pt x="1939897" y="2059898"/>
                  </a:lnTo>
                  <a:lnTo>
                    <a:pt x="1888940" y="2062443"/>
                  </a:lnTo>
                  <a:lnTo>
                    <a:pt x="1837858" y="2064128"/>
                  </a:lnTo>
                  <a:lnTo>
                    <a:pt x="1786687" y="2064950"/>
                  </a:lnTo>
                  <a:lnTo>
                    <a:pt x="1735460" y="2064907"/>
                  </a:lnTo>
                  <a:lnTo>
                    <a:pt x="1684212" y="2063995"/>
                  </a:lnTo>
                  <a:lnTo>
                    <a:pt x="1632976" y="2062212"/>
                  </a:lnTo>
                  <a:lnTo>
                    <a:pt x="1581787" y="2059555"/>
                  </a:lnTo>
                  <a:lnTo>
                    <a:pt x="1530680" y="2056021"/>
                  </a:lnTo>
                  <a:lnTo>
                    <a:pt x="1479687" y="2051607"/>
                  </a:lnTo>
                  <a:lnTo>
                    <a:pt x="1428844" y="2046311"/>
                  </a:lnTo>
                  <a:lnTo>
                    <a:pt x="1378184" y="2040129"/>
                  </a:lnTo>
                  <a:lnTo>
                    <a:pt x="1327742" y="2033058"/>
                  </a:lnTo>
                  <a:lnTo>
                    <a:pt x="1277552" y="2025097"/>
                  </a:lnTo>
                  <a:lnTo>
                    <a:pt x="1227648" y="2016241"/>
                  </a:lnTo>
                  <a:lnTo>
                    <a:pt x="1178064" y="2006488"/>
                  </a:lnTo>
                  <a:lnTo>
                    <a:pt x="1128835" y="1995835"/>
                  </a:lnTo>
                  <a:lnTo>
                    <a:pt x="1079994" y="1984279"/>
                  </a:lnTo>
                  <a:lnTo>
                    <a:pt x="1031575" y="1971818"/>
                  </a:lnTo>
                  <a:lnTo>
                    <a:pt x="983614" y="1958448"/>
                  </a:lnTo>
                  <a:lnTo>
                    <a:pt x="936144" y="1944167"/>
                  </a:lnTo>
                  <a:lnTo>
                    <a:pt x="889199" y="1928972"/>
                  </a:lnTo>
                  <a:lnTo>
                    <a:pt x="842813" y="1912859"/>
                  </a:lnTo>
                  <a:lnTo>
                    <a:pt x="797021" y="1895827"/>
                  </a:lnTo>
                  <a:lnTo>
                    <a:pt x="751857" y="1877872"/>
                  </a:lnTo>
                  <a:lnTo>
                    <a:pt x="707354" y="1858991"/>
                  </a:lnTo>
                  <a:lnTo>
                    <a:pt x="655117" y="1835230"/>
                  </a:lnTo>
                  <a:lnTo>
                    <a:pt x="604813" y="1810557"/>
                  </a:lnTo>
                  <a:lnTo>
                    <a:pt x="556452" y="1785008"/>
                  </a:lnTo>
                  <a:lnTo>
                    <a:pt x="510041" y="1758616"/>
                  </a:lnTo>
                  <a:lnTo>
                    <a:pt x="465590" y="1731417"/>
                  </a:lnTo>
                  <a:lnTo>
                    <a:pt x="423107" y="1703446"/>
                  </a:lnTo>
                  <a:lnTo>
                    <a:pt x="382600" y="1674737"/>
                  </a:lnTo>
                  <a:lnTo>
                    <a:pt x="344079" y="1645327"/>
                  </a:lnTo>
                  <a:lnTo>
                    <a:pt x="307552" y="1615249"/>
                  </a:lnTo>
                  <a:lnTo>
                    <a:pt x="273028" y="1584538"/>
                  </a:lnTo>
                  <a:lnTo>
                    <a:pt x="240514" y="1553230"/>
                  </a:lnTo>
                  <a:lnTo>
                    <a:pt x="210021" y="1521360"/>
                  </a:lnTo>
                  <a:lnTo>
                    <a:pt x="181555" y="1488962"/>
                  </a:lnTo>
                  <a:lnTo>
                    <a:pt x="155127" y="1456072"/>
                  </a:lnTo>
                  <a:lnTo>
                    <a:pt x="130744" y="1422724"/>
                  </a:lnTo>
                  <a:lnTo>
                    <a:pt x="108415" y="1388954"/>
                  </a:lnTo>
                  <a:lnTo>
                    <a:pt x="88149" y="1354796"/>
                  </a:lnTo>
                  <a:lnTo>
                    <a:pt x="69955" y="1320285"/>
                  </a:lnTo>
                  <a:lnTo>
                    <a:pt x="53840" y="1285456"/>
                  </a:lnTo>
                  <a:lnTo>
                    <a:pt x="27885" y="1214986"/>
                  </a:lnTo>
                  <a:lnTo>
                    <a:pt x="10353" y="1143664"/>
                  </a:lnTo>
                  <a:lnTo>
                    <a:pt x="1313" y="1071770"/>
                  </a:lnTo>
                  <a:lnTo>
                    <a:pt x="0" y="1035696"/>
                  </a:lnTo>
                  <a:lnTo>
                    <a:pt x="834" y="999584"/>
                  </a:lnTo>
                  <a:lnTo>
                    <a:pt x="8985" y="927386"/>
                  </a:lnTo>
                  <a:lnTo>
                    <a:pt x="25834" y="855455"/>
                  </a:lnTo>
                  <a:lnTo>
                    <a:pt x="51451" y="784071"/>
                  </a:lnTo>
                  <a:lnTo>
                    <a:pt x="67569" y="748671"/>
                  </a:lnTo>
                  <a:lnTo>
                    <a:pt x="85904" y="713513"/>
                  </a:lnTo>
                  <a:lnTo>
                    <a:pt x="106465" y="678632"/>
                  </a:lnTo>
                  <a:lnTo>
                    <a:pt x="129262" y="644062"/>
                  </a:lnTo>
                  <a:lnTo>
                    <a:pt x="154301" y="609838"/>
                  </a:lnTo>
                  <a:lnTo>
                    <a:pt x="181593" y="575996"/>
                  </a:lnTo>
                  <a:lnTo>
                    <a:pt x="211146" y="542570"/>
                  </a:lnTo>
                  <a:lnTo>
                    <a:pt x="242968" y="509596"/>
                  </a:lnTo>
                  <a:lnTo>
                    <a:pt x="277068" y="477108"/>
                  </a:lnTo>
                  <a:lnTo>
                    <a:pt x="313454" y="445141"/>
                  </a:lnTo>
                  <a:lnTo>
                    <a:pt x="352135" y="413731"/>
                  </a:lnTo>
                  <a:lnTo>
                    <a:pt x="385748" y="388276"/>
                  </a:lnTo>
                  <a:lnTo>
                    <a:pt x="420441" y="363601"/>
                  </a:lnTo>
                  <a:lnTo>
                    <a:pt x="456181" y="339709"/>
                  </a:lnTo>
                  <a:lnTo>
                    <a:pt x="492933" y="316601"/>
                  </a:lnTo>
                  <a:lnTo>
                    <a:pt x="530664" y="294282"/>
                  </a:lnTo>
                  <a:lnTo>
                    <a:pt x="569338" y="272754"/>
                  </a:lnTo>
                  <a:lnTo>
                    <a:pt x="608923" y="252019"/>
                  </a:lnTo>
                  <a:lnTo>
                    <a:pt x="649383" y="232082"/>
                  </a:lnTo>
                  <a:lnTo>
                    <a:pt x="690685" y="212944"/>
                  </a:lnTo>
                  <a:lnTo>
                    <a:pt x="732794" y="194608"/>
                  </a:lnTo>
                  <a:lnTo>
                    <a:pt x="775676" y="177077"/>
                  </a:lnTo>
                  <a:lnTo>
                    <a:pt x="819298" y="160355"/>
                  </a:lnTo>
                  <a:lnTo>
                    <a:pt x="863624" y="144444"/>
                  </a:lnTo>
                  <a:lnTo>
                    <a:pt x="908621" y="129347"/>
                  </a:lnTo>
                  <a:lnTo>
                    <a:pt x="954255" y="115066"/>
                  </a:lnTo>
                  <a:lnTo>
                    <a:pt x="1000491" y="101606"/>
                  </a:lnTo>
                  <a:lnTo>
                    <a:pt x="1047295" y="88967"/>
                  </a:lnTo>
                  <a:lnTo>
                    <a:pt x="1094633" y="77154"/>
                  </a:lnTo>
                  <a:lnTo>
                    <a:pt x="1142471" y="66170"/>
                  </a:lnTo>
                  <a:lnTo>
                    <a:pt x="1190775" y="56016"/>
                  </a:lnTo>
                  <a:lnTo>
                    <a:pt x="1239510" y="46696"/>
                  </a:lnTo>
                  <a:lnTo>
                    <a:pt x="1288643" y="38214"/>
                  </a:lnTo>
                  <a:lnTo>
                    <a:pt x="1338139" y="30571"/>
                  </a:lnTo>
                  <a:lnTo>
                    <a:pt x="1387964" y="23770"/>
                  </a:lnTo>
                  <a:lnTo>
                    <a:pt x="1438083" y="17815"/>
                  </a:lnTo>
                  <a:lnTo>
                    <a:pt x="1488464" y="12708"/>
                  </a:lnTo>
                  <a:lnTo>
                    <a:pt x="1539071" y="8453"/>
                  </a:lnTo>
                  <a:lnTo>
                    <a:pt x="1589870" y="5051"/>
                  </a:lnTo>
                  <a:lnTo>
                    <a:pt x="1640827" y="2507"/>
                  </a:lnTo>
                  <a:lnTo>
                    <a:pt x="1691908" y="822"/>
                  </a:lnTo>
                  <a:lnTo>
                    <a:pt x="1743080" y="0"/>
                  </a:lnTo>
                  <a:lnTo>
                    <a:pt x="1794307" y="43"/>
                  </a:lnTo>
                  <a:lnTo>
                    <a:pt x="1845555" y="954"/>
                  </a:lnTo>
                  <a:lnTo>
                    <a:pt x="1896791" y="2737"/>
                  </a:lnTo>
                  <a:lnTo>
                    <a:pt x="1947979" y="5394"/>
                  </a:lnTo>
                  <a:lnTo>
                    <a:pt x="1999087" y="8928"/>
                  </a:lnTo>
                  <a:lnTo>
                    <a:pt x="2050080" y="13342"/>
                  </a:lnTo>
                  <a:lnTo>
                    <a:pt x="2100923" y="18638"/>
                  </a:lnTo>
                  <a:lnTo>
                    <a:pt x="2151583" y="24821"/>
                  </a:lnTo>
                  <a:lnTo>
                    <a:pt x="2202025" y="31891"/>
                  </a:lnTo>
                  <a:lnTo>
                    <a:pt x="2252215" y="39853"/>
                  </a:lnTo>
                  <a:lnTo>
                    <a:pt x="2302119" y="48709"/>
                  </a:lnTo>
                  <a:lnTo>
                    <a:pt x="2351703" y="58462"/>
                  </a:lnTo>
                  <a:lnTo>
                    <a:pt x="2400932" y="69115"/>
                  </a:lnTo>
                  <a:lnTo>
                    <a:pt x="2449773" y="80670"/>
                  </a:lnTo>
                  <a:lnTo>
                    <a:pt x="2498191" y="93131"/>
                  </a:lnTo>
                  <a:lnTo>
                    <a:pt x="2546153" y="106501"/>
                  </a:lnTo>
                  <a:lnTo>
                    <a:pt x="2593623" y="120782"/>
                  </a:lnTo>
                  <a:lnTo>
                    <a:pt x="2640568" y="135978"/>
                  </a:lnTo>
                  <a:lnTo>
                    <a:pt x="2686954" y="152090"/>
                  </a:lnTo>
                  <a:lnTo>
                    <a:pt x="2732746" y="169123"/>
                  </a:lnTo>
                  <a:lnTo>
                    <a:pt x="2777910" y="187078"/>
                  </a:lnTo>
                  <a:lnTo>
                    <a:pt x="2822412" y="205959"/>
                  </a:lnTo>
                  <a:lnTo>
                    <a:pt x="2877148" y="230920"/>
                  </a:lnTo>
                  <a:lnTo>
                    <a:pt x="2929866" y="256959"/>
                  </a:lnTo>
                  <a:lnTo>
                    <a:pt x="2980542" y="284035"/>
                  </a:lnTo>
                  <a:lnTo>
                    <a:pt x="3029151" y="312106"/>
                  </a:lnTo>
                  <a:lnTo>
                    <a:pt x="3075668" y="341132"/>
                  </a:lnTo>
                  <a:lnTo>
                    <a:pt x="3120070" y="371072"/>
                  </a:lnTo>
                  <a:lnTo>
                    <a:pt x="3162332" y="401884"/>
                  </a:lnTo>
                  <a:lnTo>
                    <a:pt x="3202430" y="433528"/>
                  </a:lnTo>
                  <a:lnTo>
                    <a:pt x="3240338" y="465963"/>
                  </a:lnTo>
                  <a:lnTo>
                    <a:pt x="3276033" y="499147"/>
                  </a:lnTo>
                  <a:lnTo>
                    <a:pt x="3309489" y="533040"/>
                  </a:lnTo>
                  <a:lnTo>
                    <a:pt x="3340684" y="567601"/>
                  </a:lnTo>
                  <a:lnTo>
                    <a:pt x="3369591" y="602787"/>
                  </a:lnTo>
                  <a:lnTo>
                    <a:pt x="3396188" y="638560"/>
                  </a:lnTo>
                  <a:lnTo>
                    <a:pt x="3420448" y="674876"/>
                  </a:lnTo>
                  <a:lnTo>
                    <a:pt x="3442349" y="711696"/>
                  </a:lnTo>
                  <a:lnTo>
                    <a:pt x="3461864" y="748979"/>
                  </a:lnTo>
                  <a:lnTo>
                    <a:pt x="3478971" y="786683"/>
                  </a:lnTo>
                  <a:lnTo>
                    <a:pt x="3493644" y="824767"/>
                  </a:lnTo>
                  <a:lnTo>
                    <a:pt x="3505859" y="863190"/>
                  </a:lnTo>
                  <a:lnTo>
                    <a:pt x="3515591" y="901912"/>
                  </a:lnTo>
                  <a:lnTo>
                    <a:pt x="3522817" y="940891"/>
                  </a:lnTo>
                  <a:lnTo>
                    <a:pt x="3527511" y="980086"/>
                  </a:lnTo>
                  <a:lnTo>
                    <a:pt x="3529650" y="1019456"/>
                  </a:lnTo>
                  <a:lnTo>
                    <a:pt x="3529208" y="1058961"/>
                  </a:lnTo>
                  <a:lnTo>
                    <a:pt x="3526161" y="1098559"/>
                  </a:lnTo>
                  <a:lnTo>
                    <a:pt x="3520485" y="1138208"/>
                  </a:lnTo>
                  <a:lnTo>
                    <a:pt x="3512156" y="1177869"/>
                  </a:lnTo>
                  <a:lnTo>
                    <a:pt x="3501148" y="1217500"/>
                  </a:lnTo>
                  <a:lnTo>
                    <a:pt x="3487438" y="1257060"/>
                  </a:lnTo>
                  <a:lnTo>
                    <a:pt x="3471001" y="1296508"/>
                  </a:lnTo>
                  <a:lnTo>
                    <a:pt x="4992461" y="194598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46346" y="1468628"/>
            <a:ext cx="22218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Lot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data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missing, </a:t>
            </a:r>
            <a:r>
              <a:rPr sz="1800" dirty="0">
                <a:latin typeface="Trebuchet MS"/>
                <a:cs typeface="Trebuchet MS"/>
              </a:rPr>
              <a:t>This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true </a:t>
            </a:r>
            <a:r>
              <a:rPr sz="1800" dirty="0">
                <a:latin typeface="Trebuchet MS"/>
                <a:cs typeface="Trebuchet MS"/>
              </a:rPr>
              <a:t>representation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dirty="0">
                <a:latin typeface="Trebuchet MS"/>
                <a:cs typeface="Trebuchet MS"/>
              </a:rPr>
              <a:t>full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Ignore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such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columns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158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&gt;50%</a:t>
            </a:r>
            <a:r>
              <a:rPr spc="-250" dirty="0"/>
              <a:t> </a:t>
            </a:r>
            <a:r>
              <a:rPr spc="-20" dirty="0"/>
              <a:t>data</a:t>
            </a:r>
            <a:r>
              <a:rPr spc="-250" dirty="0"/>
              <a:t> </a:t>
            </a:r>
            <a:r>
              <a:rPr spc="-10" dirty="0"/>
              <a:t>has</a:t>
            </a:r>
            <a:r>
              <a:rPr spc="-250" dirty="0"/>
              <a:t> </a:t>
            </a:r>
            <a:r>
              <a:rPr spc="-10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5255" y="3413735"/>
            <a:ext cx="1716405" cy="737870"/>
            <a:chOff x="1795255" y="3413735"/>
            <a:chExt cx="1716405" cy="737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255" y="3413735"/>
              <a:ext cx="1716056" cy="7376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1620012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1620012" y="641604"/>
                  </a:lnTo>
                  <a:lnTo>
                    <a:pt x="1620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0" y="641604"/>
                  </a:moveTo>
                  <a:lnTo>
                    <a:pt x="1620012" y="641604"/>
                  </a:lnTo>
                  <a:lnTo>
                    <a:pt x="1620012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47645" y="3644900"/>
            <a:ext cx="76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5860" y="5483320"/>
            <a:ext cx="2924810" cy="786765"/>
            <a:chOff x="4405860" y="5483320"/>
            <a:chExt cx="2924810" cy="7867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5483320"/>
              <a:ext cx="2881931" cy="7391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7220" y="5497067"/>
              <a:ext cx="2903220" cy="7726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4507" y="5593791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0400" marR="5080" indent="-647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5471" y="1751076"/>
            <a:ext cx="1225550" cy="4267835"/>
            <a:chOff x="3395471" y="1751076"/>
            <a:chExt cx="1225550" cy="42678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5471" y="1751076"/>
              <a:ext cx="1225308" cy="20924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23665" y="1919478"/>
              <a:ext cx="1007744" cy="1875155"/>
            </a:xfrm>
            <a:custGeom>
              <a:avLst/>
              <a:gdLst/>
              <a:ahLst/>
              <a:cxnLst/>
              <a:rect l="l" t="t" r="r" b="b"/>
              <a:pathLst>
                <a:path w="1007745" h="1875154">
                  <a:moveTo>
                    <a:pt x="936838" y="92010"/>
                  </a:moveTo>
                  <a:lnTo>
                    <a:pt x="0" y="1857121"/>
                  </a:lnTo>
                  <a:lnTo>
                    <a:pt x="33528" y="1875028"/>
                  </a:lnTo>
                  <a:lnTo>
                    <a:pt x="970509" y="109884"/>
                  </a:lnTo>
                  <a:lnTo>
                    <a:pt x="936838" y="92010"/>
                  </a:lnTo>
                  <a:close/>
                </a:path>
                <a:path w="1007745" h="1875154">
                  <a:moveTo>
                    <a:pt x="1005443" y="75184"/>
                  </a:moveTo>
                  <a:lnTo>
                    <a:pt x="945769" y="75184"/>
                  </a:lnTo>
                  <a:lnTo>
                    <a:pt x="979424" y="93091"/>
                  </a:lnTo>
                  <a:lnTo>
                    <a:pt x="970509" y="109884"/>
                  </a:lnTo>
                  <a:lnTo>
                    <a:pt x="1004188" y="127762"/>
                  </a:lnTo>
                  <a:lnTo>
                    <a:pt x="1005443" y="75184"/>
                  </a:lnTo>
                  <a:close/>
                </a:path>
                <a:path w="1007745" h="1875154">
                  <a:moveTo>
                    <a:pt x="945769" y="75184"/>
                  </a:moveTo>
                  <a:lnTo>
                    <a:pt x="936838" y="92010"/>
                  </a:lnTo>
                  <a:lnTo>
                    <a:pt x="970509" y="109884"/>
                  </a:lnTo>
                  <a:lnTo>
                    <a:pt x="979424" y="93091"/>
                  </a:lnTo>
                  <a:lnTo>
                    <a:pt x="945769" y="75184"/>
                  </a:lnTo>
                  <a:close/>
                </a:path>
                <a:path w="1007745" h="1875154">
                  <a:moveTo>
                    <a:pt x="1007237" y="0"/>
                  </a:moveTo>
                  <a:lnTo>
                    <a:pt x="903224" y="74168"/>
                  </a:lnTo>
                  <a:lnTo>
                    <a:pt x="936838" y="92010"/>
                  </a:lnTo>
                  <a:lnTo>
                    <a:pt x="945769" y="75184"/>
                  </a:lnTo>
                  <a:lnTo>
                    <a:pt x="1005443" y="75184"/>
                  </a:lnTo>
                  <a:lnTo>
                    <a:pt x="1007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2235" y="3613378"/>
              <a:ext cx="1208544" cy="33225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440302" y="3725036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173" y="0"/>
                  </a:moveTo>
                  <a:lnTo>
                    <a:pt x="876300" y="38167"/>
                  </a:lnTo>
                  <a:lnTo>
                    <a:pt x="876310" y="41275"/>
                  </a:lnTo>
                  <a:lnTo>
                    <a:pt x="876427" y="76267"/>
                  </a:lnTo>
                  <a:lnTo>
                    <a:pt x="876554" y="114300"/>
                  </a:lnTo>
                  <a:lnTo>
                    <a:pt x="951947" y="76267"/>
                  </a:lnTo>
                  <a:lnTo>
                    <a:pt x="895477" y="76267"/>
                  </a:lnTo>
                  <a:lnTo>
                    <a:pt x="895360" y="41275"/>
                  </a:lnTo>
                  <a:lnTo>
                    <a:pt x="895350" y="38167"/>
                  </a:lnTo>
                  <a:lnTo>
                    <a:pt x="953105" y="38167"/>
                  </a:lnTo>
                  <a:lnTo>
                    <a:pt x="876173" y="0"/>
                  </a:lnTo>
                  <a:close/>
                </a:path>
                <a:path w="990600" h="114300">
                  <a:moveTo>
                    <a:pt x="876300" y="38167"/>
                  </a:moveTo>
                  <a:lnTo>
                    <a:pt x="0" y="41275"/>
                  </a:lnTo>
                  <a:lnTo>
                    <a:pt x="233" y="76267"/>
                  </a:lnTo>
                  <a:lnTo>
                    <a:pt x="254" y="79375"/>
                  </a:lnTo>
                  <a:lnTo>
                    <a:pt x="876427" y="76267"/>
                  </a:lnTo>
                  <a:lnTo>
                    <a:pt x="876310" y="41275"/>
                  </a:lnTo>
                  <a:lnTo>
                    <a:pt x="876300" y="38167"/>
                  </a:lnTo>
                  <a:close/>
                </a:path>
                <a:path w="990600" h="114300">
                  <a:moveTo>
                    <a:pt x="953105" y="38167"/>
                  </a:moveTo>
                  <a:lnTo>
                    <a:pt x="895350" y="38167"/>
                  </a:lnTo>
                  <a:lnTo>
                    <a:pt x="895360" y="41275"/>
                  </a:lnTo>
                  <a:lnTo>
                    <a:pt x="895477" y="76267"/>
                  </a:lnTo>
                  <a:lnTo>
                    <a:pt x="951947" y="76267"/>
                  </a:lnTo>
                  <a:lnTo>
                    <a:pt x="990600" y="56768"/>
                  </a:lnTo>
                  <a:lnTo>
                    <a:pt x="953105" y="38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471" y="3723144"/>
              <a:ext cx="1225308" cy="22951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23284" y="3776599"/>
              <a:ext cx="1010285" cy="2078989"/>
            </a:xfrm>
            <a:custGeom>
              <a:avLst/>
              <a:gdLst/>
              <a:ahLst/>
              <a:cxnLst/>
              <a:rect l="l" t="t" r="r" b="b"/>
              <a:pathLst>
                <a:path w="1010285" h="2078989">
                  <a:moveTo>
                    <a:pt x="941110" y="1983765"/>
                  </a:moveTo>
                  <a:lnTo>
                    <a:pt x="906779" y="2000186"/>
                  </a:lnTo>
                  <a:lnTo>
                    <a:pt x="1007617" y="2078634"/>
                  </a:lnTo>
                  <a:lnTo>
                    <a:pt x="1009008" y="2000935"/>
                  </a:lnTo>
                  <a:lnTo>
                    <a:pt x="949325" y="2000935"/>
                  </a:lnTo>
                  <a:lnTo>
                    <a:pt x="941110" y="1983765"/>
                  </a:lnTo>
                  <a:close/>
                </a:path>
                <a:path w="1010285" h="2078989">
                  <a:moveTo>
                    <a:pt x="975520" y="1967306"/>
                  </a:moveTo>
                  <a:lnTo>
                    <a:pt x="941110" y="1983765"/>
                  </a:lnTo>
                  <a:lnTo>
                    <a:pt x="949325" y="2000935"/>
                  </a:lnTo>
                  <a:lnTo>
                    <a:pt x="983741" y="1984489"/>
                  </a:lnTo>
                  <a:lnTo>
                    <a:pt x="975520" y="1967306"/>
                  </a:lnTo>
                  <a:close/>
                </a:path>
                <a:path w="1010285" h="2078989">
                  <a:moveTo>
                    <a:pt x="1009903" y="1950859"/>
                  </a:moveTo>
                  <a:lnTo>
                    <a:pt x="975520" y="1967306"/>
                  </a:lnTo>
                  <a:lnTo>
                    <a:pt x="983741" y="1984489"/>
                  </a:lnTo>
                  <a:lnTo>
                    <a:pt x="949325" y="2000935"/>
                  </a:lnTo>
                  <a:lnTo>
                    <a:pt x="1009008" y="2000935"/>
                  </a:lnTo>
                  <a:lnTo>
                    <a:pt x="1009903" y="1950859"/>
                  </a:lnTo>
                  <a:close/>
                </a:path>
                <a:path w="1010285" h="2078989">
                  <a:moveTo>
                    <a:pt x="34289" y="0"/>
                  </a:moveTo>
                  <a:lnTo>
                    <a:pt x="0" y="16510"/>
                  </a:lnTo>
                  <a:lnTo>
                    <a:pt x="941110" y="1983765"/>
                  </a:lnTo>
                  <a:lnTo>
                    <a:pt x="975520" y="1967306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321038" y="3802176"/>
            <a:ext cx="1052195" cy="1393190"/>
            <a:chOff x="9321038" y="3802176"/>
            <a:chExt cx="1052195" cy="1393190"/>
          </a:xfrm>
        </p:grpSpPr>
        <p:sp>
          <p:nvSpPr>
            <p:cNvPr id="22" name="object 22"/>
            <p:cNvSpPr/>
            <p:nvPr/>
          </p:nvSpPr>
          <p:spPr>
            <a:xfrm>
              <a:off x="9321038" y="3802176"/>
              <a:ext cx="1052195" cy="348615"/>
            </a:xfrm>
            <a:custGeom>
              <a:avLst/>
              <a:gdLst/>
              <a:ahLst/>
              <a:cxnLst/>
              <a:rect l="l" t="t" r="r" b="b"/>
              <a:pathLst>
                <a:path w="1052195" h="348614">
                  <a:moveTo>
                    <a:pt x="1052055" y="0"/>
                  </a:moveTo>
                  <a:lnTo>
                    <a:pt x="0" y="0"/>
                  </a:lnTo>
                  <a:lnTo>
                    <a:pt x="0" y="348183"/>
                  </a:lnTo>
                  <a:lnTo>
                    <a:pt x="1052055" y="348183"/>
                  </a:lnTo>
                  <a:lnTo>
                    <a:pt x="1052055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21038" y="4150410"/>
              <a:ext cx="1052195" cy="348615"/>
            </a:xfrm>
            <a:custGeom>
              <a:avLst/>
              <a:gdLst/>
              <a:ahLst/>
              <a:cxnLst/>
              <a:rect l="l" t="t" r="r" b="b"/>
              <a:pathLst>
                <a:path w="1052195" h="348614">
                  <a:moveTo>
                    <a:pt x="1052055" y="0"/>
                  </a:moveTo>
                  <a:lnTo>
                    <a:pt x="0" y="0"/>
                  </a:lnTo>
                  <a:lnTo>
                    <a:pt x="0" y="348183"/>
                  </a:lnTo>
                  <a:lnTo>
                    <a:pt x="1052055" y="348183"/>
                  </a:lnTo>
                  <a:lnTo>
                    <a:pt x="1052055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21038" y="4498517"/>
              <a:ext cx="1052195" cy="348615"/>
            </a:xfrm>
            <a:custGeom>
              <a:avLst/>
              <a:gdLst/>
              <a:ahLst/>
              <a:cxnLst/>
              <a:rect l="l" t="t" r="r" b="b"/>
              <a:pathLst>
                <a:path w="1052195" h="348614">
                  <a:moveTo>
                    <a:pt x="1052055" y="0"/>
                  </a:moveTo>
                  <a:lnTo>
                    <a:pt x="0" y="0"/>
                  </a:lnTo>
                  <a:lnTo>
                    <a:pt x="0" y="348183"/>
                  </a:lnTo>
                  <a:lnTo>
                    <a:pt x="1052055" y="348183"/>
                  </a:lnTo>
                  <a:lnTo>
                    <a:pt x="1052055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321038" y="4846751"/>
              <a:ext cx="1052195" cy="348615"/>
            </a:xfrm>
            <a:custGeom>
              <a:avLst/>
              <a:gdLst/>
              <a:ahLst/>
              <a:cxnLst/>
              <a:rect l="l" t="t" r="r" b="b"/>
              <a:pathLst>
                <a:path w="1052195" h="348614">
                  <a:moveTo>
                    <a:pt x="1052055" y="0"/>
                  </a:moveTo>
                  <a:lnTo>
                    <a:pt x="0" y="0"/>
                  </a:lnTo>
                  <a:lnTo>
                    <a:pt x="0" y="348183"/>
                  </a:lnTo>
                  <a:lnTo>
                    <a:pt x="1052055" y="348183"/>
                  </a:lnTo>
                  <a:lnTo>
                    <a:pt x="1052055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262619" y="662305"/>
          <a:ext cx="2104390" cy="5915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Income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Income_ind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20" dirty="0">
                          <a:latin typeface="Trebuchet MS"/>
                          <a:cs typeface="Trebuchet MS"/>
                        </a:rPr>
                        <a:t>1500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20" dirty="0">
                          <a:latin typeface="Trebuchet MS"/>
                          <a:cs typeface="Trebuchet MS"/>
                        </a:rPr>
                        <a:t>2000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Trebuchet MS"/>
                          <a:cs typeface="Trebuchet MS"/>
                        </a:rPr>
                        <a:t>2500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7" name="object 27"/>
          <p:cNvGrpSpPr/>
          <p:nvPr/>
        </p:nvGrpSpPr>
        <p:grpSpPr>
          <a:xfrm>
            <a:off x="9601707" y="3693921"/>
            <a:ext cx="2610485" cy="1567180"/>
            <a:chOff x="9601707" y="3693921"/>
            <a:chExt cx="2610485" cy="1567180"/>
          </a:xfrm>
        </p:grpSpPr>
        <p:sp>
          <p:nvSpPr>
            <p:cNvPr id="28" name="object 28"/>
            <p:cNvSpPr/>
            <p:nvPr/>
          </p:nvSpPr>
          <p:spPr>
            <a:xfrm>
              <a:off x="9620757" y="3712971"/>
              <a:ext cx="2572385" cy="1529080"/>
            </a:xfrm>
            <a:custGeom>
              <a:avLst/>
              <a:gdLst/>
              <a:ahLst/>
              <a:cxnLst/>
              <a:rect l="l" t="t" r="r" b="b"/>
              <a:pathLst>
                <a:path w="2572384" h="1529079">
                  <a:moveTo>
                    <a:pt x="0" y="0"/>
                  </a:moveTo>
                  <a:lnTo>
                    <a:pt x="688086" y="516508"/>
                  </a:lnTo>
                  <a:lnTo>
                    <a:pt x="664760" y="559509"/>
                  </a:lnTo>
                  <a:lnTo>
                    <a:pt x="645374" y="603121"/>
                  </a:lnTo>
                  <a:lnTo>
                    <a:pt x="629896" y="647213"/>
                  </a:lnTo>
                  <a:lnTo>
                    <a:pt x="618292" y="691656"/>
                  </a:lnTo>
                  <a:lnTo>
                    <a:pt x="610530" y="736319"/>
                  </a:lnTo>
                  <a:lnTo>
                    <a:pt x="606577" y="781073"/>
                  </a:lnTo>
                  <a:lnTo>
                    <a:pt x="606400" y="825787"/>
                  </a:lnTo>
                  <a:lnTo>
                    <a:pt x="609968" y="870331"/>
                  </a:lnTo>
                  <a:lnTo>
                    <a:pt x="617247" y="914576"/>
                  </a:lnTo>
                  <a:lnTo>
                    <a:pt x="628204" y="958391"/>
                  </a:lnTo>
                  <a:lnTo>
                    <a:pt x="642808" y="1001645"/>
                  </a:lnTo>
                  <a:lnTo>
                    <a:pt x="661024" y="1044210"/>
                  </a:lnTo>
                  <a:lnTo>
                    <a:pt x="682821" y="1085954"/>
                  </a:lnTo>
                  <a:lnTo>
                    <a:pt x="708166" y="1126748"/>
                  </a:lnTo>
                  <a:lnTo>
                    <a:pt x="737027" y="1166461"/>
                  </a:lnTo>
                  <a:lnTo>
                    <a:pt x="769370" y="1204964"/>
                  </a:lnTo>
                  <a:lnTo>
                    <a:pt x="805163" y="1242127"/>
                  </a:lnTo>
                  <a:lnTo>
                    <a:pt x="844373" y="1277818"/>
                  </a:lnTo>
                  <a:lnTo>
                    <a:pt x="886968" y="1311909"/>
                  </a:lnTo>
                  <a:lnTo>
                    <a:pt x="924481" y="1338626"/>
                  </a:lnTo>
                  <a:lnTo>
                    <a:pt x="963412" y="1363590"/>
                  </a:lnTo>
                  <a:lnTo>
                    <a:pt x="1003665" y="1386803"/>
                  </a:lnTo>
                  <a:lnTo>
                    <a:pt x="1045143" y="1408262"/>
                  </a:lnTo>
                  <a:lnTo>
                    <a:pt x="1087750" y="1427968"/>
                  </a:lnTo>
                  <a:lnTo>
                    <a:pt x="1131390" y="1445919"/>
                  </a:lnTo>
                  <a:lnTo>
                    <a:pt x="1175968" y="1462114"/>
                  </a:lnTo>
                  <a:lnTo>
                    <a:pt x="1221387" y="1476553"/>
                  </a:lnTo>
                  <a:lnTo>
                    <a:pt x="1267550" y="1489236"/>
                  </a:lnTo>
                  <a:lnTo>
                    <a:pt x="1314362" y="1500161"/>
                  </a:lnTo>
                  <a:lnTo>
                    <a:pt x="1361727" y="1509327"/>
                  </a:lnTo>
                  <a:lnTo>
                    <a:pt x="1409549" y="1516734"/>
                  </a:lnTo>
                  <a:lnTo>
                    <a:pt x="1457731" y="1522381"/>
                  </a:lnTo>
                  <a:lnTo>
                    <a:pt x="1506178" y="1526267"/>
                  </a:lnTo>
                  <a:lnTo>
                    <a:pt x="1554793" y="1528392"/>
                  </a:lnTo>
                  <a:lnTo>
                    <a:pt x="1603480" y="1528755"/>
                  </a:lnTo>
                  <a:lnTo>
                    <a:pt x="1652143" y="1527354"/>
                  </a:lnTo>
                  <a:lnTo>
                    <a:pt x="1700687" y="1524190"/>
                  </a:lnTo>
                  <a:lnTo>
                    <a:pt x="1749014" y="1519261"/>
                  </a:lnTo>
                  <a:lnTo>
                    <a:pt x="1797029" y="1512567"/>
                  </a:lnTo>
                  <a:lnTo>
                    <a:pt x="1844636" y="1504106"/>
                  </a:lnTo>
                  <a:lnTo>
                    <a:pt x="1891739" y="1493879"/>
                  </a:lnTo>
                  <a:lnTo>
                    <a:pt x="1938241" y="1481884"/>
                  </a:lnTo>
                  <a:lnTo>
                    <a:pt x="1984046" y="1468121"/>
                  </a:lnTo>
                  <a:lnTo>
                    <a:pt x="2029059" y="1452588"/>
                  </a:lnTo>
                  <a:lnTo>
                    <a:pt x="2073183" y="1435285"/>
                  </a:lnTo>
                  <a:lnTo>
                    <a:pt x="2116323" y="1416212"/>
                  </a:lnTo>
                  <a:lnTo>
                    <a:pt x="2158381" y="1395367"/>
                  </a:lnTo>
                  <a:lnTo>
                    <a:pt x="2199262" y="1372750"/>
                  </a:lnTo>
                  <a:lnTo>
                    <a:pt x="2238870" y="1348360"/>
                  </a:lnTo>
                  <a:lnTo>
                    <a:pt x="2277110" y="1322196"/>
                  </a:lnTo>
                  <a:lnTo>
                    <a:pt x="2317192" y="1291568"/>
                  </a:lnTo>
                  <a:lnTo>
                    <a:pt x="2354354" y="1259671"/>
                  </a:lnTo>
                  <a:lnTo>
                    <a:pt x="2388593" y="1226603"/>
                  </a:lnTo>
                  <a:lnTo>
                    <a:pt x="2419909" y="1192458"/>
                  </a:lnTo>
                  <a:lnTo>
                    <a:pt x="2448299" y="1157334"/>
                  </a:lnTo>
                  <a:lnTo>
                    <a:pt x="2473764" y="1121325"/>
                  </a:lnTo>
                  <a:lnTo>
                    <a:pt x="2496302" y="1084528"/>
                  </a:lnTo>
                  <a:lnTo>
                    <a:pt x="2515910" y="1047038"/>
                  </a:lnTo>
                  <a:lnTo>
                    <a:pt x="2532589" y="1008952"/>
                  </a:lnTo>
                  <a:lnTo>
                    <a:pt x="2546336" y="970365"/>
                  </a:lnTo>
                  <a:lnTo>
                    <a:pt x="2557151" y="931373"/>
                  </a:lnTo>
                  <a:lnTo>
                    <a:pt x="2565032" y="892072"/>
                  </a:lnTo>
                  <a:lnTo>
                    <a:pt x="2569978" y="852558"/>
                  </a:lnTo>
                  <a:lnTo>
                    <a:pt x="2571988" y="812926"/>
                  </a:lnTo>
                  <a:lnTo>
                    <a:pt x="2571059" y="773274"/>
                  </a:lnTo>
                  <a:lnTo>
                    <a:pt x="2567192" y="733696"/>
                  </a:lnTo>
                  <a:lnTo>
                    <a:pt x="2560385" y="694288"/>
                  </a:lnTo>
                  <a:lnTo>
                    <a:pt x="2550636" y="655146"/>
                  </a:lnTo>
                  <a:lnTo>
                    <a:pt x="2537944" y="616367"/>
                  </a:lnTo>
                  <a:lnTo>
                    <a:pt x="2522308" y="578045"/>
                  </a:lnTo>
                  <a:lnTo>
                    <a:pt x="2503727" y="540277"/>
                  </a:lnTo>
                  <a:lnTo>
                    <a:pt x="2482199" y="503159"/>
                  </a:lnTo>
                  <a:lnTo>
                    <a:pt x="2457723" y="466787"/>
                  </a:lnTo>
                  <a:lnTo>
                    <a:pt x="2430298" y="431256"/>
                  </a:lnTo>
                  <a:lnTo>
                    <a:pt x="2399922" y="396663"/>
                  </a:lnTo>
                  <a:lnTo>
                    <a:pt x="2366595" y="363103"/>
                  </a:lnTo>
                  <a:lnTo>
                    <a:pt x="2330314" y="330672"/>
                  </a:lnTo>
                  <a:lnTo>
                    <a:pt x="2291080" y="299465"/>
                  </a:lnTo>
                  <a:lnTo>
                    <a:pt x="2253566" y="272749"/>
                  </a:lnTo>
                  <a:lnTo>
                    <a:pt x="2214635" y="247785"/>
                  </a:lnTo>
                  <a:lnTo>
                    <a:pt x="2174382" y="224572"/>
                  </a:lnTo>
                  <a:lnTo>
                    <a:pt x="2132904" y="203113"/>
                  </a:lnTo>
                  <a:lnTo>
                    <a:pt x="2090297" y="183407"/>
                  </a:lnTo>
                  <a:lnTo>
                    <a:pt x="2046657" y="165456"/>
                  </a:lnTo>
                  <a:lnTo>
                    <a:pt x="2002079" y="149261"/>
                  </a:lnTo>
                  <a:lnTo>
                    <a:pt x="1956660" y="134822"/>
                  </a:lnTo>
                  <a:lnTo>
                    <a:pt x="1910497" y="122139"/>
                  </a:lnTo>
                  <a:lnTo>
                    <a:pt x="1863685" y="111214"/>
                  </a:lnTo>
                  <a:lnTo>
                    <a:pt x="1816320" y="102048"/>
                  </a:lnTo>
                  <a:lnTo>
                    <a:pt x="1768498" y="94641"/>
                  </a:lnTo>
                  <a:lnTo>
                    <a:pt x="1720316" y="88994"/>
                  </a:lnTo>
                  <a:lnTo>
                    <a:pt x="1671869" y="85108"/>
                  </a:lnTo>
                  <a:lnTo>
                    <a:pt x="1623254" y="82983"/>
                  </a:lnTo>
                  <a:lnTo>
                    <a:pt x="1574567" y="82620"/>
                  </a:lnTo>
                  <a:lnTo>
                    <a:pt x="1525904" y="84021"/>
                  </a:lnTo>
                  <a:lnTo>
                    <a:pt x="1477360" y="87185"/>
                  </a:lnTo>
                  <a:lnTo>
                    <a:pt x="1429033" y="92114"/>
                  </a:lnTo>
                  <a:lnTo>
                    <a:pt x="1381018" y="98808"/>
                  </a:lnTo>
                  <a:lnTo>
                    <a:pt x="1333411" y="107269"/>
                  </a:lnTo>
                  <a:lnTo>
                    <a:pt x="1286308" y="117496"/>
                  </a:lnTo>
                  <a:lnTo>
                    <a:pt x="1239806" y="129491"/>
                  </a:lnTo>
                  <a:lnTo>
                    <a:pt x="1194001" y="143254"/>
                  </a:lnTo>
                  <a:lnTo>
                    <a:pt x="1148988" y="158787"/>
                  </a:lnTo>
                  <a:lnTo>
                    <a:pt x="1104864" y="176090"/>
                  </a:lnTo>
                  <a:lnTo>
                    <a:pt x="1061724" y="195163"/>
                  </a:lnTo>
                  <a:lnTo>
                    <a:pt x="1019666" y="216008"/>
                  </a:lnTo>
                  <a:lnTo>
                    <a:pt x="978785" y="238625"/>
                  </a:lnTo>
                  <a:lnTo>
                    <a:pt x="939177" y="263015"/>
                  </a:lnTo>
                  <a:lnTo>
                    <a:pt x="900938" y="289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CC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20757" y="3712971"/>
              <a:ext cx="2572385" cy="1529080"/>
            </a:xfrm>
            <a:custGeom>
              <a:avLst/>
              <a:gdLst/>
              <a:ahLst/>
              <a:cxnLst/>
              <a:rect l="l" t="t" r="r" b="b"/>
              <a:pathLst>
                <a:path w="2572384" h="1529079">
                  <a:moveTo>
                    <a:pt x="0" y="0"/>
                  </a:moveTo>
                  <a:lnTo>
                    <a:pt x="900938" y="289178"/>
                  </a:lnTo>
                  <a:lnTo>
                    <a:pt x="939177" y="263015"/>
                  </a:lnTo>
                  <a:lnTo>
                    <a:pt x="978785" y="238625"/>
                  </a:lnTo>
                  <a:lnTo>
                    <a:pt x="1019666" y="216008"/>
                  </a:lnTo>
                  <a:lnTo>
                    <a:pt x="1061724" y="195163"/>
                  </a:lnTo>
                  <a:lnTo>
                    <a:pt x="1104864" y="176090"/>
                  </a:lnTo>
                  <a:lnTo>
                    <a:pt x="1148988" y="158787"/>
                  </a:lnTo>
                  <a:lnTo>
                    <a:pt x="1194001" y="143254"/>
                  </a:lnTo>
                  <a:lnTo>
                    <a:pt x="1239806" y="129491"/>
                  </a:lnTo>
                  <a:lnTo>
                    <a:pt x="1286308" y="117496"/>
                  </a:lnTo>
                  <a:lnTo>
                    <a:pt x="1333411" y="107269"/>
                  </a:lnTo>
                  <a:lnTo>
                    <a:pt x="1381018" y="98808"/>
                  </a:lnTo>
                  <a:lnTo>
                    <a:pt x="1429033" y="92114"/>
                  </a:lnTo>
                  <a:lnTo>
                    <a:pt x="1477360" y="87185"/>
                  </a:lnTo>
                  <a:lnTo>
                    <a:pt x="1525904" y="84021"/>
                  </a:lnTo>
                  <a:lnTo>
                    <a:pt x="1574567" y="82620"/>
                  </a:lnTo>
                  <a:lnTo>
                    <a:pt x="1623254" y="82983"/>
                  </a:lnTo>
                  <a:lnTo>
                    <a:pt x="1671869" y="85108"/>
                  </a:lnTo>
                  <a:lnTo>
                    <a:pt x="1720316" y="88994"/>
                  </a:lnTo>
                  <a:lnTo>
                    <a:pt x="1768498" y="94641"/>
                  </a:lnTo>
                  <a:lnTo>
                    <a:pt x="1816320" y="102048"/>
                  </a:lnTo>
                  <a:lnTo>
                    <a:pt x="1863685" y="111214"/>
                  </a:lnTo>
                  <a:lnTo>
                    <a:pt x="1910497" y="122139"/>
                  </a:lnTo>
                  <a:lnTo>
                    <a:pt x="1956660" y="134822"/>
                  </a:lnTo>
                  <a:lnTo>
                    <a:pt x="2002079" y="149261"/>
                  </a:lnTo>
                  <a:lnTo>
                    <a:pt x="2046657" y="165456"/>
                  </a:lnTo>
                  <a:lnTo>
                    <a:pt x="2090297" y="183407"/>
                  </a:lnTo>
                  <a:lnTo>
                    <a:pt x="2132904" y="203113"/>
                  </a:lnTo>
                  <a:lnTo>
                    <a:pt x="2174382" y="224572"/>
                  </a:lnTo>
                  <a:lnTo>
                    <a:pt x="2214635" y="247785"/>
                  </a:lnTo>
                  <a:lnTo>
                    <a:pt x="2253566" y="272749"/>
                  </a:lnTo>
                  <a:lnTo>
                    <a:pt x="2291080" y="299465"/>
                  </a:lnTo>
                  <a:lnTo>
                    <a:pt x="2330314" y="330672"/>
                  </a:lnTo>
                  <a:lnTo>
                    <a:pt x="2366595" y="363103"/>
                  </a:lnTo>
                  <a:lnTo>
                    <a:pt x="2399922" y="396663"/>
                  </a:lnTo>
                  <a:lnTo>
                    <a:pt x="2430298" y="431256"/>
                  </a:lnTo>
                  <a:lnTo>
                    <a:pt x="2457723" y="466787"/>
                  </a:lnTo>
                  <a:lnTo>
                    <a:pt x="2482199" y="503159"/>
                  </a:lnTo>
                  <a:lnTo>
                    <a:pt x="2503727" y="540277"/>
                  </a:lnTo>
                  <a:lnTo>
                    <a:pt x="2522308" y="578045"/>
                  </a:lnTo>
                  <a:lnTo>
                    <a:pt x="2537944" y="616367"/>
                  </a:lnTo>
                  <a:lnTo>
                    <a:pt x="2550636" y="655146"/>
                  </a:lnTo>
                  <a:lnTo>
                    <a:pt x="2560385" y="694288"/>
                  </a:lnTo>
                  <a:lnTo>
                    <a:pt x="2567192" y="733696"/>
                  </a:lnTo>
                  <a:lnTo>
                    <a:pt x="2571059" y="773274"/>
                  </a:lnTo>
                  <a:lnTo>
                    <a:pt x="2571988" y="812926"/>
                  </a:lnTo>
                  <a:lnTo>
                    <a:pt x="2569978" y="852558"/>
                  </a:lnTo>
                  <a:lnTo>
                    <a:pt x="2565032" y="892072"/>
                  </a:lnTo>
                  <a:lnTo>
                    <a:pt x="2557151" y="931373"/>
                  </a:lnTo>
                  <a:lnTo>
                    <a:pt x="2546336" y="970365"/>
                  </a:lnTo>
                  <a:lnTo>
                    <a:pt x="2532589" y="1008952"/>
                  </a:lnTo>
                  <a:lnTo>
                    <a:pt x="2515910" y="1047038"/>
                  </a:lnTo>
                  <a:lnTo>
                    <a:pt x="2496302" y="1084528"/>
                  </a:lnTo>
                  <a:lnTo>
                    <a:pt x="2473764" y="1121325"/>
                  </a:lnTo>
                  <a:lnTo>
                    <a:pt x="2448299" y="1157334"/>
                  </a:lnTo>
                  <a:lnTo>
                    <a:pt x="2419909" y="1192458"/>
                  </a:lnTo>
                  <a:lnTo>
                    <a:pt x="2388593" y="1226603"/>
                  </a:lnTo>
                  <a:lnTo>
                    <a:pt x="2354354" y="1259671"/>
                  </a:lnTo>
                  <a:lnTo>
                    <a:pt x="2317192" y="1291568"/>
                  </a:lnTo>
                  <a:lnTo>
                    <a:pt x="2277110" y="1322196"/>
                  </a:lnTo>
                  <a:lnTo>
                    <a:pt x="2238870" y="1348360"/>
                  </a:lnTo>
                  <a:lnTo>
                    <a:pt x="2199262" y="1372750"/>
                  </a:lnTo>
                  <a:lnTo>
                    <a:pt x="2158381" y="1395367"/>
                  </a:lnTo>
                  <a:lnTo>
                    <a:pt x="2116323" y="1416212"/>
                  </a:lnTo>
                  <a:lnTo>
                    <a:pt x="2073183" y="1435285"/>
                  </a:lnTo>
                  <a:lnTo>
                    <a:pt x="2029059" y="1452588"/>
                  </a:lnTo>
                  <a:lnTo>
                    <a:pt x="1984046" y="1468121"/>
                  </a:lnTo>
                  <a:lnTo>
                    <a:pt x="1938241" y="1481884"/>
                  </a:lnTo>
                  <a:lnTo>
                    <a:pt x="1891739" y="1493879"/>
                  </a:lnTo>
                  <a:lnTo>
                    <a:pt x="1844636" y="1504106"/>
                  </a:lnTo>
                  <a:lnTo>
                    <a:pt x="1797029" y="1512567"/>
                  </a:lnTo>
                  <a:lnTo>
                    <a:pt x="1749014" y="1519261"/>
                  </a:lnTo>
                  <a:lnTo>
                    <a:pt x="1700687" y="1524190"/>
                  </a:lnTo>
                  <a:lnTo>
                    <a:pt x="1652143" y="1527354"/>
                  </a:lnTo>
                  <a:lnTo>
                    <a:pt x="1603480" y="1528755"/>
                  </a:lnTo>
                  <a:lnTo>
                    <a:pt x="1554793" y="1528392"/>
                  </a:lnTo>
                  <a:lnTo>
                    <a:pt x="1506178" y="1526267"/>
                  </a:lnTo>
                  <a:lnTo>
                    <a:pt x="1457731" y="1522381"/>
                  </a:lnTo>
                  <a:lnTo>
                    <a:pt x="1409549" y="1516734"/>
                  </a:lnTo>
                  <a:lnTo>
                    <a:pt x="1361727" y="1509327"/>
                  </a:lnTo>
                  <a:lnTo>
                    <a:pt x="1314362" y="1500161"/>
                  </a:lnTo>
                  <a:lnTo>
                    <a:pt x="1267550" y="1489236"/>
                  </a:lnTo>
                  <a:lnTo>
                    <a:pt x="1221387" y="1476553"/>
                  </a:lnTo>
                  <a:lnTo>
                    <a:pt x="1175968" y="1462114"/>
                  </a:lnTo>
                  <a:lnTo>
                    <a:pt x="1131390" y="1445919"/>
                  </a:lnTo>
                  <a:lnTo>
                    <a:pt x="1087750" y="1427968"/>
                  </a:lnTo>
                  <a:lnTo>
                    <a:pt x="1045143" y="1408262"/>
                  </a:lnTo>
                  <a:lnTo>
                    <a:pt x="1003665" y="1386803"/>
                  </a:lnTo>
                  <a:lnTo>
                    <a:pt x="963412" y="1363590"/>
                  </a:lnTo>
                  <a:lnTo>
                    <a:pt x="924481" y="1338626"/>
                  </a:lnTo>
                  <a:lnTo>
                    <a:pt x="886968" y="1311909"/>
                  </a:lnTo>
                  <a:lnTo>
                    <a:pt x="844373" y="1277818"/>
                  </a:lnTo>
                  <a:lnTo>
                    <a:pt x="805163" y="1242127"/>
                  </a:lnTo>
                  <a:lnTo>
                    <a:pt x="769370" y="1204964"/>
                  </a:lnTo>
                  <a:lnTo>
                    <a:pt x="737027" y="1166461"/>
                  </a:lnTo>
                  <a:lnTo>
                    <a:pt x="708166" y="1126748"/>
                  </a:lnTo>
                  <a:lnTo>
                    <a:pt x="682821" y="1085954"/>
                  </a:lnTo>
                  <a:lnTo>
                    <a:pt x="661024" y="1044210"/>
                  </a:lnTo>
                  <a:lnTo>
                    <a:pt x="642808" y="1001645"/>
                  </a:lnTo>
                  <a:lnTo>
                    <a:pt x="628204" y="958391"/>
                  </a:lnTo>
                  <a:lnTo>
                    <a:pt x="617247" y="914576"/>
                  </a:lnTo>
                  <a:lnTo>
                    <a:pt x="609968" y="870331"/>
                  </a:lnTo>
                  <a:lnTo>
                    <a:pt x="606400" y="825787"/>
                  </a:lnTo>
                  <a:lnTo>
                    <a:pt x="606577" y="781073"/>
                  </a:lnTo>
                  <a:lnTo>
                    <a:pt x="610530" y="736319"/>
                  </a:lnTo>
                  <a:lnTo>
                    <a:pt x="618292" y="691656"/>
                  </a:lnTo>
                  <a:lnTo>
                    <a:pt x="629896" y="647213"/>
                  </a:lnTo>
                  <a:lnTo>
                    <a:pt x="645374" y="603121"/>
                  </a:lnTo>
                  <a:lnTo>
                    <a:pt x="664760" y="559509"/>
                  </a:lnTo>
                  <a:lnTo>
                    <a:pt x="688086" y="516508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617200" y="3890264"/>
            <a:ext cx="11861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create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flag </a:t>
            </a:r>
            <a:r>
              <a:rPr sz="1600" dirty="0">
                <a:latin typeface="Trebuchet MS"/>
                <a:cs typeface="Trebuchet MS"/>
              </a:rPr>
              <a:t>variable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and </a:t>
            </a:r>
            <a:r>
              <a:rPr sz="1600" dirty="0">
                <a:latin typeface="Trebuchet MS"/>
                <a:cs typeface="Trebuchet MS"/>
              </a:rPr>
              <a:t>drop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the </a:t>
            </a:r>
            <a:r>
              <a:rPr sz="1600" spc="-10" dirty="0">
                <a:latin typeface="Trebuchet MS"/>
                <a:cs typeface="Trebuchet MS"/>
              </a:rPr>
              <a:t>original variable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35502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5" dirty="0"/>
              <a:t>Imputation</a:t>
            </a:r>
            <a:endParaRPr sz="6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493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Magnitude</a:t>
            </a:r>
            <a:r>
              <a:rPr spc="-204" dirty="0"/>
              <a:t> </a:t>
            </a:r>
            <a:r>
              <a:rPr dirty="0"/>
              <a:t>of</a:t>
            </a:r>
            <a:r>
              <a:rPr spc="-229" dirty="0"/>
              <a:t> </a:t>
            </a:r>
            <a:r>
              <a:rPr spc="-10" dirty="0"/>
              <a:t>the</a:t>
            </a:r>
            <a:r>
              <a:rPr spc="-215" dirty="0"/>
              <a:t> </a:t>
            </a:r>
            <a:r>
              <a:rPr spc="-10" dirty="0"/>
              <a:t>errors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5255" y="3413735"/>
            <a:ext cx="1716405" cy="737870"/>
            <a:chOff x="1795255" y="3413735"/>
            <a:chExt cx="1716405" cy="737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255" y="3413735"/>
              <a:ext cx="1716056" cy="7376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1620012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1620012" y="641604"/>
                  </a:lnTo>
                  <a:lnTo>
                    <a:pt x="1620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0" y="641604"/>
                  </a:moveTo>
                  <a:lnTo>
                    <a:pt x="1620012" y="641604"/>
                  </a:lnTo>
                  <a:lnTo>
                    <a:pt x="1620012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47645" y="3644900"/>
            <a:ext cx="76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5860" y="1546854"/>
            <a:ext cx="2924810" cy="786765"/>
            <a:chOff x="4405860" y="1546854"/>
            <a:chExt cx="2924810" cy="7867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1546854"/>
              <a:ext cx="2881931" cy="7391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7220" y="1560576"/>
              <a:ext cx="2903220" cy="7726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0268" y="1597152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5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30268" y="1597152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5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4507" y="1656333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5471" y="1751076"/>
            <a:ext cx="1225550" cy="4267835"/>
            <a:chOff x="3395471" y="1751076"/>
            <a:chExt cx="1225550" cy="42678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5471" y="1751076"/>
              <a:ext cx="1225308" cy="20924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23665" y="1919478"/>
              <a:ext cx="1007744" cy="1875155"/>
            </a:xfrm>
            <a:custGeom>
              <a:avLst/>
              <a:gdLst/>
              <a:ahLst/>
              <a:cxnLst/>
              <a:rect l="l" t="t" r="r" b="b"/>
              <a:pathLst>
                <a:path w="1007745" h="1875154">
                  <a:moveTo>
                    <a:pt x="936838" y="92010"/>
                  </a:moveTo>
                  <a:lnTo>
                    <a:pt x="0" y="1857121"/>
                  </a:lnTo>
                  <a:lnTo>
                    <a:pt x="33528" y="1875028"/>
                  </a:lnTo>
                  <a:lnTo>
                    <a:pt x="970509" y="109884"/>
                  </a:lnTo>
                  <a:lnTo>
                    <a:pt x="936838" y="92010"/>
                  </a:lnTo>
                  <a:close/>
                </a:path>
                <a:path w="1007745" h="1875154">
                  <a:moveTo>
                    <a:pt x="1005443" y="75184"/>
                  </a:moveTo>
                  <a:lnTo>
                    <a:pt x="945769" y="75184"/>
                  </a:lnTo>
                  <a:lnTo>
                    <a:pt x="979424" y="93091"/>
                  </a:lnTo>
                  <a:lnTo>
                    <a:pt x="970509" y="109884"/>
                  </a:lnTo>
                  <a:lnTo>
                    <a:pt x="1004188" y="127762"/>
                  </a:lnTo>
                  <a:lnTo>
                    <a:pt x="1005443" y="75184"/>
                  </a:lnTo>
                  <a:close/>
                </a:path>
                <a:path w="1007745" h="1875154">
                  <a:moveTo>
                    <a:pt x="945769" y="75184"/>
                  </a:moveTo>
                  <a:lnTo>
                    <a:pt x="936838" y="92010"/>
                  </a:lnTo>
                  <a:lnTo>
                    <a:pt x="970509" y="109884"/>
                  </a:lnTo>
                  <a:lnTo>
                    <a:pt x="979424" y="93091"/>
                  </a:lnTo>
                  <a:lnTo>
                    <a:pt x="945769" y="75184"/>
                  </a:lnTo>
                  <a:close/>
                </a:path>
                <a:path w="1007745" h="1875154">
                  <a:moveTo>
                    <a:pt x="1007237" y="0"/>
                  </a:moveTo>
                  <a:lnTo>
                    <a:pt x="903224" y="74168"/>
                  </a:lnTo>
                  <a:lnTo>
                    <a:pt x="936838" y="92010"/>
                  </a:lnTo>
                  <a:lnTo>
                    <a:pt x="945769" y="75184"/>
                  </a:lnTo>
                  <a:lnTo>
                    <a:pt x="1005443" y="75184"/>
                  </a:lnTo>
                  <a:lnTo>
                    <a:pt x="1007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2235" y="3613378"/>
              <a:ext cx="1208544" cy="33225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440302" y="3725036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173" y="0"/>
                  </a:moveTo>
                  <a:lnTo>
                    <a:pt x="876300" y="38167"/>
                  </a:lnTo>
                  <a:lnTo>
                    <a:pt x="876310" y="41275"/>
                  </a:lnTo>
                  <a:lnTo>
                    <a:pt x="876427" y="76267"/>
                  </a:lnTo>
                  <a:lnTo>
                    <a:pt x="876554" y="114300"/>
                  </a:lnTo>
                  <a:lnTo>
                    <a:pt x="951947" y="76267"/>
                  </a:lnTo>
                  <a:lnTo>
                    <a:pt x="895477" y="76267"/>
                  </a:lnTo>
                  <a:lnTo>
                    <a:pt x="895360" y="41275"/>
                  </a:lnTo>
                  <a:lnTo>
                    <a:pt x="895350" y="38167"/>
                  </a:lnTo>
                  <a:lnTo>
                    <a:pt x="953105" y="38167"/>
                  </a:lnTo>
                  <a:lnTo>
                    <a:pt x="876173" y="0"/>
                  </a:lnTo>
                  <a:close/>
                </a:path>
                <a:path w="990600" h="114300">
                  <a:moveTo>
                    <a:pt x="876300" y="38167"/>
                  </a:moveTo>
                  <a:lnTo>
                    <a:pt x="0" y="41275"/>
                  </a:lnTo>
                  <a:lnTo>
                    <a:pt x="233" y="76267"/>
                  </a:lnTo>
                  <a:lnTo>
                    <a:pt x="254" y="79375"/>
                  </a:lnTo>
                  <a:lnTo>
                    <a:pt x="876427" y="76267"/>
                  </a:lnTo>
                  <a:lnTo>
                    <a:pt x="876310" y="41275"/>
                  </a:lnTo>
                  <a:lnTo>
                    <a:pt x="876300" y="38167"/>
                  </a:lnTo>
                  <a:close/>
                </a:path>
                <a:path w="990600" h="114300">
                  <a:moveTo>
                    <a:pt x="953105" y="38167"/>
                  </a:moveTo>
                  <a:lnTo>
                    <a:pt x="895350" y="38167"/>
                  </a:lnTo>
                  <a:lnTo>
                    <a:pt x="895360" y="41275"/>
                  </a:lnTo>
                  <a:lnTo>
                    <a:pt x="895477" y="76267"/>
                  </a:lnTo>
                  <a:lnTo>
                    <a:pt x="951947" y="76267"/>
                  </a:lnTo>
                  <a:lnTo>
                    <a:pt x="990600" y="56768"/>
                  </a:lnTo>
                  <a:lnTo>
                    <a:pt x="953105" y="38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471" y="3723144"/>
              <a:ext cx="1225308" cy="22951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23284" y="3776599"/>
              <a:ext cx="1010285" cy="2078989"/>
            </a:xfrm>
            <a:custGeom>
              <a:avLst/>
              <a:gdLst/>
              <a:ahLst/>
              <a:cxnLst/>
              <a:rect l="l" t="t" r="r" b="b"/>
              <a:pathLst>
                <a:path w="1010285" h="2078989">
                  <a:moveTo>
                    <a:pt x="941110" y="1983765"/>
                  </a:moveTo>
                  <a:lnTo>
                    <a:pt x="906779" y="2000186"/>
                  </a:lnTo>
                  <a:lnTo>
                    <a:pt x="1007617" y="2078634"/>
                  </a:lnTo>
                  <a:lnTo>
                    <a:pt x="1009008" y="2000935"/>
                  </a:lnTo>
                  <a:lnTo>
                    <a:pt x="949325" y="2000935"/>
                  </a:lnTo>
                  <a:lnTo>
                    <a:pt x="941110" y="1983765"/>
                  </a:lnTo>
                  <a:close/>
                </a:path>
                <a:path w="1010285" h="2078989">
                  <a:moveTo>
                    <a:pt x="975520" y="1967306"/>
                  </a:moveTo>
                  <a:lnTo>
                    <a:pt x="941110" y="1983765"/>
                  </a:lnTo>
                  <a:lnTo>
                    <a:pt x="949325" y="2000935"/>
                  </a:lnTo>
                  <a:lnTo>
                    <a:pt x="983741" y="1984489"/>
                  </a:lnTo>
                  <a:lnTo>
                    <a:pt x="975520" y="1967306"/>
                  </a:lnTo>
                  <a:close/>
                </a:path>
                <a:path w="1010285" h="2078989">
                  <a:moveTo>
                    <a:pt x="1009903" y="1950859"/>
                  </a:moveTo>
                  <a:lnTo>
                    <a:pt x="975520" y="1967306"/>
                  </a:lnTo>
                  <a:lnTo>
                    <a:pt x="983741" y="1984489"/>
                  </a:lnTo>
                  <a:lnTo>
                    <a:pt x="949325" y="2000935"/>
                  </a:lnTo>
                  <a:lnTo>
                    <a:pt x="1009008" y="2000935"/>
                  </a:lnTo>
                  <a:lnTo>
                    <a:pt x="1009903" y="1950859"/>
                  </a:lnTo>
                  <a:close/>
                </a:path>
                <a:path w="1010285" h="2078989">
                  <a:moveTo>
                    <a:pt x="34289" y="0"/>
                  </a:moveTo>
                  <a:lnTo>
                    <a:pt x="0" y="16510"/>
                  </a:lnTo>
                  <a:lnTo>
                    <a:pt x="941110" y="1983765"/>
                  </a:lnTo>
                  <a:lnTo>
                    <a:pt x="975520" y="1967306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9703816" y="1050671"/>
          <a:ext cx="955675" cy="5448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b="1" spc="-2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3E3E3E"/>
                      </a:solidFill>
                      <a:prstDash val="solid"/>
                    </a:lnL>
                    <a:lnR w="6350">
                      <a:solidFill>
                        <a:srgbClr val="3E3E3E"/>
                      </a:solidFill>
                      <a:prstDash val="solid"/>
                    </a:lnR>
                    <a:lnT w="6350">
                      <a:solidFill>
                        <a:srgbClr val="3E3E3E"/>
                      </a:solidFill>
                      <a:prstDash val="solid"/>
                    </a:lnT>
                    <a:lnB w="6350">
                      <a:solidFill>
                        <a:srgbClr val="3E3E3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T w="6350">
                      <a:solidFill>
                        <a:srgbClr val="3E3E3E"/>
                      </a:solidFill>
                      <a:prstDash val="solid"/>
                    </a:lnT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1905" algn="ctr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905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Standalone</a:t>
            </a:r>
            <a:r>
              <a:rPr spc="-210" dirty="0"/>
              <a:t> </a:t>
            </a:r>
            <a:r>
              <a:rPr spc="-40" dirty="0"/>
              <a:t>imputation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988" y="1572891"/>
            <a:ext cx="6965315" cy="25495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530"/>
              </a:spcBef>
              <a:buClr>
                <a:srgbClr val="5ECCF3"/>
              </a:buClr>
              <a:buFont typeface="Arial"/>
              <a:buChar char="•"/>
              <a:tabLst>
                <a:tab pos="141605" algn="l"/>
              </a:tabLst>
            </a:pPr>
            <a:r>
              <a:rPr sz="1800" dirty="0">
                <a:latin typeface="Trebuchet MS"/>
                <a:cs typeface="Trebuchet MS"/>
              </a:rPr>
              <a:t>Mean,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median,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other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point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estimates</a:t>
            </a:r>
            <a:endParaRPr sz="18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430"/>
              </a:spcBef>
              <a:buClr>
                <a:srgbClr val="5ECCF3"/>
              </a:buClr>
              <a:buFont typeface="Arial"/>
              <a:buChar char="•"/>
              <a:tabLst>
                <a:tab pos="141605" algn="l"/>
              </a:tabLst>
            </a:pPr>
            <a:r>
              <a:rPr sz="1800" dirty="0">
                <a:latin typeface="Trebuchet MS"/>
                <a:cs typeface="Trebuchet MS"/>
              </a:rPr>
              <a:t>Convenient,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easy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implement</a:t>
            </a:r>
            <a:endParaRPr sz="1800">
              <a:latin typeface="Trebuchet MS"/>
              <a:cs typeface="Trebuchet MS"/>
            </a:endParaRPr>
          </a:p>
          <a:p>
            <a:pPr marL="142240" marR="5080" indent="-129539">
              <a:lnSpc>
                <a:spcPct val="100000"/>
              </a:lnSpc>
              <a:spcBef>
                <a:spcPts val="434"/>
              </a:spcBef>
              <a:buClr>
                <a:srgbClr val="5ECCF3"/>
              </a:buClr>
              <a:buFont typeface="Arial"/>
              <a:buChar char="•"/>
              <a:tabLst>
                <a:tab pos="142240" algn="l"/>
              </a:tabLst>
            </a:pPr>
            <a:r>
              <a:rPr sz="1800" b="1" dirty="0">
                <a:latin typeface="Trebuchet MS"/>
                <a:cs typeface="Trebuchet MS"/>
              </a:rPr>
              <a:t>Assume: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Distribution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missing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values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same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non- </a:t>
            </a:r>
            <a:r>
              <a:rPr sz="1800" dirty="0">
                <a:latin typeface="Trebuchet MS"/>
                <a:cs typeface="Trebuchet MS"/>
              </a:rPr>
              <a:t>missing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values.</a:t>
            </a:r>
            <a:endParaRPr sz="18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430"/>
              </a:spcBef>
              <a:buClr>
                <a:srgbClr val="5ECCF3"/>
              </a:buClr>
              <a:buFont typeface="Arial"/>
              <a:buChar char="•"/>
              <a:tabLst>
                <a:tab pos="141605" algn="l"/>
              </a:tabLst>
            </a:pPr>
            <a:r>
              <a:rPr sz="1800" dirty="0">
                <a:latin typeface="Trebuchet MS"/>
                <a:cs typeface="Trebuchet MS"/>
              </a:rPr>
              <a:t>Does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not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take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into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account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inter-</a:t>
            </a:r>
            <a:r>
              <a:rPr sz="1800" spc="-10" dirty="0">
                <a:latin typeface="Trebuchet MS"/>
                <a:cs typeface="Trebuchet MS"/>
              </a:rPr>
              <a:t>relationships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5ECCF3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buClr>
                <a:srgbClr val="5ECCF3"/>
              </a:buClr>
              <a:buFont typeface="Arial"/>
              <a:buChar char="•"/>
              <a:tabLst>
                <a:tab pos="141605" algn="l"/>
              </a:tabLst>
            </a:pPr>
            <a:r>
              <a:rPr sz="1800" b="1" dirty="0">
                <a:latin typeface="Trebuchet MS"/>
                <a:cs typeface="Trebuchet MS"/>
              </a:rPr>
              <a:t>Eg: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average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available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values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11.4.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replace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  <a:p>
            <a:pPr marL="142240">
              <a:lnSpc>
                <a:spcPct val="100000"/>
              </a:lnSpc>
              <a:tabLst>
                <a:tab pos="3249930" algn="l"/>
              </a:tabLst>
            </a:pPr>
            <a:r>
              <a:rPr sz="1800" dirty="0">
                <a:latin typeface="Trebuchet MS"/>
                <a:cs typeface="Trebuchet MS"/>
              </a:rPr>
              <a:t>missing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value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this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table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by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b="1" dirty="0">
                <a:latin typeface="Trebuchet MS"/>
                <a:cs typeface="Trebuchet MS"/>
              </a:rPr>
              <a:t>11.4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?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33280" y="1414525"/>
          <a:ext cx="956310" cy="4843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b="1" spc="-2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3E3E3E"/>
                      </a:solidFill>
                      <a:prstDash val="solid"/>
                    </a:lnL>
                    <a:lnR w="6350">
                      <a:solidFill>
                        <a:srgbClr val="3E3E3E"/>
                      </a:solidFill>
                      <a:prstDash val="solid"/>
                    </a:lnR>
                    <a:lnT w="6350">
                      <a:solidFill>
                        <a:srgbClr val="3E3E3E"/>
                      </a:solidFill>
                      <a:prstDash val="solid"/>
                    </a:lnT>
                    <a:lnB w="6350">
                      <a:solidFill>
                        <a:srgbClr val="3E3E3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T w="6350">
                      <a:solidFill>
                        <a:srgbClr val="3E3E3E"/>
                      </a:solidFill>
                      <a:prstDash val="solid"/>
                    </a:lnT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1905" algn="ctr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905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1270" algn="ctr">
                        <a:lnSpc>
                          <a:spcPts val="2005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40398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Imputation</a:t>
            </a:r>
            <a:r>
              <a:rPr spc="-225" dirty="0"/>
              <a:t> </a:t>
            </a:r>
            <a:r>
              <a:rPr spc="-25" dirty="0"/>
              <a:t>type2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7505700" cy="31134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Use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attribute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relationships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Better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imputation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95" dirty="0">
                <a:latin typeface="Trebuchet MS"/>
                <a:cs typeface="Trebuchet MS"/>
              </a:rPr>
              <a:t>Two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techniques</a:t>
            </a:r>
            <a:endParaRPr sz="24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500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dirty="0">
                <a:latin typeface="Trebuchet MS"/>
                <a:cs typeface="Trebuchet MS"/>
              </a:rPr>
              <a:t>Propensity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score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(nonparametric).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Useful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discrete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variables</a:t>
            </a:r>
            <a:endParaRPr sz="200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"/>
              <a:buChar char="•"/>
              <a:tabLst>
                <a:tab pos="307975" algn="l"/>
              </a:tabLst>
            </a:pPr>
            <a:r>
              <a:rPr sz="2000" spc="-10" dirty="0">
                <a:latin typeface="Trebuchet MS"/>
                <a:cs typeface="Trebuchet MS"/>
              </a:rPr>
              <a:t>Regression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(parametric)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035"/>
              </a:spcBef>
              <a:buClr>
                <a:srgbClr val="5ECCF3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140335" marR="1148715" indent="-128270">
              <a:lnSpc>
                <a:spcPct val="100000"/>
              </a:lnSpc>
              <a:spcBef>
                <a:spcPts val="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000" dirty="0">
                <a:latin typeface="Trebuchet MS"/>
                <a:cs typeface="Trebuchet MS"/>
              </a:rPr>
              <a:t>There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two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missing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x2.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What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most 	</a:t>
            </a:r>
            <a:r>
              <a:rPr sz="2000" dirty="0">
                <a:latin typeface="Trebuchet MS"/>
                <a:cs typeface="Trebuchet MS"/>
              </a:rPr>
              <a:t>appropriate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replacements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30791" y="1430091"/>
            <a:ext cx="1638300" cy="306070"/>
          </a:xfrm>
          <a:custGeom>
            <a:avLst/>
            <a:gdLst/>
            <a:ahLst/>
            <a:cxnLst/>
            <a:rect l="l" t="t" r="r" b="b"/>
            <a:pathLst>
              <a:path w="1638300" h="306069">
                <a:moveTo>
                  <a:pt x="0" y="305688"/>
                </a:moveTo>
                <a:lnTo>
                  <a:pt x="1638270" y="305688"/>
                </a:lnTo>
                <a:lnTo>
                  <a:pt x="1638270" y="0"/>
                </a:lnTo>
                <a:lnTo>
                  <a:pt x="0" y="0"/>
                </a:lnTo>
                <a:lnTo>
                  <a:pt x="0" y="305688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18092" y="1404697"/>
          <a:ext cx="1637663" cy="5082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7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35">
                <a:tc gridSpan="2"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18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24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835">
                <a:tc gridSpan="2"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435">
                <a:tc gridSpan="2"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4356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15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435">
                <a:tc gridSpan="2"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435">
                <a:tc gridSpan="2"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435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15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200">
                <a:tc gridSpan="2"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435">
                <a:tc gridSpan="2"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spc="-5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30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435">
                <a:tc gridSpan="2">
                  <a:txBody>
                    <a:bodyPr/>
                    <a:lstStyle/>
                    <a:p>
                      <a:pPr marL="54356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4356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30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3D3D3"/>
                      </a:solidFill>
                      <a:prstDash val="solid"/>
                    </a:lnL>
                    <a:lnR w="12700">
                      <a:solidFill>
                        <a:srgbClr val="D3D3D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9719637" y="1506759"/>
            <a:ext cx="1036955" cy="216535"/>
            <a:chOff x="9719637" y="1506759"/>
            <a:chExt cx="1036955" cy="216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9637" y="1506759"/>
              <a:ext cx="217589" cy="2163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38772" y="1506759"/>
              <a:ext cx="217589" cy="216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657"/>
            <a:ext cx="856678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110" dirty="0"/>
              <a:t>Step-</a:t>
            </a:r>
            <a:r>
              <a:rPr sz="6000" dirty="0"/>
              <a:t>4:</a:t>
            </a:r>
            <a:r>
              <a:rPr sz="6000" spc="-215" dirty="0"/>
              <a:t> </a:t>
            </a:r>
            <a:r>
              <a:rPr sz="6000" spc="-40" dirty="0"/>
              <a:t>Missing</a:t>
            </a:r>
            <a:r>
              <a:rPr sz="6000" spc="-235" dirty="0"/>
              <a:t> </a:t>
            </a:r>
            <a:r>
              <a:rPr sz="6000" spc="-75" dirty="0"/>
              <a:t>Values</a:t>
            </a:r>
            <a:r>
              <a:rPr sz="6000" spc="-245" dirty="0"/>
              <a:t> </a:t>
            </a:r>
            <a:r>
              <a:rPr sz="6000" spc="-25" dirty="0"/>
              <a:t>and </a:t>
            </a:r>
            <a:r>
              <a:rPr sz="6000" spc="-30" dirty="0"/>
              <a:t>Outlier</a:t>
            </a:r>
            <a:r>
              <a:rPr sz="6000" spc="-310" dirty="0"/>
              <a:t> </a:t>
            </a:r>
            <a:r>
              <a:rPr sz="6000" spc="-10" dirty="0"/>
              <a:t>Treatment</a:t>
            </a:r>
            <a:endParaRPr sz="6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3678682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75549" y="1595622"/>
            <a:ext cx="2738755" cy="741045"/>
            <a:chOff x="2575549" y="1595622"/>
            <a:chExt cx="2738755" cy="741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1595622"/>
              <a:ext cx="2703596" cy="73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3847" y="1647431"/>
              <a:ext cx="2720340" cy="688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2607563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607563" y="643127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0" y="643127"/>
                  </a:moveTo>
                  <a:lnTo>
                    <a:pt x="2607563" y="643127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16148" y="1735658"/>
            <a:ext cx="23761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5549" y="3459455"/>
            <a:ext cx="2738755" cy="739775"/>
            <a:chOff x="2575549" y="3459455"/>
            <a:chExt cx="2738755" cy="7397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49" y="3459455"/>
              <a:ext cx="2703596" cy="7376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3847" y="3509759"/>
              <a:ext cx="2720340" cy="6888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2607563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2607563" y="641603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0" y="641603"/>
                  </a:moveTo>
                  <a:lnTo>
                    <a:pt x="2607563" y="641603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6148" y="3598926"/>
            <a:ext cx="237807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Medium(10%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75549" y="5532088"/>
            <a:ext cx="2738755" cy="741045"/>
            <a:chOff x="2575549" y="5532088"/>
            <a:chExt cx="2738755" cy="74104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5532088"/>
              <a:ext cx="2703596" cy="7391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3847" y="5583935"/>
              <a:ext cx="2720340" cy="6888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2607563" y="0"/>
                  </a:moveTo>
                  <a:lnTo>
                    <a:pt x="0" y="0"/>
                  </a:lnTo>
                  <a:lnTo>
                    <a:pt x="0" y="643128"/>
                  </a:lnTo>
                  <a:lnTo>
                    <a:pt x="2607563" y="643128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0" y="643128"/>
                  </a:moveTo>
                  <a:lnTo>
                    <a:pt x="2607563" y="643128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8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16148" y="5673344"/>
            <a:ext cx="2378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1205" marR="5080" indent="-73914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50623" y="1086587"/>
            <a:ext cx="5442585" cy="737870"/>
            <a:chOff x="5850623" y="1086587"/>
            <a:chExt cx="5442585" cy="73787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1086587"/>
              <a:ext cx="5442229" cy="73767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34455" y="1156741"/>
              <a:ext cx="5271515" cy="6476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5346191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5346191" y="641603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0" y="641603"/>
                  </a:moveTo>
                  <a:lnTo>
                    <a:pt x="5346191" y="641603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49771" y="1242822"/>
            <a:ext cx="49930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continuous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variables.</a:t>
            </a:r>
            <a:endParaRPr sz="13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50623" y="1889747"/>
            <a:ext cx="5442585" cy="844550"/>
            <a:chOff x="5850623" y="1889747"/>
            <a:chExt cx="5442585" cy="84455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1917186"/>
              <a:ext cx="5442229" cy="73916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2511" y="1889747"/>
              <a:ext cx="4425695" cy="84430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97828" y="1975230"/>
            <a:ext cx="409638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probable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category/class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Look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cross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tab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850623" y="3014472"/>
            <a:ext cx="5442585" cy="845819"/>
            <a:chOff x="5850623" y="3014472"/>
            <a:chExt cx="5442585" cy="845819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043422"/>
              <a:ext cx="5442229" cy="7391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9987" y="3014472"/>
              <a:ext cx="5190744" cy="84581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15303" y="3101086"/>
            <a:ext cx="486600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Non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50623" y="3846563"/>
            <a:ext cx="5442585" cy="844550"/>
            <a:chOff x="5850623" y="3846563"/>
            <a:chExt cx="5442585" cy="84455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874002"/>
              <a:ext cx="5442229" cy="7391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99403" y="3846563"/>
              <a:ext cx="5393436" cy="84430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14720" y="3932682"/>
            <a:ext cx="506285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categorical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variables,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rename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“Missing”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numeric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discrete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class,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850623" y="5003273"/>
            <a:ext cx="5442585" cy="739775"/>
            <a:chOff x="5850623" y="5003273"/>
            <a:chExt cx="5442585" cy="739775"/>
          </a:xfrm>
        </p:grpSpPr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5003273"/>
              <a:ext cx="5442229" cy="7391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0363" y="5074920"/>
              <a:ext cx="5268468" cy="64616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075679" y="5161026"/>
            <a:ext cx="49441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1980" marR="5080" indent="-1859914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indicator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missing.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Drop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850623" y="5835358"/>
            <a:ext cx="5442585" cy="737870"/>
            <a:chOff x="5850623" y="5835358"/>
            <a:chExt cx="5442585" cy="737870"/>
          </a:xfrm>
        </p:grpSpPr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5835358"/>
              <a:ext cx="5442229" cy="73767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50279" y="5905499"/>
              <a:ext cx="5090160" cy="64616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5346191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5346191" y="641604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0" y="641604"/>
                  </a:moveTo>
                  <a:lnTo>
                    <a:pt x="5346191" y="641604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165596" y="5992164"/>
            <a:ext cx="47618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missing,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club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rest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endParaRPr sz="1300">
              <a:latin typeface="Trebuchet MS"/>
              <a:cs typeface="Trebuchet MS"/>
            </a:endParaRPr>
          </a:p>
          <a:p>
            <a:pPr marL="3810"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“Non-missing”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629155" y="1290815"/>
            <a:ext cx="4435475" cy="5080000"/>
            <a:chOff x="1629155" y="1290815"/>
            <a:chExt cx="4435475" cy="5080000"/>
          </a:xfrm>
        </p:grpSpPr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9155" y="1799844"/>
              <a:ext cx="1161300" cy="20924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657095" y="1968245"/>
              <a:ext cx="944244" cy="1874520"/>
            </a:xfrm>
            <a:custGeom>
              <a:avLst/>
              <a:gdLst/>
              <a:ahLst/>
              <a:cxnLst/>
              <a:rect l="l" t="t" r="r" b="b"/>
              <a:pathLst>
                <a:path w="944244" h="1874520">
                  <a:moveTo>
                    <a:pt x="875838" y="93876"/>
                  </a:moveTo>
                  <a:lnTo>
                    <a:pt x="0" y="1857628"/>
                  </a:lnTo>
                  <a:lnTo>
                    <a:pt x="34036" y="1874520"/>
                  </a:lnTo>
                  <a:lnTo>
                    <a:pt x="909975" y="110817"/>
                  </a:lnTo>
                  <a:lnTo>
                    <a:pt x="875838" y="93876"/>
                  </a:lnTo>
                  <a:close/>
                </a:path>
                <a:path w="944244" h="1874520">
                  <a:moveTo>
                    <a:pt x="943966" y="76834"/>
                  </a:moveTo>
                  <a:lnTo>
                    <a:pt x="884301" y="76834"/>
                  </a:lnTo>
                  <a:lnTo>
                    <a:pt x="918464" y="93725"/>
                  </a:lnTo>
                  <a:lnTo>
                    <a:pt x="909975" y="110817"/>
                  </a:lnTo>
                  <a:lnTo>
                    <a:pt x="944118" y="127762"/>
                  </a:lnTo>
                  <a:lnTo>
                    <a:pt x="944016" y="93725"/>
                  </a:lnTo>
                  <a:lnTo>
                    <a:pt x="943966" y="76834"/>
                  </a:lnTo>
                  <a:close/>
                </a:path>
                <a:path w="944244" h="1874520">
                  <a:moveTo>
                    <a:pt x="884301" y="76834"/>
                  </a:moveTo>
                  <a:lnTo>
                    <a:pt x="875913" y="93725"/>
                  </a:lnTo>
                  <a:lnTo>
                    <a:pt x="875838" y="93876"/>
                  </a:lnTo>
                  <a:lnTo>
                    <a:pt x="909975" y="110817"/>
                  </a:lnTo>
                  <a:lnTo>
                    <a:pt x="918389" y="93876"/>
                  </a:lnTo>
                  <a:lnTo>
                    <a:pt x="918464" y="93725"/>
                  </a:lnTo>
                  <a:lnTo>
                    <a:pt x="884301" y="76834"/>
                  </a:lnTo>
                  <a:close/>
                </a:path>
                <a:path w="944244" h="1874520">
                  <a:moveTo>
                    <a:pt x="943737" y="0"/>
                  </a:moveTo>
                  <a:lnTo>
                    <a:pt x="841756" y="76962"/>
                  </a:lnTo>
                  <a:lnTo>
                    <a:pt x="875838" y="93876"/>
                  </a:lnTo>
                  <a:lnTo>
                    <a:pt x="884237" y="76962"/>
                  </a:lnTo>
                  <a:lnTo>
                    <a:pt x="884301" y="76834"/>
                  </a:lnTo>
                  <a:lnTo>
                    <a:pt x="943966" y="76834"/>
                  </a:lnTo>
                  <a:lnTo>
                    <a:pt x="943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45919" y="3662146"/>
              <a:ext cx="1144536" cy="33225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673986" y="3773805"/>
              <a:ext cx="927100" cy="114300"/>
            </a:xfrm>
            <a:custGeom>
              <a:avLst/>
              <a:gdLst/>
              <a:ahLst/>
              <a:cxnLst/>
              <a:rect l="l" t="t" r="r" b="b"/>
              <a:pathLst>
                <a:path w="927100" h="114300">
                  <a:moveTo>
                    <a:pt x="812419" y="0"/>
                  </a:moveTo>
                  <a:lnTo>
                    <a:pt x="812546" y="38172"/>
                  </a:lnTo>
                  <a:lnTo>
                    <a:pt x="812556" y="41275"/>
                  </a:lnTo>
                  <a:lnTo>
                    <a:pt x="812673" y="76272"/>
                  </a:lnTo>
                  <a:lnTo>
                    <a:pt x="812800" y="114300"/>
                  </a:lnTo>
                  <a:lnTo>
                    <a:pt x="888182" y="76272"/>
                  </a:lnTo>
                  <a:lnTo>
                    <a:pt x="831723" y="76272"/>
                  </a:lnTo>
                  <a:lnTo>
                    <a:pt x="831606" y="41275"/>
                  </a:lnTo>
                  <a:lnTo>
                    <a:pt x="831596" y="38172"/>
                  </a:lnTo>
                  <a:lnTo>
                    <a:pt x="889362" y="38172"/>
                  </a:lnTo>
                  <a:lnTo>
                    <a:pt x="812419" y="0"/>
                  </a:lnTo>
                  <a:close/>
                </a:path>
                <a:path w="927100" h="114300">
                  <a:moveTo>
                    <a:pt x="812546" y="38172"/>
                  </a:moveTo>
                  <a:lnTo>
                    <a:pt x="0" y="41275"/>
                  </a:lnTo>
                  <a:lnTo>
                    <a:pt x="233" y="76272"/>
                  </a:lnTo>
                  <a:lnTo>
                    <a:pt x="254" y="79375"/>
                  </a:lnTo>
                  <a:lnTo>
                    <a:pt x="812673" y="76272"/>
                  </a:lnTo>
                  <a:lnTo>
                    <a:pt x="812556" y="41275"/>
                  </a:lnTo>
                  <a:lnTo>
                    <a:pt x="812546" y="38172"/>
                  </a:lnTo>
                  <a:close/>
                </a:path>
                <a:path w="927100" h="114300">
                  <a:moveTo>
                    <a:pt x="889362" y="38172"/>
                  </a:moveTo>
                  <a:lnTo>
                    <a:pt x="831596" y="38172"/>
                  </a:lnTo>
                  <a:lnTo>
                    <a:pt x="831606" y="41275"/>
                  </a:lnTo>
                  <a:lnTo>
                    <a:pt x="831723" y="76272"/>
                  </a:lnTo>
                  <a:lnTo>
                    <a:pt x="888182" y="76272"/>
                  </a:lnTo>
                  <a:lnTo>
                    <a:pt x="926845" y="56769"/>
                  </a:lnTo>
                  <a:lnTo>
                    <a:pt x="889362" y="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9155" y="3773436"/>
              <a:ext cx="1161300" cy="229514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656714" y="3827399"/>
              <a:ext cx="949960" cy="2078355"/>
            </a:xfrm>
            <a:custGeom>
              <a:avLst/>
              <a:gdLst/>
              <a:ahLst/>
              <a:cxnLst/>
              <a:rect l="l" t="t" r="r" b="b"/>
              <a:pathLst>
                <a:path w="949960" h="2078354">
                  <a:moveTo>
                    <a:pt x="880070" y="1981571"/>
                  </a:moveTo>
                  <a:lnTo>
                    <a:pt x="845312" y="1997138"/>
                  </a:lnTo>
                  <a:lnTo>
                    <a:pt x="944118" y="2078126"/>
                  </a:lnTo>
                  <a:lnTo>
                    <a:pt x="947503" y="1998967"/>
                  </a:lnTo>
                  <a:lnTo>
                    <a:pt x="887857" y="1998967"/>
                  </a:lnTo>
                  <a:lnTo>
                    <a:pt x="880070" y="1981571"/>
                  </a:lnTo>
                  <a:close/>
                </a:path>
                <a:path w="949960" h="2078354">
                  <a:moveTo>
                    <a:pt x="914862" y="1965989"/>
                  </a:moveTo>
                  <a:lnTo>
                    <a:pt x="880070" y="1981571"/>
                  </a:lnTo>
                  <a:lnTo>
                    <a:pt x="887857" y="1998967"/>
                  </a:lnTo>
                  <a:lnTo>
                    <a:pt x="922655" y="1983397"/>
                  </a:lnTo>
                  <a:lnTo>
                    <a:pt x="914862" y="1965989"/>
                  </a:lnTo>
                  <a:close/>
                </a:path>
                <a:path w="949960" h="2078354">
                  <a:moveTo>
                    <a:pt x="949579" y="1950440"/>
                  </a:moveTo>
                  <a:lnTo>
                    <a:pt x="914862" y="1965989"/>
                  </a:lnTo>
                  <a:lnTo>
                    <a:pt x="922655" y="1983397"/>
                  </a:lnTo>
                  <a:lnTo>
                    <a:pt x="887857" y="1998967"/>
                  </a:lnTo>
                  <a:lnTo>
                    <a:pt x="947503" y="1998967"/>
                  </a:lnTo>
                  <a:lnTo>
                    <a:pt x="949579" y="1950440"/>
                  </a:lnTo>
                  <a:close/>
                </a:path>
                <a:path w="949960" h="2078354">
                  <a:moveTo>
                    <a:pt x="34798" y="0"/>
                  </a:moveTo>
                  <a:lnTo>
                    <a:pt x="0" y="15493"/>
                  </a:lnTo>
                  <a:lnTo>
                    <a:pt x="880070" y="1981571"/>
                  </a:lnTo>
                  <a:lnTo>
                    <a:pt x="914862" y="1965989"/>
                  </a:lnTo>
                  <a:lnTo>
                    <a:pt x="34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69408" y="1290815"/>
              <a:ext cx="894575" cy="7422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196713" y="1459229"/>
              <a:ext cx="678180" cy="525145"/>
            </a:xfrm>
            <a:custGeom>
              <a:avLst/>
              <a:gdLst/>
              <a:ahLst/>
              <a:cxnLst/>
              <a:rect l="l" t="t" r="r" b="b"/>
              <a:pathLst>
                <a:path w="678179" h="525144">
                  <a:moveTo>
                    <a:pt x="575806" y="54367"/>
                  </a:moveTo>
                  <a:lnTo>
                    <a:pt x="0" y="494792"/>
                  </a:lnTo>
                  <a:lnTo>
                    <a:pt x="23113" y="525018"/>
                  </a:lnTo>
                  <a:lnTo>
                    <a:pt x="598927" y="84588"/>
                  </a:lnTo>
                  <a:lnTo>
                    <a:pt x="575806" y="54367"/>
                  </a:lnTo>
                  <a:close/>
                </a:path>
                <a:path w="678179" h="525144">
                  <a:moveTo>
                    <a:pt x="657253" y="42799"/>
                  </a:moveTo>
                  <a:lnTo>
                    <a:pt x="590931" y="42799"/>
                  </a:lnTo>
                  <a:lnTo>
                    <a:pt x="614045" y="73025"/>
                  </a:lnTo>
                  <a:lnTo>
                    <a:pt x="598927" y="84588"/>
                  </a:lnTo>
                  <a:lnTo>
                    <a:pt x="622046" y="114808"/>
                  </a:lnTo>
                  <a:lnTo>
                    <a:pt x="657253" y="42799"/>
                  </a:lnTo>
                  <a:close/>
                </a:path>
                <a:path w="678179" h="525144">
                  <a:moveTo>
                    <a:pt x="590931" y="42799"/>
                  </a:moveTo>
                  <a:lnTo>
                    <a:pt x="575806" y="54367"/>
                  </a:lnTo>
                  <a:lnTo>
                    <a:pt x="598927" y="84588"/>
                  </a:lnTo>
                  <a:lnTo>
                    <a:pt x="614045" y="73025"/>
                  </a:lnTo>
                  <a:lnTo>
                    <a:pt x="590931" y="42799"/>
                  </a:lnTo>
                  <a:close/>
                </a:path>
                <a:path w="678179" h="525144">
                  <a:moveTo>
                    <a:pt x="678179" y="0"/>
                  </a:moveTo>
                  <a:lnTo>
                    <a:pt x="552576" y="24003"/>
                  </a:lnTo>
                  <a:lnTo>
                    <a:pt x="575806" y="54367"/>
                  </a:lnTo>
                  <a:lnTo>
                    <a:pt x="590931" y="42799"/>
                  </a:lnTo>
                  <a:lnTo>
                    <a:pt x="657253" y="42799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72455" y="1897405"/>
              <a:ext cx="891539" cy="55623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200015" y="1951101"/>
              <a:ext cx="675005" cy="340360"/>
            </a:xfrm>
            <a:custGeom>
              <a:avLst/>
              <a:gdLst/>
              <a:ahLst/>
              <a:cxnLst/>
              <a:rect l="l" t="t" r="r" b="b"/>
              <a:pathLst>
                <a:path w="675004" h="340360">
                  <a:moveTo>
                    <a:pt x="563629" y="305936"/>
                  </a:moveTo>
                  <a:lnTo>
                    <a:pt x="547115" y="340233"/>
                  </a:lnTo>
                  <a:lnTo>
                    <a:pt x="674877" y="338454"/>
                  </a:lnTo>
                  <a:lnTo>
                    <a:pt x="656106" y="314198"/>
                  </a:lnTo>
                  <a:lnTo>
                    <a:pt x="580771" y="314198"/>
                  </a:lnTo>
                  <a:lnTo>
                    <a:pt x="563629" y="305936"/>
                  </a:lnTo>
                  <a:close/>
                </a:path>
                <a:path w="675004" h="340360">
                  <a:moveTo>
                    <a:pt x="580139" y="271646"/>
                  </a:moveTo>
                  <a:lnTo>
                    <a:pt x="563629" y="305936"/>
                  </a:lnTo>
                  <a:lnTo>
                    <a:pt x="580771" y="314198"/>
                  </a:lnTo>
                  <a:lnTo>
                    <a:pt x="597281" y="279908"/>
                  </a:lnTo>
                  <a:lnTo>
                    <a:pt x="580139" y="271646"/>
                  </a:lnTo>
                  <a:close/>
                </a:path>
                <a:path w="675004" h="340360">
                  <a:moveTo>
                    <a:pt x="596646" y="237362"/>
                  </a:moveTo>
                  <a:lnTo>
                    <a:pt x="580139" y="271646"/>
                  </a:lnTo>
                  <a:lnTo>
                    <a:pt x="597281" y="279908"/>
                  </a:lnTo>
                  <a:lnTo>
                    <a:pt x="580771" y="314198"/>
                  </a:lnTo>
                  <a:lnTo>
                    <a:pt x="656106" y="314198"/>
                  </a:lnTo>
                  <a:lnTo>
                    <a:pt x="596646" y="237362"/>
                  </a:lnTo>
                  <a:close/>
                </a:path>
                <a:path w="675004" h="340360">
                  <a:moveTo>
                    <a:pt x="16510" y="0"/>
                  </a:moveTo>
                  <a:lnTo>
                    <a:pt x="0" y="34289"/>
                  </a:lnTo>
                  <a:lnTo>
                    <a:pt x="563629" y="305936"/>
                  </a:lnTo>
                  <a:lnTo>
                    <a:pt x="580139" y="271646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70932" y="3247618"/>
              <a:ext cx="893051" cy="64924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198236" y="3416046"/>
              <a:ext cx="676910" cy="431800"/>
            </a:xfrm>
            <a:custGeom>
              <a:avLst/>
              <a:gdLst/>
              <a:ahLst/>
              <a:cxnLst/>
              <a:rect l="l" t="t" r="r" b="b"/>
              <a:pathLst>
                <a:path w="676910" h="431800">
                  <a:moveTo>
                    <a:pt x="569534" y="44251"/>
                  </a:moveTo>
                  <a:lnTo>
                    <a:pt x="0" y="399160"/>
                  </a:lnTo>
                  <a:lnTo>
                    <a:pt x="20065" y="431545"/>
                  </a:lnTo>
                  <a:lnTo>
                    <a:pt x="589680" y="76586"/>
                  </a:lnTo>
                  <a:lnTo>
                    <a:pt x="569534" y="44251"/>
                  </a:lnTo>
                  <a:close/>
                </a:path>
                <a:path w="676910" h="431800">
                  <a:moveTo>
                    <a:pt x="655712" y="34162"/>
                  </a:moveTo>
                  <a:lnTo>
                    <a:pt x="585724" y="34162"/>
                  </a:lnTo>
                  <a:lnTo>
                    <a:pt x="605789" y="66548"/>
                  </a:lnTo>
                  <a:lnTo>
                    <a:pt x="589680" y="76586"/>
                  </a:lnTo>
                  <a:lnTo>
                    <a:pt x="609853" y="108965"/>
                  </a:lnTo>
                  <a:lnTo>
                    <a:pt x="655712" y="34162"/>
                  </a:lnTo>
                  <a:close/>
                </a:path>
                <a:path w="676910" h="431800">
                  <a:moveTo>
                    <a:pt x="585724" y="34162"/>
                  </a:moveTo>
                  <a:lnTo>
                    <a:pt x="569534" y="44251"/>
                  </a:lnTo>
                  <a:lnTo>
                    <a:pt x="589680" y="76586"/>
                  </a:lnTo>
                  <a:lnTo>
                    <a:pt x="605789" y="66548"/>
                  </a:lnTo>
                  <a:lnTo>
                    <a:pt x="585724" y="34162"/>
                  </a:lnTo>
                  <a:close/>
                </a:path>
                <a:path w="676910" h="431800">
                  <a:moveTo>
                    <a:pt x="676655" y="0"/>
                  </a:moveTo>
                  <a:lnTo>
                    <a:pt x="549401" y="11937"/>
                  </a:lnTo>
                  <a:lnTo>
                    <a:pt x="569534" y="44251"/>
                  </a:lnTo>
                  <a:lnTo>
                    <a:pt x="585724" y="34162"/>
                  </a:lnTo>
                  <a:lnTo>
                    <a:pt x="655712" y="34162"/>
                  </a:lnTo>
                  <a:lnTo>
                    <a:pt x="676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70932" y="3761206"/>
              <a:ext cx="893051" cy="64924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198236" y="3814444"/>
              <a:ext cx="676910" cy="432434"/>
            </a:xfrm>
            <a:custGeom>
              <a:avLst/>
              <a:gdLst/>
              <a:ahLst/>
              <a:cxnLst/>
              <a:rect l="l" t="t" r="r" b="b"/>
              <a:pathLst>
                <a:path w="676910" h="432435">
                  <a:moveTo>
                    <a:pt x="569540" y="387665"/>
                  </a:moveTo>
                  <a:lnTo>
                    <a:pt x="549401" y="419988"/>
                  </a:lnTo>
                  <a:lnTo>
                    <a:pt x="676655" y="431926"/>
                  </a:lnTo>
                  <a:lnTo>
                    <a:pt x="655712" y="397763"/>
                  </a:lnTo>
                  <a:lnTo>
                    <a:pt x="585724" y="397763"/>
                  </a:lnTo>
                  <a:lnTo>
                    <a:pt x="569540" y="387665"/>
                  </a:lnTo>
                  <a:close/>
                </a:path>
                <a:path w="676910" h="432435">
                  <a:moveTo>
                    <a:pt x="589719" y="355277"/>
                  </a:moveTo>
                  <a:lnTo>
                    <a:pt x="569540" y="387665"/>
                  </a:lnTo>
                  <a:lnTo>
                    <a:pt x="585724" y="397763"/>
                  </a:lnTo>
                  <a:lnTo>
                    <a:pt x="605916" y="365378"/>
                  </a:lnTo>
                  <a:lnTo>
                    <a:pt x="589719" y="355277"/>
                  </a:lnTo>
                  <a:close/>
                </a:path>
                <a:path w="676910" h="432435">
                  <a:moveTo>
                    <a:pt x="609853" y="322960"/>
                  </a:moveTo>
                  <a:lnTo>
                    <a:pt x="589719" y="355277"/>
                  </a:lnTo>
                  <a:lnTo>
                    <a:pt x="605916" y="365378"/>
                  </a:lnTo>
                  <a:lnTo>
                    <a:pt x="585724" y="397763"/>
                  </a:lnTo>
                  <a:lnTo>
                    <a:pt x="655712" y="397763"/>
                  </a:lnTo>
                  <a:lnTo>
                    <a:pt x="609853" y="322960"/>
                  </a:lnTo>
                  <a:close/>
                </a:path>
                <a:path w="676910" h="432435">
                  <a:moveTo>
                    <a:pt x="20065" y="0"/>
                  </a:moveTo>
                  <a:lnTo>
                    <a:pt x="0" y="32257"/>
                  </a:lnTo>
                  <a:lnTo>
                    <a:pt x="569540" y="387665"/>
                  </a:lnTo>
                  <a:lnTo>
                    <a:pt x="589719" y="355277"/>
                  </a:lnTo>
                  <a:lnTo>
                    <a:pt x="20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67884" y="5207508"/>
              <a:ext cx="896137" cy="76048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196459" y="5375910"/>
              <a:ext cx="678815" cy="544195"/>
            </a:xfrm>
            <a:custGeom>
              <a:avLst/>
              <a:gdLst/>
              <a:ahLst/>
              <a:cxnLst/>
              <a:rect l="l" t="t" r="r" b="b"/>
              <a:pathLst>
                <a:path w="678814" h="544195">
                  <a:moveTo>
                    <a:pt x="577054" y="56144"/>
                  </a:moveTo>
                  <a:lnTo>
                    <a:pt x="0" y="514197"/>
                  </a:lnTo>
                  <a:lnTo>
                    <a:pt x="23621" y="544042"/>
                  </a:lnTo>
                  <a:lnTo>
                    <a:pt x="600728" y="85948"/>
                  </a:lnTo>
                  <a:lnTo>
                    <a:pt x="577054" y="56144"/>
                  </a:lnTo>
                  <a:close/>
                </a:path>
                <a:path w="678814" h="544195">
                  <a:moveTo>
                    <a:pt x="657779" y="44322"/>
                  </a:moveTo>
                  <a:lnTo>
                    <a:pt x="591946" y="44322"/>
                  </a:lnTo>
                  <a:lnTo>
                    <a:pt x="615568" y="74167"/>
                  </a:lnTo>
                  <a:lnTo>
                    <a:pt x="600728" y="85948"/>
                  </a:lnTo>
                  <a:lnTo>
                    <a:pt x="624458" y="115823"/>
                  </a:lnTo>
                  <a:lnTo>
                    <a:pt x="657779" y="44322"/>
                  </a:lnTo>
                  <a:close/>
                </a:path>
                <a:path w="678814" h="544195">
                  <a:moveTo>
                    <a:pt x="591946" y="44322"/>
                  </a:moveTo>
                  <a:lnTo>
                    <a:pt x="577054" y="56144"/>
                  </a:lnTo>
                  <a:lnTo>
                    <a:pt x="600728" y="85948"/>
                  </a:lnTo>
                  <a:lnTo>
                    <a:pt x="615568" y="74167"/>
                  </a:lnTo>
                  <a:lnTo>
                    <a:pt x="591946" y="44322"/>
                  </a:lnTo>
                  <a:close/>
                </a:path>
                <a:path w="678814" h="544195">
                  <a:moveTo>
                    <a:pt x="678433" y="0"/>
                  </a:moveTo>
                  <a:lnTo>
                    <a:pt x="553338" y="26288"/>
                  </a:lnTo>
                  <a:lnTo>
                    <a:pt x="577054" y="56144"/>
                  </a:lnTo>
                  <a:lnTo>
                    <a:pt x="591946" y="44322"/>
                  </a:lnTo>
                  <a:lnTo>
                    <a:pt x="657779" y="44322"/>
                  </a:lnTo>
                  <a:lnTo>
                    <a:pt x="678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72455" y="5833872"/>
              <a:ext cx="891539" cy="53643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200396" y="5887389"/>
              <a:ext cx="675005" cy="324485"/>
            </a:xfrm>
            <a:custGeom>
              <a:avLst/>
              <a:gdLst/>
              <a:ahLst/>
              <a:cxnLst/>
              <a:rect l="l" t="t" r="r" b="b"/>
              <a:pathLst>
                <a:path w="675004" h="324485">
                  <a:moveTo>
                    <a:pt x="562489" y="289578"/>
                  </a:moveTo>
                  <a:lnTo>
                    <a:pt x="546734" y="324294"/>
                  </a:lnTo>
                  <a:lnTo>
                    <a:pt x="674496" y="319417"/>
                  </a:lnTo>
                  <a:lnTo>
                    <a:pt x="656678" y="297459"/>
                  </a:lnTo>
                  <a:lnTo>
                    <a:pt x="579881" y="297459"/>
                  </a:lnTo>
                  <a:lnTo>
                    <a:pt x="562489" y="289578"/>
                  </a:lnTo>
                  <a:close/>
                </a:path>
                <a:path w="675004" h="324485">
                  <a:moveTo>
                    <a:pt x="578219" y="254917"/>
                  </a:moveTo>
                  <a:lnTo>
                    <a:pt x="562489" y="289578"/>
                  </a:lnTo>
                  <a:lnTo>
                    <a:pt x="579881" y="297459"/>
                  </a:lnTo>
                  <a:lnTo>
                    <a:pt x="595502" y="262750"/>
                  </a:lnTo>
                  <a:lnTo>
                    <a:pt x="578219" y="254917"/>
                  </a:lnTo>
                  <a:close/>
                </a:path>
                <a:path w="675004" h="324485">
                  <a:moveTo>
                    <a:pt x="593978" y="220192"/>
                  </a:moveTo>
                  <a:lnTo>
                    <a:pt x="578219" y="254917"/>
                  </a:lnTo>
                  <a:lnTo>
                    <a:pt x="595502" y="262750"/>
                  </a:lnTo>
                  <a:lnTo>
                    <a:pt x="579881" y="297459"/>
                  </a:lnTo>
                  <a:lnTo>
                    <a:pt x="656678" y="297459"/>
                  </a:lnTo>
                  <a:lnTo>
                    <a:pt x="593978" y="220192"/>
                  </a:lnTo>
                  <a:close/>
                </a:path>
                <a:path w="675004" h="324485">
                  <a:moveTo>
                    <a:pt x="15748" y="0"/>
                  </a:moveTo>
                  <a:lnTo>
                    <a:pt x="0" y="34696"/>
                  </a:lnTo>
                  <a:lnTo>
                    <a:pt x="562489" y="289578"/>
                  </a:lnTo>
                  <a:lnTo>
                    <a:pt x="578219" y="254917"/>
                  </a:lnTo>
                  <a:lnTo>
                    <a:pt x="1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81368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Data</a:t>
            </a:r>
            <a:r>
              <a:rPr sz="6000" spc="-280" dirty="0"/>
              <a:t> </a:t>
            </a:r>
            <a:r>
              <a:rPr sz="6000" spc="-35" dirty="0"/>
              <a:t>Cleaning</a:t>
            </a:r>
            <a:r>
              <a:rPr sz="6000" spc="-275" dirty="0"/>
              <a:t> </a:t>
            </a:r>
            <a:r>
              <a:rPr sz="6000" spc="-85" dirty="0"/>
              <a:t>Scenario-</a:t>
            </a:r>
            <a:r>
              <a:rPr sz="6000" spc="-50" dirty="0"/>
              <a:t>1</a:t>
            </a:r>
            <a:endParaRPr sz="6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RevolvingUtilizationOfUnsecuredLines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551670" cy="2586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20" dirty="0">
                <a:latin typeface="Trebuchet MS"/>
                <a:cs typeface="Trebuchet MS"/>
              </a:rPr>
              <a:t>RevolvingUtilizationOfUnsecuredLines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outliers.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type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this?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possible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Clr>
                <a:srgbClr val="4E67C7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Its'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mean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6.05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which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greater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1.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faulty </a:t>
            </a:r>
            <a:r>
              <a:rPr sz="2400" dirty="0">
                <a:latin typeface="Trebuchet MS"/>
                <a:cs typeface="Trebuchet MS"/>
              </a:rPr>
              <a:t>values.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maximum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50710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which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way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high.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Lets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look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percentiles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know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where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exceeding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1.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3678682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75549" y="1595622"/>
            <a:ext cx="2738755" cy="741045"/>
            <a:chOff x="2575549" y="1595622"/>
            <a:chExt cx="2738755" cy="741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1595622"/>
              <a:ext cx="2703596" cy="73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3847" y="1647431"/>
              <a:ext cx="2720340" cy="688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2607563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607563" y="643127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0" y="643127"/>
                  </a:moveTo>
                  <a:lnTo>
                    <a:pt x="2607563" y="643127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16148" y="1735658"/>
            <a:ext cx="23761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5549" y="3459455"/>
            <a:ext cx="2738755" cy="739775"/>
            <a:chOff x="2575549" y="3459455"/>
            <a:chExt cx="2738755" cy="7397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49" y="3459455"/>
              <a:ext cx="2703596" cy="7376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3847" y="3509759"/>
              <a:ext cx="2720340" cy="6888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2607563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2607563" y="641603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0" y="641603"/>
                  </a:moveTo>
                  <a:lnTo>
                    <a:pt x="2607563" y="641603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6148" y="3598926"/>
            <a:ext cx="237807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Medium(10%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75549" y="5532088"/>
            <a:ext cx="2738755" cy="741045"/>
            <a:chOff x="2575549" y="5532088"/>
            <a:chExt cx="2738755" cy="74104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5532088"/>
              <a:ext cx="2703596" cy="7391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3847" y="5583935"/>
              <a:ext cx="2720340" cy="6888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2607563" y="0"/>
                  </a:moveTo>
                  <a:lnTo>
                    <a:pt x="0" y="0"/>
                  </a:lnTo>
                  <a:lnTo>
                    <a:pt x="0" y="643128"/>
                  </a:lnTo>
                  <a:lnTo>
                    <a:pt x="2607563" y="643128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0" y="643128"/>
                  </a:moveTo>
                  <a:lnTo>
                    <a:pt x="2607563" y="643128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8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16148" y="5673344"/>
            <a:ext cx="2378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1205" marR="5080" indent="-73914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50623" y="1086587"/>
            <a:ext cx="5442585" cy="737870"/>
            <a:chOff x="5850623" y="1086587"/>
            <a:chExt cx="5442585" cy="73787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1086587"/>
              <a:ext cx="5442229" cy="73767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34455" y="1156741"/>
              <a:ext cx="5271515" cy="6476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5346191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5346191" y="641603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0" y="641603"/>
                  </a:moveTo>
                  <a:lnTo>
                    <a:pt x="5346191" y="641603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49771" y="1242822"/>
            <a:ext cx="49930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continuous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variables.</a:t>
            </a:r>
            <a:endParaRPr sz="13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50623" y="1889747"/>
            <a:ext cx="5442585" cy="844550"/>
            <a:chOff x="5850623" y="1889747"/>
            <a:chExt cx="5442585" cy="84455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1917186"/>
              <a:ext cx="5442229" cy="73916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2511" y="1889747"/>
              <a:ext cx="4425695" cy="84430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97828" y="1975230"/>
            <a:ext cx="409638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probable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category/class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Look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cross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tab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850623" y="3014472"/>
            <a:ext cx="5442585" cy="845819"/>
            <a:chOff x="5850623" y="3014472"/>
            <a:chExt cx="5442585" cy="845819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043422"/>
              <a:ext cx="5442229" cy="7391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9987" y="3014472"/>
              <a:ext cx="5190744" cy="84581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15303" y="3101086"/>
            <a:ext cx="486600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Non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50623" y="3846563"/>
            <a:ext cx="5442585" cy="844550"/>
            <a:chOff x="5850623" y="3846563"/>
            <a:chExt cx="5442585" cy="84455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874002"/>
              <a:ext cx="5442229" cy="7391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99403" y="3846563"/>
              <a:ext cx="5393436" cy="84430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14720" y="3932682"/>
            <a:ext cx="506285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categorical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variables,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rename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“Missing”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numeric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discrete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class,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850623" y="5003273"/>
            <a:ext cx="5442585" cy="739775"/>
            <a:chOff x="5850623" y="5003273"/>
            <a:chExt cx="5442585" cy="739775"/>
          </a:xfrm>
        </p:grpSpPr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5003273"/>
              <a:ext cx="5442229" cy="7391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0363" y="5074920"/>
              <a:ext cx="5268468" cy="64616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075679" y="5161026"/>
            <a:ext cx="49441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1980" marR="5080" indent="-1859914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indicator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missing.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Drop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850623" y="5835358"/>
            <a:ext cx="5442585" cy="737870"/>
            <a:chOff x="5850623" y="5835358"/>
            <a:chExt cx="5442585" cy="737870"/>
          </a:xfrm>
        </p:grpSpPr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5835358"/>
              <a:ext cx="5442229" cy="73767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50279" y="5905499"/>
              <a:ext cx="5090160" cy="64616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5346191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5346191" y="641604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0" y="641604"/>
                  </a:moveTo>
                  <a:lnTo>
                    <a:pt x="5346191" y="641604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165596" y="5992164"/>
            <a:ext cx="47618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missing,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club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rest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endParaRPr sz="1300">
              <a:latin typeface="Trebuchet MS"/>
              <a:cs typeface="Trebuchet MS"/>
            </a:endParaRPr>
          </a:p>
          <a:p>
            <a:pPr marL="3810"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“Non-missing”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629155" y="1290815"/>
            <a:ext cx="4435475" cy="5080000"/>
            <a:chOff x="1629155" y="1290815"/>
            <a:chExt cx="4435475" cy="5080000"/>
          </a:xfrm>
        </p:grpSpPr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9155" y="1799844"/>
              <a:ext cx="1161300" cy="20924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657095" y="1968245"/>
              <a:ext cx="944244" cy="1874520"/>
            </a:xfrm>
            <a:custGeom>
              <a:avLst/>
              <a:gdLst/>
              <a:ahLst/>
              <a:cxnLst/>
              <a:rect l="l" t="t" r="r" b="b"/>
              <a:pathLst>
                <a:path w="944244" h="1874520">
                  <a:moveTo>
                    <a:pt x="875838" y="93876"/>
                  </a:moveTo>
                  <a:lnTo>
                    <a:pt x="0" y="1857628"/>
                  </a:lnTo>
                  <a:lnTo>
                    <a:pt x="34036" y="1874520"/>
                  </a:lnTo>
                  <a:lnTo>
                    <a:pt x="909975" y="110817"/>
                  </a:lnTo>
                  <a:lnTo>
                    <a:pt x="875838" y="93876"/>
                  </a:lnTo>
                  <a:close/>
                </a:path>
                <a:path w="944244" h="1874520">
                  <a:moveTo>
                    <a:pt x="943966" y="76834"/>
                  </a:moveTo>
                  <a:lnTo>
                    <a:pt x="884301" y="76834"/>
                  </a:lnTo>
                  <a:lnTo>
                    <a:pt x="918464" y="93725"/>
                  </a:lnTo>
                  <a:lnTo>
                    <a:pt x="909975" y="110817"/>
                  </a:lnTo>
                  <a:lnTo>
                    <a:pt x="944118" y="127762"/>
                  </a:lnTo>
                  <a:lnTo>
                    <a:pt x="944016" y="93725"/>
                  </a:lnTo>
                  <a:lnTo>
                    <a:pt x="943966" y="76834"/>
                  </a:lnTo>
                  <a:close/>
                </a:path>
                <a:path w="944244" h="1874520">
                  <a:moveTo>
                    <a:pt x="884301" y="76834"/>
                  </a:moveTo>
                  <a:lnTo>
                    <a:pt x="875913" y="93725"/>
                  </a:lnTo>
                  <a:lnTo>
                    <a:pt x="875838" y="93876"/>
                  </a:lnTo>
                  <a:lnTo>
                    <a:pt x="909975" y="110817"/>
                  </a:lnTo>
                  <a:lnTo>
                    <a:pt x="918389" y="93876"/>
                  </a:lnTo>
                  <a:lnTo>
                    <a:pt x="918464" y="93725"/>
                  </a:lnTo>
                  <a:lnTo>
                    <a:pt x="884301" y="76834"/>
                  </a:lnTo>
                  <a:close/>
                </a:path>
                <a:path w="944244" h="1874520">
                  <a:moveTo>
                    <a:pt x="943737" y="0"/>
                  </a:moveTo>
                  <a:lnTo>
                    <a:pt x="841756" y="76962"/>
                  </a:lnTo>
                  <a:lnTo>
                    <a:pt x="875838" y="93876"/>
                  </a:lnTo>
                  <a:lnTo>
                    <a:pt x="884237" y="76962"/>
                  </a:lnTo>
                  <a:lnTo>
                    <a:pt x="884301" y="76834"/>
                  </a:lnTo>
                  <a:lnTo>
                    <a:pt x="943966" y="76834"/>
                  </a:lnTo>
                  <a:lnTo>
                    <a:pt x="943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45919" y="3662146"/>
              <a:ext cx="1144536" cy="33225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673986" y="3773805"/>
              <a:ext cx="927100" cy="114300"/>
            </a:xfrm>
            <a:custGeom>
              <a:avLst/>
              <a:gdLst/>
              <a:ahLst/>
              <a:cxnLst/>
              <a:rect l="l" t="t" r="r" b="b"/>
              <a:pathLst>
                <a:path w="927100" h="114300">
                  <a:moveTo>
                    <a:pt x="812419" y="0"/>
                  </a:moveTo>
                  <a:lnTo>
                    <a:pt x="812546" y="38172"/>
                  </a:lnTo>
                  <a:lnTo>
                    <a:pt x="812556" y="41275"/>
                  </a:lnTo>
                  <a:lnTo>
                    <a:pt x="812673" y="76272"/>
                  </a:lnTo>
                  <a:lnTo>
                    <a:pt x="812800" y="114300"/>
                  </a:lnTo>
                  <a:lnTo>
                    <a:pt x="888182" y="76272"/>
                  </a:lnTo>
                  <a:lnTo>
                    <a:pt x="831723" y="76272"/>
                  </a:lnTo>
                  <a:lnTo>
                    <a:pt x="831606" y="41275"/>
                  </a:lnTo>
                  <a:lnTo>
                    <a:pt x="831596" y="38172"/>
                  </a:lnTo>
                  <a:lnTo>
                    <a:pt x="889362" y="38172"/>
                  </a:lnTo>
                  <a:lnTo>
                    <a:pt x="812419" y="0"/>
                  </a:lnTo>
                  <a:close/>
                </a:path>
                <a:path w="927100" h="114300">
                  <a:moveTo>
                    <a:pt x="812546" y="38172"/>
                  </a:moveTo>
                  <a:lnTo>
                    <a:pt x="0" y="41275"/>
                  </a:lnTo>
                  <a:lnTo>
                    <a:pt x="233" y="76272"/>
                  </a:lnTo>
                  <a:lnTo>
                    <a:pt x="254" y="79375"/>
                  </a:lnTo>
                  <a:lnTo>
                    <a:pt x="812673" y="76272"/>
                  </a:lnTo>
                  <a:lnTo>
                    <a:pt x="812556" y="41275"/>
                  </a:lnTo>
                  <a:lnTo>
                    <a:pt x="812546" y="38172"/>
                  </a:lnTo>
                  <a:close/>
                </a:path>
                <a:path w="927100" h="114300">
                  <a:moveTo>
                    <a:pt x="889362" y="38172"/>
                  </a:moveTo>
                  <a:lnTo>
                    <a:pt x="831596" y="38172"/>
                  </a:lnTo>
                  <a:lnTo>
                    <a:pt x="831606" y="41275"/>
                  </a:lnTo>
                  <a:lnTo>
                    <a:pt x="831723" y="76272"/>
                  </a:lnTo>
                  <a:lnTo>
                    <a:pt x="888182" y="76272"/>
                  </a:lnTo>
                  <a:lnTo>
                    <a:pt x="926845" y="56769"/>
                  </a:lnTo>
                  <a:lnTo>
                    <a:pt x="889362" y="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9155" y="3773436"/>
              <a:ext cx="1161300" cy="229514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656714" y="3827399"/>
              <a:ext cx="949960" cy="2078355"/>
            </a:xfrm>
            <a:custGeom>
              <a:avLst/>
              <a:gdLst/>
              <a:ahLst/>
              <a:cxnLst/>
              <a:rect l="l" t="t" r="r" b="b"/>
              <a:pathLst>
                <a:path w="949960" h="2078354">
                  <a:moveTo>
                    <a:pt x="880070" y="1981571"/>
                  </a:moveTo>
                  <a:lnTo>
                    <a:pt x="845312" y="1997138"/>
                  </a:lnTo>
                  <a:lnTo>
                    <a:pt x="944118" y="2078126"/>
                  </a:lnTo>
                  <a:lnTo>
                    <a:pt x="947503" y="1998967"/>
                  </a:lnTo>
                  <a:lnTo>
                    <a:pt x="887857" y="1998967"/>
                  </a:lnTo>
                  <a:lnTo>
                    <a:pt x="880070" y="1981571"/>
                  </a:lnTo>
                  <a:close/>
                </a:path>
                <a:path w="949960" h="2078354">
                  <a:moveTo>
                    <a:pt x="914862" y="1965989"/>
                  </a:moveTo>
                  <a:lnTo>
                    <a:pt x="880070" y="1981571"/>
                  </a:lnTo>
                  <a:lnTo>
                    <a:pt x="887857" y="1998967"/>
                  </a:lnTo>
                  <a:lnTo>
                    <a:pt x="922655" y="1983397"/>
                  </a:lnTo>
                  <a:lnTo>
                    <a:pt x="914862" y="1965989"/>
                  </a:lnTo>
                  <a:close/>
                </a:path>
                <a:path w="949960" h="2078354">
                  <a:moveTo>
                    <a:pt x="949579" y="1950440"/>
                  </a:moveTo>
                  <a:lnTo>
                    <a:pt x="914862" y="1965989"/>
                  </a:lnTo>
                  <a:lnTo>
                    <a:pt x="922655" y="1983397"/>
                  </a:lnTo>
                  <a:lnTo>
                    <a:pt x="887857" y="1998967"/>
                  </a:lnTo>
                  <a:lnTo>
                    <a:pt x="947503" y="1998967"/>
                  </a:lnTo>
                  <a:lnTo>
                    <a:pt x="949579" y="1950440"/>
                  </a:lnTo>
                  <a:close/>
                </a:path>
                <a:path w="949960" h="2078354">
                  <a:moveTo>
                    <a:pt x="34798" y="0"/>
                  </a:moveTo>
                  <a:lnTo>
                    <a:pt x="0" y="15493"/>
                  </a:lnTo>
                  <a:lnTo>
                    <a:pt x="880070" y="1981571"/>
                  </a:lnTo>
                  <a:lnTo>
                    <a:pt x="914862" y="1965989"/>
                  </a:lnTo>
                  <a:lnTo>
                    <a:pt x="34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69408" y="1290815"/>
              <a:ext cx="894575" cy="7422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196713" y="1459229"/>
              <a:ext cx="678180" cy="525145"/>
            </a:xfrm>
            <a:custGeom>
              <a:avLst/>
              <a:gdLst/>
              <a:ahLst/>
              <a:cxnLst/>
              <a:rect l="l" t="t" r="r" b="b"/>
              <a:pathLst>
                <a:path w="678179" h="525144">
                  <a:moveTo>
                    <a:pt x="575806" y="54367"/>
                  </a:moveTo>
                  <a:lnTo>
                    <a:pt x="0" y="494792"/>
                  </a:lnTo>
                  <a:lnTo>
                    <a:pt x="23113" y="525018"/>
                  </a:lnTo>
                  <a:lnTo>
                    <a:pt x="598927" y="84588"/>
                  </a:lnTo>
                  <a:lnTo>
                    <a:pt x="575806" y="54367"/>
                  </a:lnTo>
                  <a:close/>
                </a:path>
                <a:path w="678179" h="525144">
                  <a:moveTo>
                    <a:pt x="657253" y="42799"/>
                  </a:moveTo>
                  <a:lnTo>
                    <a:pt x="590931" y="42799"/>
                  </a:lnTo>
                  <a:lnTo>
                    <a:pt x="614045" y="73025"/>
                  </a:lnTo>
                  <a:lnTo>
                    <a:pt x="598927" y="84588"/>
                  </a:lnTo>
                  <a:lnTo>
                    <a:pt x="622046" y="114808"/>
                  </a:lnTo>
                  <a:lnTo>
                    <a:pt x="657253" y="42799"/>
                  </a:lnTo>
                  <a:close/>
                </a:path>
                <a:path w="678179" h="525144">
                  <a:moveTo>
                    <a:pt x="590931" y="42799"/>
                  </a:moveTo>
                  <a:lnTo>
                    <a:pt x="575806" y="54367"/>
                  </a:lnTo>
                  <a:lnTo>
                    <a:pt x="598927" y="84588"/>
                  </a:lnTo>
                  <a:lnTo>
                    <a:pt x="614045" y="73025"/>
                  </a:lnTo>
                  <a:lnTo>
                    <a:pt x="590931" y="42799"/>
                  </a:lnTo>
                  <a:close/>
                </a:path>
                <a:path w="678179" h="525144">
                  <a:moveTo>
                    <a:pt x="678179" y="0"/>
                  </a:moveTo>
                  <a:lnTo>
                    <a:pt x="552576" y="24003"/>
                  </a:lnTo>
                  <a:lnTo>
                    <a:pt x="575806" y="54367"/>
                  </a:lnTo>
                  <a:lnTo>
                    <a:pt x="590931" y="42799"/>
                  </a:lnTo>
                  <a:lnTo>
                    <a:pt x="657253" y="42799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72455" y="1897405"/>
              <a:ext cx="891539" cy="55623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200015" y="1951101"/>
              <a:ext cx="675005" cy="340360"/>
            </a:xfrm>
            <a:custGeom>
              <a:avLst/>
              <a:gdLst/>
              <a:ahLst/>
              <a:cxnLst/>
              <a:rect l="l" t="t" r="r" b="b"/>
              <a:pathLst>
                <a:path w="675004" h="340360">
                  <a:moveTo>
                    <a:pt x="563629" y="305936"/>
                  </a:moveTo>
                  <a:lnTo>
                    <a:pt x="547115" y="340233"/>
                  </a:lnTo>
                  <a:lnTo>
                    <a:pt x="674877" y="338454"/>
                  </a:lnTo>
                  <a:lnTo>
                    <a:pt x="656106" y="314198"/>
                  </a:lnTo>
                  <a:lnTo>
                    <a:pt x="580771" y="314198"/>
                  </a:lnTo>
                  <a:lnTo>
                    <a:pt x="563629" y="305936"/>
                  </a:lnTo>
                  <a:close/>
                </a:path>
                <a:path w="675004" h="340360">
                  <a:moveTo>
                    <a:pt x="580139" y="271646"/>
                  </a:moveTo>
                  <a:lnTo>
                    <a:pt x="563629" y="305936"/>
                  </a:lnTo>
                  <a:lnTo>
                    <a:pt x="580771" y="314198"/>
                  </a:lnTo>
                  <a:lnTo>
                    <a:pt x="597281" y="279908"/>
                  </a:lnTo>
                  <a:lnTo>
                    <a:pt x="580139" y="271646"/>
                  </a:lnTo>
                  <a:close/>
                </a:path>
                <a:path w="675004" h="340360">
                  <a:moveTo>
                    <a:pt x="596646" y="237362"/>
                  </a:moveTo>
                  <a:lnTo>
                    <a:pt x="580139" y="271646"/>
                  </a:lnTo>
                  <a:lnTo>
                    <a:pt x="597281" y="279908"/>
                  </a:lnTo>
                  <a:lnTo>
                    <a:pt x="580771" y="314198"/>
                  </a:lnTo>
                  <a:lnTo>
                    <a:pt x="656106" y="314198"/>
                  </a:lnTo>
                  <a:lnTo>
                    <a:pt x="596646" y="237362"/>
                  </a:lnTo>
                  <a:close/>
                </a:path>
                <a:path w="675004" h="340360">
                  <a:moveTo>
                    <a:pt x="16510" y="0"/>
                  </a:moveTo>
                  <a:lnTo>
                    <a:pt x="0" y="34289"/>
                  </a:lnTo>
                  <a:lnTo>
                    <a:pt x="563629" y="305936"/>
                  </a:lnTo>
                  <a:lnTo>
                    <a:pt x="580139" y="271646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70932" y="3247618"/>
              <a:ext cx="893051" cy="64924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198236" y="3416046"/>
              <a:ext cx="676910" cy="431800"/>
            </a:xfrm>
            <a:custGeom>
              <a:avLst/>
              <a:gdLst/>
              <a:ahLst/>
              <a:cxnLst/>
              <a:rect l="l" t="t" r="r" b="b"/>
              <a:pathLst>
                <a:path w="676910" h="431800">
                  <a:moveTo>
                    <a:pt x="569534" y="44251"/>
                  </a:moveTo>
                  <a:lnTo>
                    <a:pt x="0" y="399160"/>
                  </a:lnTo>
                  <a:lnTo>
                    <a:pt x="20065" y="431545"/>
                  </a:lnTo>
                  <a:lnTo>
                    <a:pt x="589680" y="76586"/>
                  </a:lnTo>
                  <a:lnTo>
                    <a:pt x="569534" y="44251"/>
                  </a:lnTo>
                  <a:close/>
                </a:path>
                <a:path w="676910" h="431800">
                  <a:moveTo>
                    <a:pt x="655712" y="34162"/>
                  </a:moveTo>
                  <a:lnTo>
                    <a:pt x="585724" y="34162"/>
                  </a:lnTo>
                  <a:lnTo>
                    <a:pt x="605789" y="66548"/>
                  </a:lnTo>
                  <a:lnTo>
                    <a:pt x="589680" y="76586"/>
                  </a:lnTo>
                  <a:lnTo>
                    <a:pt x="609853" y="108965"/>
                  </a:lnTo>
                  <a:lnTo>
                    <a:pt x="655712" y="34162"/>
                  </a:lnTo>
                  <a:close/>
                </a:path>
                <a:path w="676910" h="431800">
                  <a:moveTo>
                    <a:pt x="585724" y="34162"/>
                  </a:moveTo>
                  <a:lnTo>
                    <a:pt x="569534" y="44251"/>
                  </a:lnTo>
                  <a:lnTo>
                    <a:pt x="589680" y="76586"/>
                  </a:lnTo>
                  <a:lnTo>
                    <a:pt x="605789" y="66548"/>
                  </a:lnTo>
                  <a:lnTo>
                    <a:pt x="585724" y="34162"/>
                  </a:lnTo>
                  <a:close/>
                </a:path>
                <a:path w="676910" h="431800">
                  <a:moveTo>
                    <a:pt x="676655" y="0"/>
                  </a:moveTo>
                  <a:lnTo>
                    <a:pt x="549401" y="11937"/>
                  </a:lnTo>
                  <a:lnTo>
                    <a:pt x="569534" y="44251"/>
                  </a:lnTo>
                  <a:lnTo>
                    <a:pt x="585724" y="34162"/>
                  </a:lnTo>
                  <a:lnTo>
                    <a:pt x="655712" y="34162"/>
                  </a:lnTo>
                  <a:lnTo>
                    <a:pt x="676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70932" y="3761206"/>
              <a:ext cx="893051" cy="64924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198236" y="3814444"/>
              <a:ext cx="676910" cy="432434"/>
            </a:xfrm>
            <a:custGeom>
              <a:avLst/>
              <a:gdLst/>
              <a:ahLst/>
              <a:cxnLst/>
              <a:rect l="l" t="t" r="r" b="b"/>
              <a:pathLst>
                <a:path w="676910" h="432435">
                  <a:moveTo>
                    <a:pt x="569540" y="387665"/>
                  </a:moveTo>
                  <a:lnTo>
                    <a:pt x="549401" y="419988"/>
                  </a:lnTo>
                  <a:lnTo>
                    <a:pt x="676655" y="431926"/>
                  </a:lnTo>
                  <a:lnTo>
                    <a:pt x="655712" y="397763"/>
                  </a:lnTo>
                  <a:lnTo>
                    <a:pt x="585724" y="397763"/>
                  </a:lnTo>
                  <a:lnTo>
                    <a:pt x="569540" y="387665"/>
                  </a:lnTo>
                  <a:close/>
                </a:path>
                <a:path w="676910" h="432435">
                  <a:moveTo>
                    <a:pt x="589719" y="355277"/>
                  </a:moveTo>
                  <a:lnTo>
                    <a:pt x="569540" y="387665"/>
                  </a:lnTo>
                  <a:lnTo>
                    <a:pt x="585724" y="397763"/>
                  </a:lnTo>
                  <a:lnTo>
                    <a:pt x="605916" y="365378"/>
                  </a:lnTo>
                  <a:lnTo>
                    <a:pt x="589719" y="355277"/>
                  </a:lnTo>
                  <a:close/>
                </a:path>
                <a:path w="676910" h="432435">
                  <a:moveTo>
                    <a:pt x="609853" y="322960"/>
                  </a:moveTo>
                  <a:lnTo>
                    <a:pt x="589719" y="355277"/>
                  </a:lnTo>
                  <a:lnTo>
                    <a:pt x="605916" y="365378"/>
                  </a:lnTo>
                  <a:lnTo>
                    <a:pt x="585724" y="397763"/>
                  </a:lnTo>
                  <a:lnTo>
                    <a:pt x="655712" y="397763"/>
                  </a:lnTo>
                  <a:lnTo>
                    <a:pt x="609853" y="322960"/>
                  </a:lnTo>
                  <a:close/>
                </a:path>
                <a:path w="676910" h="432435">
                  <a:moveTo>
                    <a:pt x="20065" y="0"/>
                  </a:moveTo>
                  <a:lnTo>
                    <a:pt x="0" y="32257"/>
                  </a:lnTo>
                  <a:lnTo>
                    <a:pt x="569540" y="387665"/>
                  </a:lnTo>
                  <a:lnTo>
                    <a:pt x="589719" y="355277"/>
                  </a:lnTo>
                  <a:lnTo>
                    <a:pt x="20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67884" y="5207508"/>
              <a:ext cx="896137" cy="76048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196459" y="5375910"/>
              <a:ext cx="678815" cy="544195"/>
            </a:xfrm>
            <a:custGeom>
              <a:avLst/>
              <a:gdLst/>
              <a:ahLst/>
              <a:cxnLst/>
              <a:rect l="l" t="t" r="r" b="b"/>
              <a:pathLst>
                <a:path w="678814" h="544195">
                  <a:moveTo>
                    <a:pt x="577054" y="56144"/>
                  </a:moveTo>
                  <a:lnTo>
                    <a:pt x="0" y="514197"/>
                  </a:lnTo>
                  <a:lnTo>
                    <a:pt x="23621" y="544042"/>
                  </a:lnTo>
                  <a:lnTo>
                    <a:pt x="600728" y="85948"/>
                  </a:lnTo>
                  <a:lnTo>
                    <a:pt x="577054" y="56144"/>
                  </a:lnTo>
                  <a:close/>
                </a:path>
                <a:path w="678814" h="544195">
                  <a:moveTo>
                    <a:pt x="657779" y="44322"/>
                  </a:moveTo>
                  <a:lnTo>
                    <a:pt x="591946" y="44322"/>
                  </a:lnTo>
                  <a:lnTo>
                    <a:pt x="615568" y="74167"/>
                  </a:lnTo>
                  <a:lnTo>
                    <a:pt x="600728" y="85948"/>
                  </a:lnTo>
                  <a:lnTo>
                    <a:pt x="624458" y="115823"/>
                  </a:lnTo>
                  <a:lnTo>
                    <a:pt x="657779" y="44322"/>
                  </a:lnTo>
                  <a:close/>
                </a:path>
                <a:path w="678814" h="544195">
                  <a:moveTo>
                    <a:pt x="591946" y="44322"/>
                  </a:moveTo>
                  <a:lnTo>
                    <a:pt x="577054" y="56144"/>
                  </a:lnTo>
                  <a:lnTo>
                    <a:pt x="600728" y="85948"/>
                  </a:lnTo>
                  <a:lnTo>
                    <a:pt x="615568" y="74167"/>
                  </a:lnTo>
                  <a:lnTo>
                    <a:pt x="591946" y="44322"/>
                  </a:lnTo>
                  <a:close/>
                </a:path>
                <a:path w="678814" h="544195">
                  <a:moveTo>
                    <a:pt x="678433" y="0"/>
                  </a:moveTo>
                  <a:lnTo>
                    <a:pt x="553338" y="26288"/>
                  </a:lnTo>
                  <a:lnTo>
                    <a:pt x="577054" y="56144"/>
                  </a:lnTo>
                  <a:lnTo>
                    <a:pt x="591946" y="44322"/>
                  </a:lnTo>
                  <a:lnTo>
                    <a:pt x="657779" y="44322"/>
                  </a:lnTo>
                  <a:lnTo>
                    <a:pt x="678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72455" y="5833872"/>
              <a:ext cx="891539" cy="53643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200396" y="5887389"/>
              <a:ext cx="675005" cy="324485"/>
            </a:xfrm>
            <a:custGeom>
              <a:avLst/>
              <a:gdLst/>
              <a:ahLst/>
              <a:cxnLst/>
              <a:rect l="l" t="t" r="r" b="b"/>
              <a:pathLst>
                <a:path w="675004" h="324485">
                  <a:moveTo>
                    <a:pt x="562489" y="289578"/>
                  </a:moveTo>
                  <a:lnTo>
                    <a:pt x="546734" y="324294"/>
                  </a:lnTo>
                  <a:lnTo>
                    <a:pt x="674496" y="319417"/>
                  </a:lnTo>
                  <a:lnTo>
                    <a:pt x="656678" y="297459"/>
                  </a:lnTo>
                  <a:lnTo>
                    <a:pt x="579881" y="297459"/>
                  </a:lnTo>
                  <a:lnTo>
                    <a:pt x="562489" y="289578"/>
                  </a:lnTo>
                  <a:close/>
                </a:path>
                <a:path w="675004" h="324485">
                  <a:moveTo>
                    <a:pt x="578219" y="254917"/>
                  </a:moveTo>
                  <a:lnTo>
                    <a:pt x="562489" y="289578"/>
                  </a:lnTo>
                  <a:lnTo>
                    <a:pt x="579881" y="297459"/>
                  </a:lnTo>
                  <a:lnTo>
                    <a:pt x="595502" y="262750"/>
                  </a:lnTo>
                  <a:lnTo>
                    <a:pt x="578219" y="254917"/>
                  </a:lnTo>
                  <a:close/>
                </a:path>
                <a:path w="675004" h="324485">
                  <a:moveTo>
                    <a:pt x="593978" y="220192"/>
                  </a:moveTo>
                  <a:lnTo>
                    <a:pt x="578219" y="254917"/>
                  </a:lnTo>
                  <a:lnTo>
                    <a:pt x="595502" y="262750"/>
                  </a:lnTo>
                  <a:lnTo>
                    <a:pt x="579881" y="297459"/>
                  </a:lnTo>
                  <a:lnTo>
                    <a:pt x="656678" y="297459"/>
                  </a:lnTo>
                  <a:lnTo>
                    <a:pt x="593978" y="220192"/>
                  </a:lnTo>
                  <a:close/>
                </a:path>
                <a:path w="675004" h="324485">
                  <a:moveTo>
                    <a:pt x="15748" y="0"/>
                  </a:moveTo>
                  <a:lnTo>
                    <a:pt x="0" y="34696"/>
                  </a:lnTo>
                  <a:lnTo>
                    <a:pt x="562489" y="289578"/>
                  </a:lnTo>
                  <a:lnTo>
                    <a:pt x="578219" y="254917"/>
                  </a:lnTo>
                  <a:lnTo>
                    <a:pt x="1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3678682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75549" y="1086587"/>
            <a:ext cx="8717915" cy="1250315"/>
            <a:chOff x="2575549" y="1086587"/>
            <a:chExt cx="8717915" cy="1250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1595622"/>
              <a:ext cx="2703596" cy="73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3847" y="1647431"/>
              <a:ext cx="2720340" cy="688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9943" y="1645920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2607563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607563" y="643127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9943" y="1645920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0" y="643127"/>
                  </a:moveTo>
                  <a:lnTo>
                    <a:pt x="2607563" y="643127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623" y="1086587"/>
              <a:ext cx="5442229" cy="7376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4455" y="1156741"/>
              <a:ext cx="5271515" cy="6476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75020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5346191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5346191" y="641603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75020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0" y="641603"/>
                  </a:moveTo>
                  <a:lnTo>
                    <a:pt x="5346191" y="641603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16148" y="1242822"/>
            <a:ext cx="8326755" cy="946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33115"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continuous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variables.</a:t>
            </a:r>
            <a:endParaRPr sz="1300">
              <a:latin typeface="Trebuchet MS"/>
              <a:cs typeface="Trebuchet MS"/>
            </a:endParaRPr>
          </a:p>
          <a:p>
            <a:pPr marL="3335654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median.</a:t>
            </a:r>
            <a:endParaRPr sz="1300">
              <a:latin typeface="Trebuchet MS"/>
              <a:cs typeface="Trebuchet MS"/>
            </a:endParaRPr>
          </a:p>
          <a:p>
            <a:pPr marR="5942330" algn="ctr">
              <a:lnSpc>
                <a:spcPct val="100000"/>
              </a:lnSpc>
              <a:spcBef>
                <a:spcPts val="77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marR="5941695" algn="ctr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29155" y="1290815"/>
            <a:ext cx="4434840" cy="2601595"/>
            <a:chOff x="1629155" y="1290815"/>
            <a:chExt cx="4434840" cy="260159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9155" y="1799844"/>
              <a:ext cx="1161300" cy="20924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57095" y="1968245"/>
              <a:ext cx="944244" cy="1874520"/>
            </a:xfrm>
            <a:custGeom>
              <a:avLst/>
              <a:gdLst/>
              <a:ahLst/>
              <a:cxnLst/>
              <a:rect l="l" t="t" r="r" b="b"/>
              <a:pathLst>
                <a:path w="944244" h="1874520">
                  <a:moveTo>
                    <a:pt x="875838" y="93876"/>
                  </a:moveTo>
                  <a:lnTo>
                    <a:pt x="0" y="1857628"/>
                  </a:lnTo>
                  <a:lnTo>
                    <a:pt x="34036" y="1874520"/>
                  </a:lnTo>
                  <a:lnTo>
                    <a:pt x="909975" y="110817"/>
                  </a:lnTo>
                  <a:lnTo>
                    <a:pt x="875838" y="93876"/>
                  </a:lnTo>
                  <a:close/>
                </a:path>
                <a:path w="944244" h="1874520">
                  <a:moveTo>
                    <a:pt x="943966" y="76834"/>
                  </a:moveTo>
                  <a:lnTo>
                    <a:pt x="884301" y="76834"/>
                  </a:lnTo>
                  <a:lnTo>
                    <a:pt x="918464" y="93725"/>
                  </a:lnTo>
                  <a:lnTo>
                    <a:pt x="909975" y="110817"/>
                  </a:lnTo>
                  <a:lnTo>
                    <a:pt x="944118" y="127762"/>
                  </a:lnTo>
                  <a:lnTo>
                    <a:pt x="944016" y="93725"/>
                  </a:lnTo>
                  <a:lnTo>
                    <a:pt x="943966" y="76834"/>
                  </a:lnTo>
                  <a:close/>
                </a:path>
                <a:path w="944244" h="1874520">
                  <a:moveTo>
                    <a:pt x="884301" y="76834"/>
                  </a:moveTo>
                  <a:lnTo>
                    <a:pt x="875913" y="93725"/>
                  </a:lnTo>
                  <a:lnTo>
                    <a:pt x="875838" y="93876"/>
                  </a:lnTo>
                  <a:lnTo>
                    <a:pt x="909975" y="110817"/>
                  </a:lnTo>
                  <a:lnTo>
                    <a:pt x="918389" y="93876"/>
                  </a:lnTo>
                  <a:lnTo>
                    <a:pt x="918464" y="93725"/>
                  </a:lnTo>
                  <a:lnTo>
                    <a:pt x="884301" y="76834"/>
                  </a:lnTo>
                  <a:close/>
                </a:path>
                <a:path w="944244" h="1874520">
                  <a:moveTo>
                    <a:pt x="943737" y="0"/>
                  </a:moveTo>
                  <a:lnTo>
                    <a:pt x="841756" y="76962"/>
                  </a:lnTo>
                  <a:lnTo>
                    <a:pt x="875838" y="93876"/>
                  </a:lnTo>
                  <a:lnTo>
                    <a:pt x="884237" y="76962"/>
                  </a:lnTo>
                  <a:lnTo>
                    <a:pt x="884301" y="76834"/>
                  </a:lnTo>
                  <a:lnTo>
                    <a:pt x="943966" y="76834"/>
                  </a:lnTo>
                  <a:lnTo>
                    <a:pt x="943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9408" y="1290815"/>
              <a:ext cx="894575" cy="742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196713" y="1459229"/>
              <a:ext cx="678180" cy="525145"/>
            </a:xfrm>
            <a:custGeom>
              <a:avLst/>
              <a:gdLst/>
              <a:ahLst/>
              <a:cxnLst/>
              <a:rect l="l" t="t" r="r" b="b"/>
              <a:pathLst>
                <a:path w="678179" h="525144">
                  <a:moveTo>
                    <a:pt x="575806" y="54367"/>
                  </a:moveTo>
                  <a:lnTo>
                    <a:pt x="0" y="494792"/>
                  </a:lnTo>
                  <a:lnTo>
                    <a:pt x="23113" y="525018"/>
                  </a:lnTo>
                  <a:lnTo>
                    <a:pt x="598927" y="84588"/>
                  </a:lnTo>
                  <a:lnTo>
                    <a:pt x="575806" y="54367"/>
                  </a:lnTo>
                  <a:close/>
                </a:path>
                <a:path w="678179" h="525144">
                  <a:moveTo>
                    <a:pt x="657253" y="42799"/>
                  </a:moveTo>
                  <a:lnTo>
                    <a:pt x="590931" y="42799"/>
                  </a:lnTo>
                  <a:lnTo>
                    <a:pt x="614045" y="73025"/>
                  </a:lnTo>
                  <a:lnTo>
                    <a:pt x="598927" y="84588"/>
                  </a:lnTo>
                  <a:lnTo>
                    <a:pt x="622046" y="114808"/>
                  </a:lnTo>
                  <a:lnTo>
                    <a:pt x="657253" y="42799"/>
                  </a:lnTo>
                  <a:close/>
                </a:path>
                <a:path w="678179" h="525144">
                  <a:moveTo>
                    <a:pt x="590931" y="42799"/>
                  </a:moveTo>
                  <a:lnTo>
                    <a:pt x="575806" y="54367"/>
                  </a:lnTo>
                  <a:lnTo>
                    <a:pt x="598927" y="84588"/>
                  </a:lnTo>
                  <a:lnTo>
                    <a:pt x="614045" y="73025"/>
                  </a:lnTo>
                  <a:lnTo>
                    <a:pt x="590931" y="42799"/>
                  </a:lnTo>
                  <a:close/>
                </a:path>
                <a:path w="678179" h="525144">
                  <a:moveTo>
                    <a:pt x="678179" y="0"/>
                  </a:moveTo>
                  <a:lnTo>
                    <a:pt x="552576" y="24003"/>
                  </a:lnTo>
                  <a:lnTo>
                    <a:pt x="575806" y="54367"/>
                  </a:lnTo>
                  <a:lnTo>
                    <a:pt x="590931" y="42799"/>
                  </a:lnTo>
                  <a:lnTo>
                    <a:pt x="657253" y="42799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Data</a:t>
            </a:r>
            <a:r>
              <a:rPr spc="-245" dirty="0"/>
              <a:t> </a:t>
            </a:r>
            <a:r>
              <a:rPr spc="-45" dirty="0"/>
              <a:t>Cleaning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867265" cy="17087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20" dirty="0">
                <a:latin typeface="Trebuchet MS"/>
                <a:cs typeface="Trebuchet MS"/>
              </a:rPr>
              <a:t>RevolvingUtilizationOfUnsecuredLines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outliers.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Since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percentage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10%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will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replace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outliers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with </a:t>
            </a:r>
            <a:r>
              <a:rPr sz="2400" dirty="0">
                <a:latin typeface="Trebuchet MS"/>
                <a:cs typeface="Trebuchet MS"/>
              </a:rPr>
              <a:t>mean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reaming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data.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Outliers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greater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1.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LAB</a:t>
            </a:r>
            <a:r>
              <a:rPr spc="-20" dirty="0"/>
              <a:t>:</a:t>
            </a:r>
            <a:r>
              <a:rPr spc="-185" dirty="0"/>
              <a:t> </a:t>
            </a:r>
            <a:r>
              <a:rPr spc="-20" dirty="0"/>
              <a:t>Data</a:t>
            </a:r>
            <a:r>
              <a:rPr spc="-195" dirty="0"/>
              <a:t> </a:t>
            </a:r>
            <a:r>
              <a:rPr spc="-55" dirty="0"/>
              <a:t>Cleaning</a:t>
            </a:r>
            <a:r>
              <a:rPr spc="-170" dirty="0"/>
              <a:t> </a:t>
            </a:r>
            <a:r>
              <a:rPr spc="-80" dirty="0"/>
              <a:t>Scenario-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329"/>
            <a:ext cx="9178925" cy="200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3758565" indent="-129539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in </a:t>
            </a:r>
            <a:r>
              <a:rPr sz="2400" spc="-10" dirty="0">
                <a:latin typeface="Trebuchet MS"/>
                <a:cs typeface="Trebuchet MS"/>
              </a:rPr>
              <a:t>RevolvingUtilizationOfUnsecuredLines?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Get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detailed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percentile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distribution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Clean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create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new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removing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all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</a:t>
            </a:r>
            <a:r>
              <a:rPr sz="2400" spc="-10" dirty="0">
                <a:latin typeface="Trebuchet MS"/>
                <a:cs typeface="Trebuchet MS"/>
              </a:rPr>
              <a:t>issues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</a:t>
            </a:r>
            <a:r>
              <a:rPr spc="-35" dirty="0"/>
              <a:t>:</a:t>
            </a:r>
            <a:r>
              <a:rPr spc="-190" dirty="0"/>
              <a:t> </a:t>
            </a:r>
            <a:r>
              <a:rPr spc="-20" dirty="0"/>
              <a:t>Data</a:t>
            </a:r>
            <a:r>
              <a:rPr spc="-200" dirty="0"/>
              <a:t> </a:t>
            </a:r>
            <a:r>
              <a:rPr spc="-50" dirty="0"/>
              <a:t>Cleaning</a:t>
            </a:r>
            <a:r>
              <a:rPr spc="-200" dirty="0"/>
              <a:t> </a:t>
            </a:r>
            <a:r>
              <a:rPr spc="-80" dirty="0"/>
              <a:t>Scenario-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8259"/>
            <a:ext cx="10643235" cy="3927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637279">
              <a:lnSpc>
                <a:spcPct val="120100"/>
              </a:lnSpc>
              <a:spcBef>
                <a:spcPts val="90"/>
              </a:spcBef>
            </a:pPr>
            <a:r>
              <a:rPr sz="2000" spc="-10" dirty="0">
                <a:latin typeface="Consolas"/>
                <a:cs typeface="Consolas"/>
              </a:rPr>
              <a:t>median_util=loans[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'monthly_utilization'</a:t>
            </a:r>
            <a:r>
              <a:rPr sz="2000" spc="-10" dirty="0">
                <a:latin typeface="Consolas"/>
                <a:cs typeface="Consolas"/>
              </a:rPr>
              <a:t>].median() median_util util_temp_bool_vect=loans[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'monthly_utilization'</a:t>
            </a:r>
            <a:r>
              <a:rPr sz="2000" spc="-10" dirty="0">
                <a:latin typeface="Consolas"/>
                <a:cs typeface="Consolas"/>
              </a:rPr>
              <a:t>]&gt;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1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onsolas"/>
                <a:cs typeface="Consolas"/>
              </a:rPr>
              <a:t>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'util_new'</a:t>
            </a:r>
            <a:r>
              <a:rPr sz="2000" spc="-10" dirty="0">
                <a:latin typeface="Consolas"/>
                <a:cs typeface="Consolas"/>
              </a:rPr>
              <a:t>]=loans[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'monthly_utilization'</a:t>
            </a:r>
            <a:r>
              <a:rPr sz="2000" spc="-10" dirty="0"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onsolas"/>
                <a:cs typeface="Consolas"/>
              </a:rPr>
              <a:t>loans[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'util_new'</a:t>
            </a:r>
            <a:r>
              <a:rPr sz="2000" spc="-10" dirty="0">
                <a:latin typeface="Consolas"/>
                <a:cs typeface="Consolas"/>
              </a:rPr>
              <a:t>][util_temp_bool_vect]=median_util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120000"/>
              </a:lnSpc>
            </a:pP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20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percentile</a:t>
            </a:r>
            <a:r>
              <a:rPr sz="20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distribution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sz="20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8000"/>
                </a:solidFill>
                <a:latin typeface="Consolas"/>
                <a:cs typeface="Consolas"/>
              </a:rPr>
              <a:t>new</a:t>
            </a:r>
            <a:r>
              <a:rPr sz="2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8000"/>
                </a:solidFill>
                <a:latin typeface="Consolas"/>
                <a:cs typeface="Consolas"/>
              </a:rPr>
              <a:t>variable </a:t>
            </a:r>
            <a:r>
              <a:rPr sz="2000" dirty="0">
                <a:latin typeface="Consolas"/>
                <a:cs typeface="Consolas"/>
              </a:rPr>
              <a:t>util_percentiles1=loans[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'util_new'</a:t>
            </a:r>
            <a:r>
              <a:rPr sz="2000" dirty="0">
                <a:latin typeface="Consolas"/>
                <a:cs typeface="Consolas"/>
              </a:rPr>
              <a:t>].quantile([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0.05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65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0.1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0.25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55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40" dirty="0"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0.75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50" dirty="0"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09875A"/>
                </a:solidFill>
                <a:latin typeface="Consolas"/>
                <a:cs typeface="Consolas"/>
              </a:rPr>
              <a:t>0.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9875A"/>
                </a:solidFill>
                <a:latin typeface="Consolas"/>
                <a:cs typeface="Consolas"/>
              </a:rPr>
              <a:t>80</a:t>
            </a:r>
            <a:r>
              <a:rPr sz="2000" dirty="0">
                <a:latin typeface="Consolas"/>
                <a:cs typeface="Consolas"/>
              </a:rPr>
              <a:t>,</a:t>
            </a:r>
            <a:r>
              <a:rPr sz="2000" spc="-5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0.91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0.95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0.96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0.97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0.975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0.98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0.99</a:t>
            </a:r>
            <a:r>
              <a:rPr sz="2000" spc="-10" dirty="0">
                <a:latin typeface="Consolas"/>
                <a:cs typeface="Consolas"/>
              </a:rPr>
              <a:t>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1</a:t>
            </a:r>
            <a:r>
              <a:rPr sz="2000" spc="-10" dirty="0">
                <a:latin typeface="Consolas"/>
                <a:cs typeface="Consolas"/>
              </a:rPr>
              <a:t>])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spc="-10" dirty="0">
                <a:solidFill>
                  <a:srgbClr val="795E25"/>
                </a:solidFill>
                <a:latin typeface="Consolas"/>
                <a:cs typeface="Consolas"/>
              </a:rPr>
              <a:t>round</a:t>
            </a:r>
            <a:r>
              <a:rPr sz="2000" spc="-10" dirty="0">
                <a:latin typeface="Consolas"/>
                <a:cs typeface="Consolas"/>
              </a:rPr>
              <a:t>(util_percentiles1,</a:t>
            </a:r>
            <a:r>
              <a:rPr sz="2000" spc="-10" dirty="0">
                <a:solidFill>
                  <a:srgbClr val="09875A"/>
                </a:solidFill>
                <a:latin typeface="Consolas"/>
                <a:cs typeface="Consolas"/>
              </a:rPr>
              <a:t>2</a:t>
            </a:r>
            <a:r>
              <a:rPr sz="2000" spc="-10" dirty="0"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81368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Data</a:t>
            </a:r>
            <a:r>
              <a:rPr sz="6000" spc="-280" dirty="0"/>
              <a:t> </a:t>
            </a:r>
            <a:r>
              <a:rPr sz="6000" spc="-35" dirty="0"/>
              <a:t>Cleaning</a:t>
            </a:r>
            <a:r>
              <a:rPr sz="6000" spc="-275" dirty="0"/>
              <a:t> </a:t>
            </a:r>
            <a:r>
              <a:rPr sz="6000" spc="-85" dirty="0"/>
              <a:t>Scenario-</a:t>
            </a:r>
            <a:r>
              <a:rPr sz="6000" spc="-50" dirty="0"/>
              <a:t>2</a:t>
            </a:r>
            <a:endParaRPr sz="6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Categorical</a:t>
            </a:r>
            <a:r>
              <a:rPr spc="-190" dirty="0"/>
              <a:t> </a:t>
            </a:r>
            <a:r>
              <a:rPr spc="-70" dirty="0"/>
              <a:t>Variables</a:t>
            </a:r>
            <a:r>
              <a:rPr spc="-185" dirty="0"/>
              <a:t> </a:t>
            </a:r>
            <a:r>
              <a:rPr spc="-30" dirty="0"/>
              <a:t>imputation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5317" y="1507871"/>
          <a:ext cx="3647440" cy="4196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91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Region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spc="-20" dirty="0">
                          <a:latin typeface="Trebuchet MS"/>
                          <a:cs typeface="Trebuchet MS"/>
                        </a:rPr>
                        <a:t>East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spc="-20" dirty="0">
                          <a:latin typeface="Trebuchet MS"/>
                          <a:cs typeface="Trebuchet MS"/>
                        </a:rPr>
                        <a:t>West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North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South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91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sz="200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Missing/</a:t>
                      </a:r>
                      <a:r>
                        <a:rPr sz="2000" spc="-5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NA</a:t>
                      </a:r>
                      <a:r>
                        <a:rPr sz="2000" spc="-14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(5%)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91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048503" y="3602309"/>
            <a:ext cx="4977130" cy="1776730"/>
            <a:chOff x="5048503" y="3602309"/>
            <a:chExt cx="4977130" cy="1776730"/>
          </a:xfrm>
        </p:grpSpPr>
        <p:sp>
          <p:nvSpPr>
            <p:cNvPr id="5" name="object 5"/>
            <p:cNvSpPr/>
            <p:nvPr/>
          </p:nvSpPr>
          <p:spPr>
            <a:xfrm>
              <a:off x="5054853" y="3608659"/>
              <a:ext cx="4964430" cy="1764030"/>
            </a:xfrm>
            <a:custGeom>
              <a:avLst/>
              <a:gdLst/>
              <a:ahLst/>
              <a:cxnLst/>
              <a:rect l="l" t="t" r="r" b="b"/>
              <a:pathLst>
                <a:path w="4964430" h="1764029">
                  <a:moveTo>
                    <a:pt x="3238648" y="0"/>
                  </a:moveTo>
                  <a:lnTo>
                    <a:pt x="3183188" y="671"/>
                  </a:lnTo>
                  <a:lnTo>
                    <a:pt x="3127636" y="2158"/>
                  </a:lnTo>
                  <a:lnTo>
                    <a:pt x="3072036" y="4469"/>
                  </a:lnTo>
                  <a:lnTo>
                    <a:pt x="3016428" y="7612"/>
                  </a:lnTo>
                  <a:lnTo>
                    <a:pt x="2960854" y="11592"/>
                  </a:lnTo>
                  <a:lnTo>
                    <a:pt x="2905357" y="16418"/>
                  </a:lnTo>
                  <a:lnTo>
                    <a:pt x="2849979" y="22098"/>
                  </a:lnTo>
                  <a:lnTo>
                    <a:pt x="2794760" y="28637"/>
                  </a:lnTo>
                  <a:lnTo>
                    <a:pt x="2739743" y="36044"/>
                  </a:lnTo>
                  <a:lnTo>
                    <a:pt x="2684970" y="44327"/>
                  </a:lnTo>
                  <a:lnTo>
                    <a:pt x="2630482" y="53491"/>
                  </a:lnTo>
                  <a:lnTo>
                    <a:pt x="2576322" y="63545"/>
                  </a:lnTo>
                  <a:lnTo>
                    <a:pt x="2512416" y="76678"/>
                  </a:lnTo>
                  <a:lnTo>
                    <a:pt x="2450297" y="90831"/>
                  </a:lnTo>
                  <a:lnTo>
                    <a:pt x="2389992" y="105974"/>
                  </a:lnTo>
                  <a:lnTo>
                    <a:pt x="2331531" y="122073"/>
                  </a:lnTo>
                  <a:lnTo>
                    <a:pt x="2274940" y="139097"/>
                  </a:lnTo>
                  <a:lnTo>
                    <a:pt x="2220250" y="157013"/>
                  </a:lnTo>
                  <a:lnTo>
                    <a:pt x="2167487" y="175788"/>
                  </a:lnTo>
                  <a:lnTo>
                    <a:pt x="2116681" y="195391"/>
                  </a:lnTo>
                  <a:lnTo>
                    <a:pt x="2067860" y="215790"/>
                  </a:lnTo>
                  <a:lnTo>
                    <a:pt x="2021052" y="236952"/>
                  </a:lnTo>
                  <a:lnTo>
                    <a:pt x="1976285" y="258844"/>
                  </a:lnTo>
                  <a:lnTo>
                    <a:pt x="1933589" y="281435"/>
                  </a:lnTo>
                  <a:lnTo>
                    <a:pt x="1892990" y="304693"/>
                  </a:lnTo>
                  <a:lnTo>
                    <a:pt x="1854519" y="328584"/>
                  </a:lnTo>
                  <a:lnTo>
                    <a:pt x="1818202" y="353077"/>
                  </a:lnTo>
                  <a:lnTo>
                    <a:pt x="1784069" y="378139"/>
                  </a:lnTo>
                  <a:lnTo>
                    <a:pt x="1752148" y="403739"/>
                  </a:lnTo>
                  <a:lnTo>
                    <a:pt x="1722467" y="429844"/>
                  </a:lnTo>
                  <a:lnTo>
                    <a:pt x="1695054" y="456421"/>
                  </a:lnTo>
                  <a:lnTo>
                    <a:pt x="1647148" y="510865"/>
                  </a:lnTo>
                  <a:lnTo>
                    <a:pt x="1608657" y="566812"/>
                  </a:lnTo>
                  <a:lnTo>
                    <a:pt x="1579807" y="624005"/>
                  </a:lnTo>
                  <a:lnTo>
                    <a:pt x="1560826" y="682184"/>
                  </a:lnTo>
                  <a:lnTo>
                    <a:pt x="1551940" y="741093"/>
                  </a:lnTo>
                  <a:lnTo>
                    <a:pt x="1551354" y="770741"/>
                  </a:lnTo>
                  <a:lnTo>
                    <a:pt x="1553377" y="800473"/>
                  </a:lnTo>
                  <a:lnTo>
                    <a:pt x="1565364" y="860066"/>
                  </a:lnTo>
                  <a:lnTo>
                    <a:pt x="1588127" y="919614"/>
                  </a:lnTo>
                  <a:lnTo>
                    <a:pt x="1621893" y="978858"/>
                  </a:lnTo>
                  <a:lnTo>
                    <a:pt x="1666891" y="1037541"/>
                  </a:lnTo>
                  <a:lnTo>
                    <a:pt x="1693672" y="1066591"/>
                  </a:lnTo>
                  <a:lnTo>
                    <a:pt x="0" y="1763821"/>
                  </a:lnTo>
                  <a:lnTo>
                    <a:pt x="2062861" y="1306113"/>
                  </a:lnTo>
                  <a:lnTo>
                    <a:pt x="2102558" y="1322963"/>
                  </a:lnTo>
                  <a:lnTo>
                    <a:pt x="2143239" y="1339160"/>
                  </a:lnTo>
                  <a:lnTo>
                    <a:pt x="2184866" y="1354701"/>
                  </a:lnTo>
                  <a:lnTo>
                    <a:pt x="2227400" y="1369583"/>
                  </a:lnTo>
                  <a:lnTo>
                    <a:pt x="2270802" y="1383802"/>
                  </a:lnTo>
                  <a:lnTo>
                    <a:pt x="2315035" y="1397356"/>
                  </a:lnTo>
                  <a:lnTo>
                    <a:pt x="2360060" y="1410242"/>
                  </a:lnTo>
                  <a:lnTo>
                    <a:pt x="2405838" y="1422455"/>
                  </a:lnTo>
                  <a:lnTo>
                    <a:pt x="2452332" y="1433994"/>
                  </a:lnTo>
                  <a:lnTo>
                    <a:pt x="2499502" y="1444854"/>
                  </a:lnTo>
                  <a:lnTo>
                    <a:pt x="2547311" y="1455033"/>
                  </a:lnTo>
                  <a:lnTo>
                    <a:pt x="2595720" y="1464527"/>
                  </a:lnTo>
                  <a:lnTo>
                    <a:pt x="2644690" y="1473334"/>
                  </a:lnTo>
                  <a:lnTo>
                    <a:pt x="2694184" y="1481449"/>
                  </a:lnTo>
                  <a:lnTo>
                    <a:pt x="2744163" y="1488871"/>
                  </a:lnTo>
                  <a:lnTo>
                    <a:pt x="2794589" y="1495595"/>
                  </a:lnTo>
                  <a:lnTo>
                    <a:pt x="2845423" y="1501618"/>
                  </a:lnTo>
                  <a:lnTo>
                    <a:pt x="2896626" y="1506938"/>
                  </a:lnTo>
                  <a:lnTo>
                    <a:pt x="2948162" y="1511552"/>
                  </a:lnTo>
                  <a:lnTo>
                    <a:pt x="2999990" y="1515455"/>
                  </a:lnTo>
                  <a:lnTo>
                    <a:pt x="3052073" y="1518645"/>
                  </a:lnTo>
                  <a:lnTo>
                    <a:pt x="3104373" y="1521118"/>
                  </a:lnTo>
                  <a:lnTo>
                    <a:pt x="3156850" y="1522872"/>
                  </a:lnTo>
                  <a:lnTo>
                    <a:pt x="3209467" y="1523903"/>
                  </a:lnTo>
                  <a:lnTo>
                    <a:pt x="3262186" y="1524209"/>
                  </a:lnTo>
                  <a:lnTo>
                    <a:pt x="3314967" y="1523785"/>
                  </a:lnTo>
                  <a:lnTo>
                    <a:pt x="3367773" y="1522629"/>
                  </a:lnTo>
                  <a:lnTo>
                    <a:pt x="3420565" y="1520737"/>
                  </a:lnTo>
                  <a:lnTo>
                    <a:pt x="3473305" y="1518107"/>
                  </a:lnTo>
                  <a:lnTo>
                    <a:pt x="3525955" y="1514735"/>
                  </a:lnTo>
                  <a:lnTo>
                    <a:pt x="3578475" y="1510618"/>
                  </a:lnTo>
                  <a:lnTo>
                    <a:pt x="3630828" y="1505753"/>
                  </a:lnTo>
                  <a:lnTo>
                    <a:pt x="3682976" y="1500137"/>
                  </a:lnTo>
                  <a:lnTo>
                    <a:pt x="3734879" y="1493765"/>
                  </a:lnTo>
                  <a:lnTo>
                    <a:pt x="3786500" y="1486637"/>
                  </a:lnTo>
                  <a:lnTo>
                    <a:pt x="3837801" y="1478747"/>
                  </a:lnTo>
                  <a:lnTo>
                    <a:pt x="3888742" y="1470093"/>
                  </a:lnTo>
                  <a:lnTo>
                    <a:pt x="3939286" y="1460672"/>
                  </a:lnTo>
                  <a:lnTo>
                    <a:pt x="4003191" y="1447549"/>
                  </a:lnTo>
                  <a:lnTo>
                    <a:pt x="4065310" y="1433404"/>
                  </a:lnTo>
                  <a:lnTo>
                    <a:pt x="4125615" y="1418270"/>
                  </a:lnTo>
                  <a:lnTo>
                    <a:pt x="4184076" y="1402179"/>
                  </a:lnTo>
                  <a:lnTo>
                    <a:pt x="4240667" y="1385162"/>
                  </a:lnTo>
                  <a:lnTo>
                    <a:pt x="4295357" y="1367254"/>
                  </a:lnTo>
                  <a:lnTo>
                    <a:pt x="4348120" y="1348485"/>
                  </a:lnTo>
                  <a:lnTo>
                    <a:pt x="4398926" y="1328888"/>
                  </a:lnTo>
                  <a:lnTo>
                    <a:pt x="4447747" y="1308495"/>
                  </a:lnTo>
                  <a:lnTo>
                    <a:pt x="4494555" y="1287339"/>
                  </a:lnTo>
                  <a:lnTo>
                    <a:pt x="4539322" y="1265452"/>
                  </a:lnTo>
                  <a:lnTo>
                    <a:pt x="4582018" y="1242865"/>
                  </a:lnTo>
                  <a:lnTo>
                    <a:pt x="4622617" y="1219613"/>
                  </a:lnTo>
                  <a:lnTo>
                    <a:pt x="4661088" y="1195726"/>
                  </a:lnTo>
                  <a:lnTo>
                    <a:pt x="4697405" y="1171236"/>
                  </a:lnTo>
                  <a:lnTo>
                    <a:pt x="4731538" y="1146177"/>
                  </a:lnTo>
                  <a:lnTo>
                    <a:pt x="4763459" y="1120581"/>
                  </a:lnTo>
                  <a:lnTo>
                    <a:pt x="4793140" y="1094479"/>
                  </a:lnTo>
                  <a:lnTo>
                    <a:pt x="4820553" y="1067905"/>
                  </a:lnTo>
                  <a:lnTo>
                    <a:pt x="4868459" y="1013466"/>
                  </a:lnTo>
                  <a:lnTo>
                    <a:pt x="4906950" y="957523"/>
                  </a:lnTo>
                  <a:lnTo>
                    <a:pt x="4935800" y="900333"/>
                  </a:lnTo>
                  <a:lnTo>
                    <a:pt x="4954781" y="842155"/>
                  </a:lnTo>
                  <a:lnTo>
                    <a:pt x="4963667" y="783248"/>
                  </a:lnTo>
                  <a:lnTo>
                    <a:pt x="4964253" y="753602"/>
                  </a:lnTo>
                  <a:lnTo>
                    <a:pt x="4962230" y="723869"/>
                  </a:lnTo>
                  <a:lnTo>
                    <a:pt x="4950243" y="664277"/>
                  </a:lnTo>
                  <a:lnTo>
                    <a:pt x="4927480" y="604730"/>
                  </a:lnTo>
                  <a:lnTo>
                    <a:pt x="4893714" y="545486"/>
                  </a:lnTo>
                  <a:lnTo>
                    <a:pt x="4848716" y="486803"/>
                  </a:lnTo>
                  <a:lnTo>
                    <a:pt x="4821936" y="457753"/>
                  </a:lnTo>
                  <a:lnTo>
                    <a:pt x="4771662" y="410625"/>
                  </a:lnTo>
                  <a:lnTo>
                    <a:pt x="4715170" y="365738"/>
                  </a:lnTo>
                  <a:lnTo>
                    <a:pt x="4652795" y="323149"/>
                  </a:lnTo>
                  <a:lnTo>
                    <a:pt x="4619505" y="302735"/>
                  </a:lnTo>
                  <a:lnTo>
                    <a:pt x="4584871" y="282917"/>
                  </a:lnTo>
                  <a:lnTo>
                    <a:pt x="4548932" y="263703"/>
                  </a:lnTo>
                  <a:lnTo>
                    <a:pt x="4511732" y="245101"/>
                  </a:lnTo>
                  <a:lnTo>
                    <a:pt x="4473312" y="227118"/>
                  </a:lnTo>
                  <a:lnTo>
                    <a:pt x="4433714" y="209760"/>
                  </a:lnTo>
                  <a:lnTo>
                    <a:pt x="4392980" y="193035"/>
                  </a:lnTo>
                  <a:lnTo>
                    <a:pt x="4351151" y="176952"/>
                  </a:lnTo>
                  <a:lnTo>
                    <a:pt x="4308270" y="161516"/>
                  </a:lnTo>
                  <a:lnTo>
                    <a:pt x="4264377" y="146735"/>
                  </a:lnTo>
                  <a:lnTo>
                    <a:pt x="4219516" y="132617"/>
                  </a:lnTo>
                  <a:lnTo>
                    <a:pt x="4173727" y="119168"/>
                  </a:lnTo>
                  <a:lnTo>
                    <a:pt x="4127053" y="106397"/>
                  </a:lnTo>
                  <a:lnTo>
                    <a:pt x="4079536" y="94311"/>
                  </a:lnTo>
                  <a:lnTo>
                    <a:pt x="4031216" y="82916"/>
                  </a:lnTo>
                  <a:lnTo>
                    <a:pt x="3982137" y="72221"/>
                  </a:lnTo>
                  <a:lnTo>
                    <a:pt x="3932339" y="62232"/>
                  </a:lnTo>
                  <a:lnTo>
                    <a:pt x="3881866" y="52957"/>
                  </a:lnTo>
                  <a:lnTo>
                    <a:pt x="3830757" y="44403"/>
                  </a:lnTo>
                  <a:lnTo>
                    <a:pt x="3779056" y="36577"/>
                  </a:lnTo>
                  <a:lnTo>
                    <a:pt x="3726804" y="29487"/>
                  </a:lnTo>
                  <a:lnTo>
                    <a:pt x="3674044" y="23141"/>
                  </a:lnTo>
                  <a:lnTo>
                    <a:pt x="3620815" y="17545"/>
                  </a:lnTo>
                  <a:lnTo>
                    <a:pt x="3567162" y="12706"/>
                  </a:lnTo>
                  <a:lnTo>
                    <a:pt x="3513125" y="8633"/>
                  </a:lnTo>
                  <a:lnTo>
                    <a:pt x="3458746" y="5332"/>
                  </a:lnTo>
                  <a:lnTo>
                    <a:pt x="3404067" y="2811"/>
                  </a:lnTo>
                  <a:lnTo>
                    <a:pt x="3349130" y="1077"/>
                  </a:lnTo>
                  <a:lnTo>
                    <a:pt x="3293976" y="137"/>
                  </a:lnTo>
                  <a:lnTo>
                    <a:pt x="3238648" y="0"/>
                  </a:lnTo>
                  <a:close/>
                </a:path>
              </a:pathLst>
            </a:custGeom>
            <a:solidFill>
              <a:srgbClr val="BCE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54853" y="3608659"/>
              <a:ext cx="4964430" cy="1764030"/>
            </a:xfrm>
            <a:custGeom>
              <a:avLst/>
              <a:gdLst/>
              <a:ahLst/>
              <a:cxnLst/>
              <a:rect l="l" t="t" r="r" b="b"/>
              <a:pathLst>
                <a:path w="4964430" h="1764029">
                  <a:moveTo>
                    <a:pt x="0" y="1763821"/>
                  </a:moveTo>
                  <a:lnTo>
                    <a:pt x="1693672" y="1066591"/>
                  </a:lnTo>
                  <a:lnTo>
                    <a:pt x="1666891" y="1037541"/>
                  </a:lnTo>
                  <a:lnTo>
                    <a:pt x="1642974" y="1008286"/>
                  </a:lnTo>
                  <a:lnTo>
                    <a:pt x="1603620" y="949290"/>
                  </a:lnTo>
                  <a:lnTo>
                    <a:pt x="1575384" y="889862"/>
                  </a:lnTo>
                  <a:lnTo>
                    <a:pt x="1558038" y="830259"/>
                  </a:lnTo>
                  <a:lnTo>
                    <a:pt x="1551354" y="770741"/>
                  </a:lnTo>
                  <a:lnTo>
                    <a:pt x="1551940" y="741093"/>
                  </a:lnTo>
                  <a:lnTo>
                    <a:pt x="1560826" y="682184"/>
                  </a:lnTo>
                  <a:lnTo>
                    <a:pt x="1579807" y="624005"/>
                  </a:lnTo>
                  <a:lnTo>
                    <a:pt x="1608657" y="566812"/>
                  </a:lnTo>
                  <a:lnTo>
                    <a:pt x="1647148" y="510865"/>
                  </a:lnTo>
                  <a:lnTo>
                    <a:pt x="1695054" y="456421"/>
                  </a:lnTo>
                  <a:lnTo>
                    <a:pt x="1722467" y="429844"/>
                  </a:lnTo>
                  <a:lnTo>
                    <a:pt x="1752148" y="403739"/>
                  </a:lnTo>
                  <a:lnTo>
                    <a:pt x="1784069" y="378139"/>
                  </a:lnTo>
                  <a:lnTo>
                    <a:pt x="1818202" y="353077"/>
                  </a:lnTo>
                  <a:lnTo>
                    <a:pt x="1854519" y="328584"/>
                  </a:lnTo>
                  <a:lnTo>
                    <a:pt x="1892990" y="304693"/>
                  </a:lnTo>
                  <a:lnTo>
                    <a:pt x="1933589" y="281435"/>
                  </a:lnTo>
                  <a:lnTo>
                    <a:pt x="1976285" y="258844"/>
                  </a:lnTo>
                  <a:lnTo>
                    <a:pt x="2021052" y="236952"/>
                  </a:lnTo>
                  <a:lnTo>
                    <a:pt x="2067860" y="215790"/>
                  </a:lnTo>
                  <a:lnTo>
                    <a:pt x="2116681" y="195391"/>
                  </a:lnTo>
                  <a:lnTo>
                    <a:pt x="2167487" y="175788"/>
                  </a:lnTo>
                  <a:lnTo>
                    <a:pt x="2220250" y="157013"/>
                  </a:lnTo>
                  <a:lnTo>
                    <a:pt x="2274940" y="139097"/>
                  </a:lnTo>
                  <a:lnTo>
                    <a:pt x="2331531" y="122073"/>
                  </a:lnTo>
                  <a:lnTo>
                    <a:pt x="2389992" y="105974"/>
                  </a:lnTo>
                  <a:lnTo>
                    <a:pt x="2450297" y="90831"/>
                  </a:lnTo>
                  <a:lnTo>
                    <a:pt x="2512416" y="76678"/>
                  </a:lnTo>
                  <a:lnTo>
                    <a:pt x="2576322" y="63545"/>
                  </a:lnTo>
                  <a:lnTo>
                    <a:pt x="2630482" y="53491"/>
                  </a:lnTo>
                  <a:lnTo>
                    <a:pt x="2684970" y="44327"/>
                  </a:lnTo>
                  <a:lnTo>
                    <a:pt x="2739743" y="36044"/>
                  </a:lnTo>
                  <a:lnTo>
                    <a:pt x="2794760" y="28637"/>
                  </a:lnTo>
                  <a:lnTo>
                    <a:pt x="2849979" y="22098"/>
                  </a:lnTo>
                  <a:lnTo>
                    <a:pt x="2905357" y="16418"/>
                  </a:lnTo>
                  <a:lnTo>
                    <a:pt x="2960854" y="11592"/>
                  </a:lnTo>
                  <a:lnTo>
                    <a:pt x="3016428" y="7612"/>
                  </a:lnTo>
                  <a:lnTo>
                    <a:pt x="3072036" y="4469"/>
                  </a:lnTo>
                  <a:lnTo>
                    <a:pt x="3127636" y="2158"/>
                  </a:lnTo>
                  <a:lnTo>
                    <a:pt x="3183188" y="671"/>
                  </a:lnTo>
                  <a:lnTo>
                    <a:pt x="3238648" y="0"/>
                  </a:lnTo>
                  <a:lnTo>
                    <a:pt x="3293976" y="137"/>
                  </a:lnTo>
                  <a:lnTo>
                    <a:pt x="3349130" y="1077"/>
                  </a:lnTo>
                  <a:lnTo>
                    <a:pt x="3404067" y="2811"/>
                  </a:lnTo>
                  <a:lnTo>
                    <a:pt x="3458746" y="5332"/>
                  </a:lnTo>
                  <a:lnTo>
                    <a:pt x="3513125" y="8633"/>
                  </a:lnTo>
                  <a:lnTo>
                    <a:pt x="3567162" y="12706"/>
                  </a:lnTo>
                  <a:lnTo>
                    <a:pt x="3620815" y="17545"/>
                  </a:lnTo>
                  <a:lnTo>
                    <a:pt x="3674044" y="23141"/>
                  </a:lnTo>
                  <a:lnTo>
                    <a:pt x="3726804" y="29487"/>
                  </a:lnTo>
                  <a:lnTo>
                    <a:pt x="3779056" y="36577"/>
                  </a:lnTo>
                  <a:lnTo>
                    <a:pt x="3830757" y="44403"/>
                  </a:lnTo>
                  <a:lnTo>
                    <a:pt x="3881866" y="52957"/>
                  </a:lnTo>
                  <a:lnTo>
                    <a:pt x="3932339" y="62232"/>
                  </a:lnTo>
                  <a:lnTo>
                    <a:pt x="3982137" y="72221"/>
                  </a:lnTo>
                  <a:lnTo>
                    <a:pt x="4031216" y="82916"/>
                  </a:lnTo>
                  <a:lnTo>
                    <a:pt x="4079536" y="94311"/>
                  </a:lnTo>
                  <a:lnTo>
                    <a:pt x="4127053" y="106397"/>
                  </a:lnTo>
                  <a:lnTo>
                    <a:pt x="4173727" y="119168"/>
                  </a:lnTo>
                  <a:lnTo>
                    <a:pt x="4219516" y="132617"/>
                  </a:lnTo>
                  <a:lnTo>
                    <a:pt x="4264377" y="146735"/>
                  </a:lnTo>
                  <a:lnTo>
                    <a:pt x="4308270" y="161516"/>
                  </a:lnTo>
                  <a:lnTo>
                    <a:pt x="4351151" y="176952"/>
                  </a:lnTo>
                  <a:lnTo>
                    <a:pt x="4392980" y="193035"/>
                  </a:lnTo>
                  <a:lnTo>
                    <a:pt x="4433714" y="209760"/>
                  </a:lnTo>
                  <a:lnTo>
                    <a:pt x="4473312" y="227118"/>
                  </a:lnTo>
                  <a:lnTo>
                    <a:pt x="4511732" y="245101"/>
                  </a:lnTo>
                  <a:lnTo>
                    <a:pt x="4548932" y="263703"/>
                  </a:lnTo>
                  <a:lnTo>
                    <a:pt x="4584871" y="282917"/>
                  </a:lnTo>
                  <a:lnTo>
                    <a:pt x="4619505" y="302735"/>
                  </a:lnTo>
                  <a:lnTo>
                    <a:pt x="4652795" y="323149"/>
                  </a:lnTo>
                  <a:lnTo>
                    <a:pt x="4684697" y="344152"/>
                  </a:lnTo>
                  <a:lnTo>
                    <a:pt x="4744172" y="387898"/>
                  </a:lnTo>
                  <a:lnTo>
                    <a:pt x="4797597" y="433913"/>
                  </a:lnTo>
                  <a:lnTo>
                    <a:pt x="4848716" y="486803"/>
                  </a:lnTo>
                  <a:lnTo>
                    <a:pt x="4893714" y="545486"/>
                  </a:lnTo>
                  <a:lnTo>
                    <a:pt x="4927480" y="604730"/>
                  </a:lnTo>
                  <a:lnTo>
                    <a:pt x="4950243" y="664277"/>
                  </a:lnTo>
                  <a:lnTo>
                    <a:pt x="4962230" y="723869"/>
                  </a:lnTo>
                  <a:lnTo>
                    <a:pt x="4964253" y="753602"/>
                  </a:lnTo>
                  <a:lnTo>
                    <a:pt x="4963667" y="783248"/>
                  </a:lnTo>
                  <a:lnTo>
                    <a:pt x="4954781" y="842155"/>
                  </a:lnTo>
                  <a:lnTo>
                    <a:pt x="4935800" y="900333"/>
                  </a:lnTo>
                  <a:lnTo>
                    <a:pt x="4906950" y="957523"/>
                  </a:lnTo>
                  <a:lnTo>
                    <a:pt x="4868459" y="1013466"/>
                  </a:lnTo>
                  <a:lnTo>
                    <a:pt x="4820553" y="1067905"/>
                  </a:lnTo>
                  <a:lnTo>
                    <a:pt x="4793140" y="1094479"/>
                  </a:lnTo>
                  <a:lnTo>
                    <a:pt x="4763459" y="1120581"/>
                  </a:lnTo>
                  <a:lnTo>
                    <a:pt x="4731538" y="1146177"/>
                  </a:lnTo>
                  <a:lnTo>
                    <a:pt x="4697405" y="1171236"/>
                  </a:lnTo>
                  <a:lnTo>
                    <a:pt x="4661088" y="1195726"/>
                  </a:lnTo>
                  <a:lnTo>
                    <a:pt x="4622617" y="1219613"/>
                  </a:lnTo>
                  <a:lnTo>
                    <a:pt x="4582018" y="1242865"/>
                  </a:lnTo>
                  <a:lnTo>
                    <a:pt x="4539322" y="1265452"/>
                  </a:lnTo>
                  <a:lnTo>
                    <a:pt x="4494555" y="1287339"/>
                  </a:lnTo>
                  <a:lnTo>
                    <a:pt x="4447747" y="1308495"/>
                  </a:lnTo>
                  <a:lnTo>
                    <a:pt x="4398926" y="1328888"/>
                  </a:lnTo>
                  <a:lnTo>
                    <a:pt x="4348120" y="1348485"/>
                  </a:lnTo>
                  <a:lnTo>
                    <a:pt x="4295357" y="1367254"/>
                  </a:lnTo>
                  <a:lnTo>
                    <a:pt x="4240667" y="1385162"/>
                  </a:lnTo>
                  <a:lnTo>
                    <a:pt x="4184076" y="1402179"/>
                  </a:lnTo>
                  <a:lnTo>
                    <a:pt x="4125615" y="1418270"/>
                  </a:lnTo>
                  <a:lnTo>
                    <a:pt x="4065310" y="1433404"/>
                  </a:lnTo>
                  <a:lnTo>
                    <a:pt x="4003191" y="1447549"/>
                  </a:lnTo>
                  <a:lnTo>
                    <a:pt x="3939286" y="1460672"/>
                  </a:lnTo>
                  <a:lnTo>
                    <a:pt x="3888742" y="1470093"/>
                  </a:lnTo>
                  <a:lnTo>
                    <a:pt x="3837801" y="1478747"/>
                  </a:lnTo>
                  <a:lnTo>
                    <a:pt x="3786500" y="1486637"/>
                  </a:lnTo>
                  <a:lnTo>
                    <a:pt x="3734879" y="1493765"/>
                  </a:lnTo>
                  <a:lnTo>
                    <a:pt x="3682976" y="1500137"/>
                  </a:lnTo>
                  <a:lnTo>
                    <a:pt x="3630828" y="1505753"/>
                  </a:lnTo>
                  <a:lnTo>
                    <a:pt x="3578475" y="1510618"/>
                  </a:lnTo>
                  <a:lnTo>
                    <a:pt x="3525955" y="1514735"/>
                  </a:lnTo>
                  <a:lnTo>
                    <a:pt x="3473305" y="1518107"/>
                  </a:lnTo>
                  <a:lnTo>
                    <a:pt x="3420565" y="1520737"/>
                  </a:lnTo>
                  <a:lnTo>
                    <a:pt x="3367773" y="1522629"/>
                  </a:lnTo>
                  <a:lnTo>
                    <a:pt x="3314967" y="1523785"/>
                  </a:lnTo>
                  <a:lnTo>
                    <a:pt x="3262186" y="1524209"/>
                  </a:lnTo>
                  <a:lnTo>
                    <a:pt x="3209467" y="1523903"/>
                  </a:lnTo>
                  <a:lnTo>
                    <a:pt x="3156850" y="1522872"/>
                  </a:lnTo>
                  <a:lnTo>
                    <a:pt x="3104373" y="1521118"/>
                  </a:lnTo>
                  <a:lnTo>
                    <a:pt x="3052073" y="1518645"/>
                  </a:lnTo>
                  <a:lnTo>
                    <a:pt x="2999990" y="1515455"/>
                  </a:lnTo>
                  <a:lnTo>
                    <a:pt x="2948162" y="1511552"/>
                  </a:lnTo>
                  <a:lnTo>
                    <a:pt x="2896626" y="1506938"/>
                  </a:lnTo>
                  <a:lnTo>
                    <a:pt x="2845423" y="1501618"/>
                  </a:lnTo>
                  <a:lnTo>
                    <a:pt x="2794589" y="1495595"/>
                  </a:lnTo>
                  <a:lnTo>
                    <a:pt x="2744163" y="1488871"/>
                  </a:lnTo>
                  <a:lnTo>
                    <a:pt x="2694184" y="1481449"/>
                  </a:lnTo>
                  <a:lnTo>
                    <a:pt x="2644690" y="1473334"/>
                  </a:lnTo>
                  <a:lnTo>
                    <a:pt x="2595720" y="1464527"/>
                  </a:lnTo>
                  <a:lnTo>
                    <a:pt x="2547311" y="1455033"/>
                  </a:lnTo>
                  <a:lnTo>
                    <a:pt x="2499502" y="1444854"/>
                  </a:lnTo>
                  <a:lnTo>
                    <a:pt x="2452332" y="1433994"/>
                  </a:lnTo>
                  <a:lnTo>
                    <a:pt x="2405838" y="1422455"/>
                  </a:lnTo>
                  <a:lnTo>
                    <a:pt x="2360060" y="1410242"/>
                  </a:lnTo>
                  <a:lnTo>
                    <a:pt x="2315035" y="1397356"/>
                  </a:lnTo>
                  <a:lnTo>
                    <a:pt x="2270802" y="1383802"/>
                  </a:lnTo>
                  <a:lnTo>
                    <a:pt x="2227400" y="1369583"/>
                  </a:lnTo>
                  <a:lnTo>
                    <a:pt x="2184866" y="1354701"/>
                  </a:lnTo>
                  <a:lnTo>
                    <a:pt x="2143239" y="1339160"/>
                  </a:lnTo>
                  <a:lnTo>
                    <a:pt x="2102558" y="1322963"/>
                  </a:lnTo>
                  <a:lnTo>
                    <a:pt x="2062861" y="1306113"/>
                  </a:lnTo>
                  <a:lnTo>
                    <a:pt x="0" y="1763821"/>
                  </a:lnTo>
                  <a:close/>
                </a:path>
              </a:pathLst>
            </a:custGeom>
            <a:ln w="12700">
              <a:solidFill>
                <a:srgbClr val="57C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231126" y="4078351"/>
            <a:ext cx="2166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5080" indent="-2654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How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impute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these </a:t>
            </a:r>
            <a:r>
              <a:rPr sz="1800" dirty="0">
                <a:latin typeface="Trebuchet MS"/>
                <a:cs typeface="Trebuchet MS"/>
              </a:rPr>
              <a:t>values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region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Categorical</a:t>
            </a:r>
            <a:r>
              <a:rPr spc="-190" dirty="0"/>
              <a:t> </a:t>
            </a:r>
            <a:r>
              <a:rPr spc="-70" dirty="0"/>
              <a:t>Variables</a:t>
            </a:r>
            <a:r>
              <a:rPr spc="-185" dirty="0"/>
              <a:t> </a:t>
            </a:r>
            <a:r>
              <a:rPr spc="-30" dirty="0"/>
              <a:t>imputation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36267" y="1501521"/>
            <a:ext cx="7080884" cy="4125595"/>
            <a:chOff x="1636267" y="1501521"/>
            <a:chExt cx="7080884" cy="4125595"/>
          </a:xfrm>
        </p:grpSpPr>
        <p:sp>
          <p:nvSpPr>
            <p:cNvPr id="4" name="object 4"/>
            <p:cNvSpPr/>
            <p:nvPr/>
          </p:nvSpPr>
          <p:spPr>
            <a:xfrm>
              <a:off x="5176646" y="1514221"/>
              <a:ext cx="3515360" cy="683260"/>
            </a:xfrm>
            <a:custGeom>
              <a:avLst/>
              <a:gdLst/>
              <a:ahLst/>
              <a:cxnLst/>
              <a:rect l="l" t="t" r="r" b="b"/>
              <a:pathLst>
                <a:path w="3515359" h="683260">
                  <a:moveTo>
                    <a:pt x="3514979" y="0"/>
                  </a:moveTo>
                  <a:lnTo>
                    <a:pt x="0" y="0"/>
                  </a:lnTo>
                  <a:lnTo>
                    <a:pt x="0" y="683133"/>
                  </a:lnTo>
                  <a:lnTo>
                    <a:pt x="3514979" y="683133"/>
                  </a:lnTo>
                  <a:lnTo>
                    <a:pt x="3514979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76646" y="2197227"/>
              <a:ext cx="3515360" cy="683260"/>
            </a:xfrm>
            <a:custGeom>
              <a:avLst/>
              <a:gdLst/>
              <a:ahLst/>
              <a:cxnLst/>
              <a:rect l="l" t="t" r="r" b="b"/>
              <a:pathLst>
                <a:path w="3515359" h="683260">
                  <a:moveTo>
                    <a:pt x="3514979" y="0"/>
                  </a:moveTo>
                  <a:lnTo>
                    <a:pt x="0" y="0"/>
                  </a:lnTo>
                  <a:lnTo>
                    <a:pt x="0" y="683133"/>
                  </a:lnTo>
                  <a:lnTo>
                    <a:pt x="3514979" y="683133"/>
                  </a:lnTo>
                  <a:lnTo>
                    <a:pt x="3514979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76646" y="2880360"/>
              <a:ext cx="3515360" cy="683260"/>
            </a:xfrm>
            <a:custGeom>
              <a:avLst/>
              <a:gdLst/>
              <a:ahLst/>
              <a:cxnLst/>
              <a:rect l="l" t="t" r="r" b="b"/>
              <a:pathLst>
                <a:path w="3515359" h="683260">
                  <a:moveTo>
                    <a:pt x="3514979" y="0"/>
                  </a:moveTo>
                  <a:lnTo>
                    <a:pt x="0" y="0"/>
                  </a:lnTo>
                  <a:lnTo>
                    <a:pt x="0" y="683133"/>
                  </a:lnTo>
                  <a:lnTo>
                    <a:pt x="3514979" y="683133"/>
                  </a:lnTo>
                  <a:lnTo>
                    <a:pt x="3514979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1668" y="4929797"/>
              <a:ext cx="7030084" cy="684530"/>
            </a:xfrm>
            <a:custGeom>
              <a:avLst/>
              <a:gdLst/>
              <a:ahLst/>
              <a:cxnLst/>
              <a:rect l="l" t="t" r="r" b="b"/>
              <a:pathLst>
                <a:path w="7030084" h="684529">
                  <a:moveTo>
                    <a:pt x="7029958" y="0"/>
                  </a:moveTo>
                  <a:lnTo>
                    <a:pt x="3514979" y="0"/>
                  </a:lnTo>
                  <a:lnTo>
                    <a:pt x="0" y="0"/>
                  </a:lnTo>
                  <a:lnTo>
                    <a:pt x="0" y="684415"/>
                  </a:lnTo>
                  <a:lnTo>
                    <a:pt x="3514979" y="684415"/>
                  </a:lnTo>
                  <a:lnTo>
                    <a:pt x="7029958" y="684415"/>
                  </a:lnTo>
                  <a:lnTo>
                    <a:pt x="7029958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76646" y="1507871"/>
              <a:ext cx="0" cy="4112895"/>
            </a:xfrm>
            <a:custGeom>
              <a:avLst/>
              <a:gdLst/>
              <a:ahLst/>
              <a:cxnLst/>
              <a:rect l="l" t="t" r="r" b="b"/>
              <a:pathLst>
                <a:path h="4112895">
                  <a:moveTo>
                    <a:pt x="0" y="0"/>
                  </a:moveTo>
                  <a:lnTo>
                    <a:pt x="0" y="411269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55317" y="2197354"/>
              <a:ext cx="7042784" cy="0"/>
            </a:xfrm>
            <a:custGeom>
              <a:avLst/>
              <a:gdLst/>
              <a:ahLst/>
              <a:cxnLst/>
              <a:rect l="l" t="t" r="r" b="b"/>
              <a:pathLst>
                <a:path w="7042784">
                  <a:moveTo>
                    <a:pt x="0" y="0"/>
                  </a:moveTo>
                  <a:lnTo>
                    <a:pt x="704278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55317" y="1507871"/>
              <a:ext cx="7042784" cy="4112895"/>
            </a:xfrm>
            <a:custGeom>
              <a:avLst/>
              <a:gdLst/>
              <a:ahLst/>
              <a:cxnLst/>
              <a:rect l="l" t="t" r="r" b="b"/>
              <a:pathLst>
                <a:path w="7042784" h="4112895">
                  <a:moveTo>
                    <a:pt x="0" y="1372489"/>
                  </a:moveTo>
                  <a:lnTo>
                    <a:pt x="7042784" y="1372489"/>
                  </a:lnTo>
                </a:path>
                <a:path w="7042784" h="4112895">
                  <a:moveTo>
                    <a:pt x="0" y="2055621"/>
                  </a:moveTo>
                  <a:lnTo>
                    <a:pt x="7042784" y="2055621"/>
                  </a:lnTo>
                </a:path>
                <a:path w="7042784" h="4112895">
                  <a:moveTo>
                    <a:pt x="0" y="2738754"/>
                  </a:moveTo>
                  <a:lnTo>
                    <a:pt x="7042784" y="2738754"/>
                  </a:lnTo>
                </a:path>
                <a:path w="7042784" h="4112895">
                  <a:moveTo>
                    <a:pt x="0" y="3421887"/>
                  </a:moveTo>
                  <a:lnTo>
                    <a:pt x="7042784" y="3421887"/>
                  </a:lnTo>
                </a:path>
                <a:path w="7042784" h="4112895">
                  <a:moveTo>
                    <a:pt x="6350" y="0"/>
                  </a:moveTo>
                  <a:lnTo>
                    <a:pt x="6350" y="4112691"/>
                  </a:lnTo>
                </a:path>
                <a:path w="7042784" h="4112895">
                  <a:moveTo>
                    <a:pt x="7036434" y="0"/>
                  </a:moveTo>
                  <a:lnTo>
                    <a:pt x="7036434" y="4112691"/>
                  </a:lnTo>
                </a:path>
                <a:path w="7042784" h="4112895">
                  <a:moveTo>
                    <a:pt x="0" y="6350"/>
                  </a:moveTo>
                  <a:lnTo>
                    <a:pt x="7042784" y="6350"/>
                  </a:lnTo>
                </a:path>
                <a:path w="7042784" h="4112895">
                  <a:moveTo>
                    <a:pt x="0" y="4106341"/>
                  </a:moveTo>
                  <a:lnTo>
                    <a:pt x="7042784" y="410634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68017" y="1520571"/>
            <a:ext cx="3502660" cy="657860"/>
          </a:xfrm>
          <a:prstGeom prst="rect">
            <a:avLst/>
          </a:prstGeom>
          <a:solidFill>
            <a:srgbClr val="4E67C7"/>
          </a:solidFill>
        </p:spPr>
        <p:txBody>
          <a:bodyPr vert="horz" wrap="square" lIns="0" tIns="175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Region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2996" y="1683512"/>
            <a:ext cx="3502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Avg</a:t>
            </a:r>
            <a:r>
              <a:rPr sz="20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Sales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8017" y="2216404"/>
            <a:ext cx="3502660" cy="657860"/>
          </a:xfrm>
          <a:prstGeom prst="rect">
            <a:avLst/>
          </a:prstGeom>
          <a:solidFill>
            <a:srgbClr val="D0D2EB"/>
          </a:solidFill>
        </p:spPr>
        <p:txBody>
          <a:bodyPr vert="horz" wrap="square" lIns="0" tIns="1631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85"/>
              </a:spcBef>
            </a:pPr>
            <a:r>
              <a:rPr sz="2000" spc="-20" dirty="0">
                <a:latin typeface="Trebuchet MS"/>
                <a:cs typeface="Trebuchet MS"/>
              </a:rPr>
              <a:t>East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2996" y="2366213"/>
            <a:ext cx="35026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rebuchet MS"/>
                <a:cs typeface="Trebuchet MS"/>
              </a:rPr>
              <a:t>1800$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61667" y="2880360"/>
            <a:ext cx="3515360" cy="683260"/>
          </a:xfrm>
          <a:prstGeom prst="rect">
            <a:avLst/>
          </a:prstGeom>
          <a:solidFill>
            <a:srgbClr val="E9EBF5"/>
          </a:solidFill>
          <a:ln w="12700">
            <a:solidFill>
              <a:srgbClr val="FFFFF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000" spc="-20" dirty="0">
                <a:latin typeface="Trebuchet MS"/>
                <a:cs typeface="Trebuchet MS"/>
              </a:rPr>
              <a:t>West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2996" y="3049905"/>
            <a:ext cx="3502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rebuchet MS"/>
                <a:cs typeface="Trebuchet MS"/>
              </a:rPr>
              <a:t>5000$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61667" y="3563492"/>
            <a:ext cx="3515360" cy="683260"/>
          </a:xfrm>
          <a:prstGeom prst="rect">
            <a:avLst/>
          </a:prstGeom>
          <a:solidFill>
            <a:srgbClr val="D0D2EB"/>
          </a:solidFill>
          <a:ln w="12700">
            <a:solidFill>
              <a:srgbClr val="FFFFF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000" spc="-10" dirty="0">
                <a:latin typeface="Trebuchet MS"/>
                <a:cs typeface="Trebuchet MS"/>
              </a:rPr>
              <a:t>North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6646" y="3563492"/>
            <a:ext cx="3515360" cy="683260"/>
          </a:xfrm>
          <a:prstGeom prst="rect">
            <a:avLst/>
          </a:prstGeom>
          <a:solidFill>
            <a:srgbClr val="D0D2EB"/>
          </a:solidFill>
          <a:ln w="12700">
            <a:solidFill>
              <a:srgbClr val="FFFFF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000" spc="-10" dirty="0">
                <a:latin typeface="Trebuchet MS"/>
                <a:cs typeface="Trebuchet MS"/>
              </a:rPr>
              <a:t>2400$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61667" y="4246626"/>
            <a:ext cx="3515360" cy="683260"/>
          </a:xfrm>
          <a:prstGeom prst="rect">
            <a:avLst/>
          </a:prstGeom>
          <a:solidFill>
            <a:srgbClr val="E9EBF5"/>
          </a:solidFill>
          <a:ln w="12700">
            <a:solidFill>
              <a:srgbClr val="FFFFF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000" spc="-10" dirty="0">
                <a:latin typeface="Trebuchet MS"/>
                <a:cs typeface="Trebuchet MS"/>
              </a:rPr>
              <a:t>South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76646" y="4246626"/>
            <a:ext cx="3515360" cy="683260"/>
          </a:xfrm>
          <a:prstGeom prst="rect">
            <a:avLst/>
          </a:prstGeom>
          <a:solidFill>
            <a:srgbClr val="E9EBF5"/>
          </a:solidFill>
          <a:ln w="12700">
            <a:solidFill>
              <a:srgbClr val="FFFFF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000" spc="-10" dirty="0">
                <a:latin typeface="Trebuchet MS"/>
                <a:cs typeface="Trebuchet MS"/>
              </a:rPr>
              <a:t>3000$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68017" y="5100320"/>
            <a:ext cx="35026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8020"/>
                </a:solidFill>
                <a:latin typeface="Trebuchet MS"/>
                <a:cs typeface="Trebuchet MS"/>
              </a:rPr>
              <a:t>Missing/</a:t>
            </a:r>
            <a:r>
              <a:rPr sz="2000" spc="-55" dirty="0">
                <a:solidFill>
                  <a:srgbClr val="FF80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8020"/>
                </a:solidFill>
                <a:latin typeface="Trebuchet MS"/>
                <a:cs typeface="Trebuchet MS"/>
              </a:rPr>
              <a:t>NA</a:t>
            </a:r>
            <a:r>
              <a:rPr sz="2000" spc="-145" dirty="0">
                <a:solidFill>
                  <a:srgbClr val="FF802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8020"/>
                </a:solidFill>
                <a:latin typeface="Trebuchet MS"/>
                <a:cs typeface="Trebuchet MS"/>
              </a:rPr>
              <a:t>(5%)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82996" y="5100320"/>
            <a:ext cx="35026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8020"/>
                </a:solidFill>
                <a:latin typeface="Trebuchet MS"/>
                <a:cs typeface="Trebuchet MS"/>
              </a:rPr>
              <a:t>4800$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488555" y="1508327"/>
            <a:ext cx="4414520" cy="1537335"/>
            <a:chOff x="7488555" y="1508327"/>
            <a:chExt cx="4414520" cy="1537335"/>
          </a:xfrm>
        </p:grpSpPr>
        <p:sp>
          <p:nvSpPr>
            <p:cNvPr id="24" name="object 24"/>
            <p:cNvSpPr/>
            <p:nvPr/>
          </p:nvSpPr>
          <p:spPr>
            <a:xfrm>
              <a:off x="7494905" y="1514677"/>
              <a:ext cx="4401820" cy="1524635"/>
            </a:xfrm>
            <a:custGeom>
              <a:avLst/>
              <a:gdLst/>
              <a:ahLst/>
              <a:cxnLst/>
              <a:rect l="l" t="t" r="r" b="b"/>
              <a:pathLst>
                <a:path w="4401820" h="1524635">
                  <a:moveTo>
                    <a:pt x="2713416" y="0"/>
                  </a:moveTo>
                  <a:lnTo>
                    <a:pt x="2658110" y="162"/>
                  </a:lnTo>
                  <a:lnTo>
                    <a:pt x="2602981" y="1126"/>
                  </a:lnTo>
                  <a:lnTo>
                    <a:pt x="2548070" y="2886"/>
                  </a:lnTo>
                  <a:lnTo>
                    <a:pt x="2493419" y="5432"/>
                  </a:lnTo>
                  <a:lnTo>
                    <a:pt x="2439070" y="8759"/>
                  </a:lnTo>
                  <a:lnTo>
                    <a:pt x="2385065" y="12858"/>
                  </a:lnTo>
                  <a:lnTo>
                    <a:pt x="2331445" y="17722"/>
                  </a:lnTo>
                  <a:lnTo>
                    <a:pt x="2278253" y="23344"/>
                  </a:lnTo>
                  <a:lnTo>
                    <a:pt x="2225529" y="29717"/>
                  </a:lnTo>
                  <a:lnTo>
                    <a:pt x="2173317" y="36833"/>
                  </a:lnTo>
                  <a:lnTo>
                    <a:pt x="2121657" y="44684"/>
                  </a:lnTo>
                  <a:lnTo>
                    <a:pt x="2070592" y="53264"/>
                  </a:lnTo>
                  <a:lnTo>
                    <a:pt x="2020162" y="62565"/>
                  </a:lnTo>
                  <a:lnTo>
                    <a:pt x="1970411" y="72579"/>
                  </a:lnTo>
                  <a:lnTo>
                    <a:pt x="1921379" y="83300"/>
                  </a:lnTo>
                  <a:lnTo>
                    <a:pt x="1873109" y="94720"/>
                  </a:lnTo>
                  <a:lnTo>
                    <a:pt x="1825642" y="106831"/>
                  </a:lnTo>
                  <a:lnTo>
                    <a:pt x="1779020" y="119626"/>
                  </a:lnTo>
                  <a:lnTo>
                    <a:pt x="1733285" y="133098"/>
                  </a:lnTo>
                  <a:lnTo>
                    <a:pt x="1688479" y="147239"/>
                  </a:lnTo>
                  <a:lnTo>
                    <a:pt x="1644642" y="162043"/>
                  </a:lnTo>
                  <a:lnTo>
                    <a:pt x="1601818" y="177501"/>
                  </a:lnTo>
                  <a:lnTo>
                    <a:pt x="1560048" y="193606"/>
                  </a:lnTo>
                  <a:lnTo>
                    <a:pt x="1519374" y="210351"/>
                  </a:lnTo>
                  <a:lnTo>
                    <a:pt x="1479837" y="227729"/>
                  </a:lnTo>
                  <a:lnTo>
                    <a:pt x="1441479" y="245732"/>
                  </a:lnTo>
                  <a:lnTo>
                    <a:pt x="1404343" y="264352"/>
                  </a:lnTo>
                  <a:lnTo>
                    <a:pt x="1368469" y="283583"/>
                  </a:lnTo>
                  <a:lnTo>
                    <a:pt x="1333899" y="303417"/>
                  </a:lnTo>
                  <a:lnTo>
                    <a:pt x="1300676" y="323847"/>
                  </a:lnTo>
                  <a:lnTo>
                    <a:pt x="1268841" y="344865"/>
                  </a:lnTo>
                  <a:lnTo>
                    <a:pt x="1209503" y="388636"/>
                  </a:lnTo>
                  <a:lnTo>
                    <a:pt x="1156218" y="434672"/>
                  </a:lnTo>
                  <a:lnTo>
                    <a:pt x="1131951" y="458521"/>
                  </a:lnTo>
                  <a:lnTo>
                    <a:pt x="0" y="495478"/>
                  </a:lnTo>
                  <a:lnTo>
                    <a:pt x="991235" y="742493"/>
                  </a:lnTo>
                  <a:lnTo>
                    <a:pt x="990885" y="774516"/>
                  </a:lnTo>
                  <a:lnTo>
                    <a:pt x="993510" y="806318"/>
                  </a:lnTo>
                  <a:lnTo>
                    <a:pt x="1007496" y="869130"/>
                  </a:lnTo>
                  <a:lnTo>
                    <a:pt x="1032814" y="930663"/>
                  </a:lnTo>
                  <a:lnTo>
                    <a:pt x="1069087" y="990654"/>
                  </a:lnTo>
                  <a:lnTo>
                    <a:pt x="1115938" y="1048839"/>
                  </a:lnTo>
                  <a:lnTo>
                    <a:pt x="1143213" y="1077172"/>
                  </a:lnTo>
                  <a:lnTo>
                    <a:pt x="1172991" y="1104954"/>
                  </a:lnTo>
                  <a:lnTo>
                    <a:pt x="1205225" y="1132153"/>
                  </a:lnTo>
                  <a:lnTo>
                    <a:pt x="1239867" y="1158735"/>
                  </a:lnTo>
                  <a:lnTo>
                    <a:pt x="1276872" y="1184668"/>
                  </a:lnTo>
                  <a:lnTo>
                    <a:pt x="1316191" y="1209918"/>
                  </a:lnTo>
                  <a:lnTo>
                    <a:pt x="1357777" y="1234453"/>
                  </a:lnTo>
                  <a:lnTo>
                    <a:pt x="1401583" y="1258240"/>
                  </a:lnTo>
                  <a:lnTo>
                    <a:pt x="1447563" y="1281245"/>
                  </a:lnTo>
                  <a:lnTo>
                    <a:pt x="1495668" y="1303436"/>
                  </a:lnTo>
                  <a:lnTo>
                    <a:pt x="1545853" y="1324779"/>
                  </a:lnTo>
                  <a:lnTo>
                    <a:pt x="1598068" y="1345242"/>
                  </a:lnTo>
                  <a:lnTo>
                    <a:pt x="1652269" y="1364791"/>
                  </a:lnTo>
                  <a:lnTo>
                    <a:pt x="1708407" y="1383395"/>
                  </a:lnTo>
                  <a:lnTo>
                    <a:pt x="1766435" y="1401018"/>
                  </a:lnTo>
                  <a:lnTo>
                    <a:pt x="1826306" y="1417629"/>
                  </a:lnTo>
                  <a:lnTo>
                    <a:pt x="1887972" y="1433195"/>
                  </a:lnTo>
                  <a:lnTo>
                    <a:pt x="1951388" y="1447683"/>
                  </a:lnTo>
                  <a:lnTo>
                    <a:pt x="2016505" y="1461059"/>
                  </a:lnTo>
                  <a:lnTo>
                    <a:pt x="2070673" y="1471097"/>
                  </a:lnTo>
                  <a:lnTo>
                    <a:pt x="2125164" y="1480244"/>
                  </a:lnTo>
                  <a:lnTo>
                    <a:pt x="2179939" y="1488508"/>
                  </a:lnTo>
                  <a:lnTo>
                    <a:pt x="2234955" y="1495896"/>
                  </a:lnTo>
                  <a:lnTo>
                    <a:pt x="2290170" y="1502416"/>
                  </a:lnTo>
                  <a:lnTo>
                    <a:pt x="2345543" y="1508074"/>
                  </a:lnTo>
                  <a:lnTo>
                    <a:pt x="2401031" y="1512879"/>
                  </a:lnTo>
                  <a:lnTo>
                    <a:pt x="2456594" y="1516838"/>
                  </a:lnTo>
                  <a:lnTo>
                    <a:pt x="2512189" y="1519958"/>
                  </a:lnTo>
                  <a:lnTo>
                    <a:pt x="2567774" y="1522246"/>
                  </a:lnTo>
                  <a:lnTo>
                    <a:pt x="2623308" y="1523710"/>
                  </a:lnTo>
                  <a:lnTo>
                    <a:pt x="2678749" y="1524357"/>
                  </a:lnTo>
                  <a:lnTo>
                    <a:pt x="2734055" y="1524194"/>
                  </a:lnTo>
                  <a:lnTo>
                    <a:pt x="2789184" y="1523230"/>
                  </a:lnTo>
                  <a:lnTo>
                    <a:pt x="2844095" y="1521471"/>
                  </a:lnTo>
                  <a:lnTo>
                    <a:pt x="2898746" y="1518924"/>
                  </a:lnTo>
                  <a:lnTo>
                    <a:pt x="2953095" y="1515598"/>
                  </a:lnTo>
                  <a:lnTo>
                    <a:pt x="3007100" y="1511498"/>
                  </a:lnTo>
                  <a:lnTo>
                    <a:pt x="3060720" y="1506634"/>
                  </a:lnTo>
                  <a:lnTo>
                    <a:pt x="3113912" y="1501012"/>
                  </a:lnTo>
                  <a:lnTo>
                    <a:pt x="3166636" y="1494639"/>
                  </a:lnTo>
                  <a:lnTo>
                    <a:pt x="3218848" y="1487523"/>
                  </a:lnTo>
                  <a:lnTo>
                    <a:pt x="3270508" y="1479672"/>
                  </a:lnTo>
                  <a:lnTo>
                    <a:pt x="3321573" y="1471092"/>
                  </a:lnTo>
                  <a:lnTo>
                    <a:pt x="3372003" y="1461791"/>
                  </a:lnTo>
                  <a:lnTo>
                    <a:pt x="3421754" y="1451777"/>
                  </a:lnTo>
                  <a:lnTo>
                    <a:pt x="3470786" y="1441056"/>
                  </a:lnTo>
                  <a:lnTo>
                    <a:pt x="3519056" y="1429636"/>
                  </a:lnTo>
                  <a:lnTo>
                    <a:pt x="3566523" y="1417525"/>
                  </a:lnTo>
                  <a:lnTo>
                    <a:pt x="3613145" y="1404730"/>
                  </a:lnTo>
                  <a:lnTo>
                    <a:pt x="3658880" y="1391258"/>
                  </a:lnTo>
                  <a:lnTo>
                    <a:pt x="3703686" y="1377117"/>
                  </a:lnTo>
                  <a:lnTo>
                    <a:pt x="3747523" y="1362313"/>
                  </a:lnTo>
                  <a:lnTo>
                    <a:pt x="3790347" y="1346855"/>
                  </a:lnTo>
                  <a:lnTo>
                    <a:pt x="3832117" y="1330750"/>
                  </a:lnTo>
                  <a:lnTo>
                    <a:pt x="3872791" y="1314005"/>
                  </a:lnTo>
                  <a:lnTo>
                    <a:pt x="3912328" y="1296627"/>
                  </a:lnTo>
                  <a:lnTo>
                    <a:pt x="3950686" y="1278624"/>
                  </a:lnTo>
                  <a:lnTo>
                    <a:pt x="3987822" y="1260004"/>
                  </a:lnTo>
                  <a:lnTo>
                    <a:pt x="4023696" y="1240773"/>
                  </a:lnTo>
                  <a:lnTo>
                    <a:pt x="4058266" y="1220939"/>
                  </a:lnTo>
                  <a:lnTo>
                    <a:pt x="4091489" y="1200509"/>
                  </a:lnTo>
                  <a:lnTo>
                    <a:pt x="4123324" y="1179491"/>
                  </a:lnTo>
                  <a:lnTo>
                    <a:pt x="4182662" y="1135720"/>
                  </a:lnTo>
                  <a:lnTo>
                    <a:pt x="4235947" y="1089684"/>
                  </a:lnTo>
                  <a:lnTo>
                    <a:pt x="4286919" y="1036776"/>
                  </a:lnTo>
                  <a:lnTo>
                    <a:pt x="4331766" y="978078"/>
                  </a:lnTo>
                  <a:lnTo>
                    <a:pt x="4365386" y="918822"/>
                  </a:lnTo>
                  <a:lnTo>
                    <a:pt x="4388005" y="859268"/>
                  </a:lnTo>
                  <a:lnTo>
                    <a:pt x="4399851" y="799672"/>
                  </a:lnTo>
                  <a:lnTo>
                    <a:pt x="4401806" y="769939"/>
                  </a:lnTo>
                  <a:lnTo>
                    <a:pt x="4401152" y="740293"/>
                  </a:lnTo>
                  <a:lnTo>
                    <a:pt x="4392136" y="681389"/>
                  </a:lnTo>
                  <a:lnTo>
                    <a:pt x="4373030" y="623220"/>
                  </a:lnTo>
                  <a:lnTo>
                    <a:pt x="4344061" y="566041"/>
                  </a:lnTo>
                  <a:lnTo>
                    <a:pt x="4305458" y="510113"/>
                  </a:lnTo>
                  <a:lnTo>
                    <a:pt x="4257447" y="455693"/>
                  </a:lnTo>
                  <a:lnTo>
                    <a:pt x="4229985" y="429130"/>
                  </a:lnTo>
                  <a:lnTo>
                    <a:pt x="4200256" y="403040"/>
                  </a:lnTo>
                  <a:lnTo>
                    <a:pt x="4168290" y="377456"/>
                  </a:lnTo>
                  <a:lnTo>
                    <a:pt x="4134114" y="352411"/>
                  </a:lnTo>
                  <a:lnTo>
                    <a:pt x="4097756" y="327937"/>
                  </a:lnTo>
                  <a:lnTo>
                    <a:pt x="4059246" y="304066"/>
                  </a:lnTo>
                  <a:lnTo>
                    <a:pt x="4018612" y="280829"/>
                  </a:lnTo>
                  <a:lnTo>
                    <a:pt x="3975882" y="258261"/>
                  </a:lnTo>
                  <a:lnTo>
                    <a:pt x="3931084" y="236392"/>
                  </a:lnTo>
                  <a:lnTo>
                    <a:pt x="3884248" y="215256"/>
                  </a:lnTo>
                  <a:lnTo>
                    <a:pt x="3835401" y="194883"/>
                  </a:lnTo>
                  <a:lnTo>
                    <a:pt x="3784571" y="175308"/>
                  </a:lnTo>
                  <a:lnTo>
                    <a:pt x="3731789" y="156561"/>
                  </a:lnTo>
                  <a:lnTo>
                    <a:pt x="3677081" y="138676"/>
                  </a:lnTo>
                  <a:lnTo>
                    <a:pt x="3620476" y="121684"/>
                  </a:lnTo>
                  <a:lnTo>
                    <a:pt x="3562003" y="105618"/>
                  </a:lnTo>
                  <a:lnTo>
                    <a:pt x="3501691" y="90510"/>
                  </a:lnTo>
                  <a:lnTo>
                    <a:pt x="3439567" y="76392"/>
                  </a:lnTo>
                  <a:lnTo>
                    <a:pt x="3375660" y="63297"/>
                  </a:lnTo>
                  <a:lnTo>
                    <a:pt x="3321492" y="53259"/>
                  </a:lnTo>
                  <a:lnTo>
                    <a:pt x="3267001" y="44112"/>
                  </a:lnTo>
                  <a:lnTo>
                    <a:pt x="3212226" y="35848"/>
                  </a:lnTo>
                  <a:lnTo>
                    <a:pt x="3157210" y="28460"/>
                  </a:lnTo>
                  <a:lnTo>
                    <a:pt x="3101995" y="21940"/>
                  </a:lnTo>
                  <a:lnTo>
                    <a:pt x="3046622" y="16282"/>
                  </a:lnTo>
                  <a:lnTo>
                    <a:pt x="2991134" y="11477"/>
                  </a:lnTo>
                  <a:lnTo>
                    <a:pt x="2935571" y="7518"/>
                  </a:lnTo>
                  <a:lnTo>
                    <a:pt x="2879976" y="4399"/>
                  </a:lnTo>
                  <a:lnTo>
                    <a:pt x="2824391" y="2110"/>
                  </a:lnTo>
                  <a:lnTo>
                    <a:pt x="2768857" y="647"/>
                  </a:lnTo>
                  <a:lnTo>
                    <a:pt x="2713416" y="0"/>
                  </a:lnTo>
                  <a:close/>
                </a:path>
              </a:pathLst>
            </a:custGeom>
            <a:solidFill>
              <a:srgbClr val="BCE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94905" y="1514677"/>
              <a:ext cx="4401820" cy="1524635"/>
            </a:xfrm>
            <a:custGeom>
              <a:avLst/>
              <a:gdLst/>
              <a:ahLst/>
              <a:cxnLst/>
              <a:rect l="l" t="t" r="r" b="b"/>
              <a:pathLst>
                <a:path w="4401820" h="1524635">
                  <a:moveTo>
                    <a:pt x="0" y="495478"/>
                  </a:moveTo>
                  <a:lnTo>
                    <a:pt x="1131951" y="458521"/>
                  </a:lnTo>
                  <a:lnTo>
                    <a:pt x="1156218" y="434672"/>
                  </a:lnTo>
                  <a:lnTo>
                    <a:pt x="1182083" y="411375"/>
                  </a:lnTo>
                  <a:lnTo>
                    <a:pt x="1238436" y="366464"/>
                  </a:lnTo>
                  <a:lnTo>
                    <a:pt x="1300676" y="323847"/>
                  </a:lnTo>
                  <a:lnTo>
                    <a:pt x="1333899" y="303417"/>
                  </a:lnTo>
                  <a:lnTo>
                    <a:pt x="1368469" y="283583"/>
                  </a:lnTo>
                  <a:lnTo>
                    <a:pt x="1404343" y="264352"/>
                  </a:lnTo>
                  <a:lnTo>
                    <a:pt x="1441479" y="245732"/>
                  </a:lnTo>
                  <a:lnTo>
                    <a:pt x="1479837" y="227729"/>
                  </a:lnTo>
                  <a:lnTo>
                    <a:pt x="1519374" y="210351"/>
                  </a:lnTo>
                  <a:lnTo>
                    <a:pt x="1560048" y="193606"/>
                  </a:lnTo>
                  <a:lnTo>
                    <a:pt x="1601818" y="177501"/>
                  </a:lnTo>
                  <a:lnTo>
                    <a:pt x="1644642" y="162043"/>
                  </a:lnTo>
                  <a:lnTo>
                    <a:pt x="1688479" y="147239"/>
                  </a:lnTo>
                  <a:lnTo>
                    <a:pt x="1733285" y="133098"/>
                  </a:lnTo>
                  <a:lnTo>
                    <a:pt x="1779020" y="119626"/>
                  </a:lnTo>
                  <a:lnTo>
                    <a:pt x="1825642" y="106831"/>
                  </a:lnTo>
                  <a:lnTo>
                    <a:pt x="1873109" y="94720"/>
                  </a:lnTo>
                  <a:lnTo>
                    <a:pt x="1921379" y="83300"/>
                  </a:lnTo>
                  <a:lnTo>
                    <a:pt x="1970411" y="72579"/>
                  </a:lnTo>
                  <a:lnTo>
                    <a:pt x="2020162" y="62565"/>
                  </a:lnTo>
                  <a:lnTo>
                    <a:pt x="2070592" y="53264"/>
                  </a:lnTo>
                  <a:lnTo>
                    <a:pt x="2121657" y="44684"/>
                  </a:lnTo>
                  <a:lnTo>
                    <a:pt x="2173317" y="36833"/>
                  </a:lnTo>
                  <a:lnTo>
                    <a:pt x="2225529" y="29717"/>
                  </a:lnTo>
                  <a:lnTo>
                    <a:pt x="2278253" y="23344"/>
                  </a:lnTo>
                  <a:lnTo>
                    <a:pt x="2331445" y="17722"/>
                  </a:lnTo>
                  <a:lnTo>
                    <a:pt x="2385065" y="12858"/>
                  </a:lnTo>
                  <a:lnTo>
                    <a:pt x="2439070" y="8759"/>
                  </a:lnTo>
                  <a:lnTo>
                    <a:pt x="2493419" y="5432"/>
                  </a:lnTo>
                  <a:lnTo>
                    <a:pt x="2548070" y="2886"/>
                  </a:lnTo>
                  <a:lnTo>
                    <a:pt x="2602981" y="1126"/>
                  </a:lnTo>
                  <a:lnTo>
                    <a:pt x="2658110" y="162"/>
                  </a:lnTo>
                  <a:lnTo>
                    <a:pt x="2713416" y="0"/>
                  </a:lnTo>
                  <a:lnTo>
                    <a:pt x="2768857" y="647"/>
                  </a:lnTo>
                  <a:lnTo>
                    <a:pt x="2824391" y="2110"/>
                  </a:lnTo>
                  <a:lnTo>
                    <a:pt x="2879976" y="4399"/>
                  </a:lnTo>
                  <a:lnTo>
                    <a:pt x="2935571" y="7518"/>
                  </a:lnTo>
                  <a:lnTo>
                    <a:pt x="2991134" y="11477"/>
                  </a:lnTo>
                  <a:lnTo>
                    <a:pt x="3046622" y="16282"/>
                  </a:lnTo>
                  <a:lnTo>
                    <a:pt x="3101995" y="21940"/>
                  </a:lnTo>
                  <a:lnTo>
                    <a:pt x="3157210" y="28460"/>
                  </a:lnTo>
                  <a:lnTo>
                    <a:pt x="3212226" y="35848"/>
                  </a:lnTo>
                  <a:lnTo>
                    <a:pt x="3267001" y="44112"/>
                  </a:lnTo>
                  <a:lnTo>
                    <a:pt x="3321492" y="53259"/>
                  </a:lnTo>
                  <a:lnTo>
                    <a:pt x="3375660" y="63297"/>
                  </a:lnTo>
                  <a:lnTo>
                    <a:pt x="3439567" y="76392"/>
                  </a:lnTo>
                  <a:lnTo>
                    <a:pt x="3501691" y="90510"/>
                  </a:lnTo>
                  <a:lnTo>
                    <a:pt x="3562003" y="105618"/>
                  </a:lnTo>
                  <a:lnTo>
                    <a:pt x="3620476" y="121684"/>
                  </a:lnTo>
                  <a:lnTo>
                    <a:pt x="3677081" y="138676"/>
                  </a:lnTo>
                  <a:lnTo>
                    <a:pt x="3731789" y="156561"/>
                  </a:lnTo>
                  <a:lnTo>
                    <a:pt x="3784571" y="175308"/>
                  </a:lnTo>
                  <a:lnTo>
                    <a:pt x="3835401" y="194883"/>
                  </a:lnTo>
                  <a:lnTo>
                    <a:pt x="3884248" y="215256"/>
                  </a:lnTo>
                  <a:lnTo>
                    <a:pt x="3931084" y="236392"/>
                  </a:lnTo>
                  <a:lnTo>
                    <a:pt x="3975882" y="258261"/>
                  </a:lnTo>
                  <a:lnTo>
                    <a:pt x="4018612" y="280829"/>
                  </a:lnTo>
                  <a:lnTo>
                    <a:pt x="4059246" y="304066"/>
                  </a:lnTo>
                  <a:lnTo>
                    <a:pt x="4097756" y="327937"/>
                  </a:lnTo>
                  <a:lnTo>
                    <a:pt x="4134114" y="352411"/>
                  </a:lnTo>
                  <a:lnTo>
                    <a:pt x="4168290" y="377456"/>
                  </a:lnTo>
                  <a:lnTo>
                    <a:pt x="4200256" y="403040"/>
                  </a:lnTo>
                  <a:lnTo>
                    <a:pt x="4229985" y="429130"/>
                  </a:lnTo>
                  <a:lnTo>
                    <a:pt x="4257447" y="455693"/>
                  </a:lnTo>
                  <a:lnTo>
                    <a:pt x="4305458" y="510113"/>
                  </a:lnTo>
                  <a:lnTo>
                    <a:pt x="4344061" y="566041"/>
                  </a:lnTo>
                  <a:lnTo>
                    <a:pt x="4373030" y="623220"/>
                  </a:lnTo>
                  <a:lnTo>
                    <a:pt x="4392136" y="681389"/>
                  </a:lnTo>
                  <a:lnTo>
                    <a:pt x="4401152" y="740293"/>
                  </a:lnTo>
                  <a:lnTo>
                    <a:pt x="4401806" y="769939"/>
                  </a:lnTo>
                  <a:lnTo>
                    <a:pt x="4399851" y="799672"/>
                  </a:lnTo>
                  <a:lnTo>
                    <a:pt x="4388005" y="859268"/>
                  </a:lnTo>
                  <a:lnTo>
                    <a:pt x="4365386" y="918822"/>
                  </a:lnTo>
                  <a:lnTo>
                    <a:pt x="4331766" y="978078"/>
                  </a:lnTo>
                  <a:lnTo>
                    <a:pt x="4286919" y="1036776"/>
                  </a:lnTo>
                  <a:lnTo>
                    <a:pt x="4260215" y="1065835"/>
                  </a:lnTo>
                  <a:lnTo>
                    <a:pt x="4210082" y="1112981"/>
                  </a:lnTo>
                  <a:lnTo>
                    <a:pt x="4153729" y="1157892"/>
                  </a:lnTo>
                  <a:lnTo>
                    <a:pt x="4091489" y="1200509"/>
                  </a:lnTo>
                  <a:lnTo>
                    <a:pt x="4058266" y="1220939"/>
                  </a:lnTo>
                  <a:lnTo>
                    <a:pt x="4023696" y="1240773"/>
                  </a:lnTo>
                  <a:lnTo>
                    <a:pt x="3987822" y="1260004"/>
                  </a:lnTo>
                  <a:lnTo>
                    <a:pt x="3950686" y="1278624"/>
                  </a:lnTo>
                  <a:lnTo>
                    <a:pt x="3912328" y="1296627"/>
                  </a:lnTo>
                  <a:lnTo>
                    <a:pt x="3872791" y="1314005"/>
                  </a:lnTo>
                  <a:lnTo>
                    <a:pt x="3832117" y="1330750"/>
                  </a:lnTo>
                  <a:lnTo>
                    <a:pt x="3790347" y="1346855"/>
                  </a:lnTo>
                  <a:lnTo>
                    <a:pt x="3747523" y="1362313"/>
                  </a:lnTo>
                  <a:lnTo>
                    <a:pt x="3703686" y="1377117"/>
                  </a:lnTo>
                  <a:lnTo>
                    <a:pt x="3658880" y="1391258"/>
                  </a:lnTo>
                  <a:lnTo>
                    <a:pt x="3613145" y="1404730"/>
                  </a:lnTo>
                  <a:lnTo>
                    <a:pt x="3566523" y="1417525"/>
                  </a:lnTo>
                  <a:lnTo>
                    <a:pt x="3519056" y="1429636"/>
                  </a:lnTo>
                  <a:lnTo>
                    <a:pt x="3470786" y="1441056"/>
                  </a:lnTo>
                  <a:lnTo>
                    <a:pt x="3421754" y="1451777"/>
                  </a:lnTo>
                  <a:lnTo>
                    <a:pt x="3372003" y="1461791"/>
                  </a:lnTo>
                  <a:lnTo>
                    <a:pt x="3321573" y="1471092"/>
                  </a:lnTo>
                  <a:lnTo>
                    <a:pt x="3270508" y="1479672"/>
                  </a:lnTo>
                  <a:lnTo>
                    <a:pt x="3218848" y="1487523"/>
                  </a:lnTo>
                  <a:lnTo>
                    <a:pt x="3166636" y="1494639"/>
                  </a:lnTo>
                  <a:lnTo>
                    <a:pt x="3113912" y="1501012"/>
                  </a:lnTo>
                  <a:lnTo>
                    <a:pt x="3060720" y="1506634"/>
                  </a:lnTo>
                  <a:lnTo>
                    <a:pt x="3007100" y="1511498"/>
                  </a:lnTo>
                  <a:lnTo>
                    <a:pt x="2953095" y="1515598"/>
                  </a:lnTo>
                  <a:lnTo>
                    <a:pt x="2898746" y="1518924"/>
                  </a:lnTo>
                  <a:lnTo>
                    <a:pt x="2844095" y="1521471"/>
                  </a:lnTo>
                  <a:lnTo>
                    <a:pt x="2789184" y="1523230"/>
                  </a:lnTo>
                  <a:lnTo>
                    <a:pt x="2734055" y="1524194"/>
                  </a:lnTo>
                  <a:lnTo>
                    <a:pt x="2678749" y="1524357"/>
                  </a:lnTo>
                  <a:lnTo>
                    <a:pt x="2623308" y="1523710"/>
                  </a:lnTo>
                  <a:lnTo>
                    <a:pt x="2567774" y="1522246"/>
                  </a:lnTo>
                  <a:lnTo>
                    <a:pt x="2512189" y="1519958"/>
                  </a:lnTo>
                  <a:lnTo>
                    <a:pt x="2456594" y="1516838"/>
                  </a:lnTo>
                  <a:lnTo>
                    <a:pt x="2401031" y="1512879"/>
                  </a:lnTo>
                  <a:lnTo>
                    <a:pt x="2345543" y="1508074"/>
                  </a:lnTo>
                  <a:lnTo>
                    <a:pt x="2290170" y="1502416"/>
                  </a:lnTo>
                  <a:lnTo>
                    <a:pt x="2234955" y="1495896"/>
                  </a:lnTo>
                  <a:lnTo>
                    <a:pt x="2179939" y="1488508"/>
                  </a:lnTo>
                  <a:lnTo>
                    <a:pt x="2125164" y="1480244"/>
                  </a:lnTo>
                  <a:lnTo>
                    <a:pt x="2070673" y="1471097"/>
                  </a:lnTo>
                  <a:lnTo>
                    <a:pt x="2016505" y="1461059"/>
                  </a:lnTo>
                  <a:lnTo>
                    <a:pt x="1951388" y="1447683"/>
                  </a:lnTo>
                  <a:lnTo>
                    <a:pt x="1887972" y="1433195"/>
                  </a:lnTo>
                  <a:lnTo>
                    <a:pt x="1826306" y="1417629"/>
                  </a:lnTo>
                  <a:lnTo>
                    <a:pt x="1766435" y="1401018"/>
                  </a:lnTo>
                  <a:lnTo>
                    <a:pt x="1708407" y="1383395"/>
                  </a:lnTo>
                  <a:lnTo>
                    <a:pt x="1652269" y="1364791"/>
                  </a:lnTo>
                  <a:lnTo>
                    <a:pt x="1598068" y="1345242"/>
                  </a:lnTo>
                  <a:lnTo>
                    <a:pt x="1545853" y="1324779"/>
                  </a:lnTo>
                  <a:lnTo>
                    <a:pt x="1495668" y="1303436"/>
                  </a:lnTo>
                  <a:lnTo>
                    <a:pt x="1447563" y="1281245"/>
                  </a:lnTo>
                  <a:lnTo>
                    <a:pt x="1401583" y="1258240"/>
                  </a:lnTo>
                  <a:lnTo>
                    <a:pt x="1357777" y="1234453"/>
                  </a:lnTo>
                  <a:lnTo>
                    <a:pt x="1316191" y="1209918"/>
                  </a:lnTo>
                  <a:lnTo>
                    <a:pt x="1276872" y="1184668"/>
                  </a:lnTo>
                  <a:lnTo>
                    <a:pt x="1239867" y="1158735"/>
                  </a:lnTo>
                  <a:lnTo>
                    <a:pt x="1205225" y="1132153"/>
                  </a:lnTo>
                  <a:lnTo>
                    <a:pt x="1172991" y="1104954"/>
                  </a:lnTo>
                  <a:lnTo>
                    <a:pt x="1143213" y="1077172"/>
                  </a:lnTo>
                  <a:lnTo>
                    <a:pt x="1115938" y="1048839"/>
                  </a:lnTo>
                  <a:lnTo>
                    <a:pt x="1069087" y="990654"/>
                  </a:lnTo>
                  <a:lnTo>
                    <a:pt x="1032814" y="930663"/>
                  </a:lnTo>
                  <a:lnTo>
                    <a:pt x="1007496" y="869130"/>
                  </a:lnTo>
                  <a:lnTo>
                    <a:pt x="993510" y="806318"/>
                  </a:lnTo>
                  <a:lnTo>
                    <a:pt x="990885" y="774516"/>
                  </a:lnTo>
                  <a:lnTo>
                    <a:pt x="991235" y="742493"/>
                  </a:lnTo>
                  <a:lnTo>
                    <a:pt x="0" y="495478"/>
                  </a:lnTo>
                  <a:close/>
                </a:path>
              </a:pathLst>
            </a:custGeom>
            <a:ln w="12699">
              <a:solidFill>
                <a:srgbClr val="57C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126093" y="1983485"/>
            <a:ext cx="2129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Impute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based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target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14700" y="5391698"/>
            <a:ext cx="3416935" cy="1168400"/>
            <a:chOff x="3314700" y="5391698"/>
            <a:chExt cx="3416935" cy="1168400"/>
          </a:xfrm>
        </p:grpSpPr>
        <p:sp>
          <p:nvSpPr>
            <p:cNvPr id="28" name="object 28"/>
            <p:cNvSpPr/>
            <p:nvPr/>
          </p:nvSpPr>
          <p:spPr>
            <a:xfrm>
              <a:off x="3321050" y="5398048"/>
              <a:ext cx="3404235" cy="1155700"/>
            </a:xfrm>
            <a:custGeom>
              <a:avLst/>
              <a:gdLst/>
              <a:ahLst/>
              <a:cxnLst/>
              <a:rect l="l" t="t" r="r" b="b"/>
              <a:pathLst>
                <a:path w="3404234" h="1155700">
                  <a:moveTo>
                    <a:pt x="2078287" y="0"/>
                  </a:moveTo>
                  <a:lnTo>
                    <a:pt x="2025390" y="196"/>
                  </a:lnTo>
                  <a:lnTo>
                    <a:pt x="1972589" y="1284"/>
                  </a:lnTo>
                  <a:lnTo>
                    <a:pt x="1919951" y="3259"/>
                  </a:lnTo>
                  <a:lnTo>
                    <a:pt x="1867539" y="6119"/>
                  </a:lnTo>
                  <a:lnTo>
                    <a:pt x="1815420" y="9859"/>
                  </a:lnTo>
                  <a:lnTo>
                    <a:pt x="1763658" y="14477"/>
                  </a:lnTo>
                  <a:lnTo>
                    <a:pt x="1712320" y="19968"/>
                  </a:lnTo>
                  <a:lnTo>
                    <a:pt x="1661470" y="26330"/>
                  </a:lnTo>
                  <a:lnTo>
                    <a:pt x="1611174" y="33557"/>
                  </a:lnTo>
                  <a:lnTo>
                    <a:pt x="1561497" y="41648"/>
                  </a:lnTo>
                  <a:lnTo>
                    <a:pt x="1512505" y="50598"/>
                  </a:lnTo>
                  <a:lnTo>
                    <a:pt x="1464263" y="60404"/>
                  </a:lnTo>
                  <a:lnTo>
                    <a:pt x="1416835" y="71062"/>
                  </a:lnTo>
                  <a:lnTo>
                    <a:pt x="1370289" y="82569"/>
                  </a:lnTo>
                  <a:lnTo>
                    <a:pt x="1324688" y="94920"/>
                  </a:lnTo>
                  <a:lnTo>
                    <a:pt x="1280098" y="108114"/>
                  </a:lnTo>
                  <a:lnTo>
                    <a:pt x="1236585" y="122145"/>
                  </a:lnTo>
                  <a:lnTo>
                    <a:pt x="1194214" y="137011"/>
                  </a:lnTo>
                  <a:lnTo>
                    <a:pt x="1153051" y="152708"/>
                  </a:lnTo>
                  <a:lnTo>
                    <a:pt x="1113160" y="169232"/>
                  </a:lnTo>
                  <a:lnTo>
                    <a:pt x="1074606" y="186580"/>
                  </a:lnTo>
                  <a:lnTo>
                    <a:pt x="1037457" y="204748"/>
                  </a:lnTo>
                  <a:lnTo>
                    <a:pt x="1001776" y="223733"/>
                  </a:lnTo>
                  <a:lnTo>
                    <a:pt x="0" y="129626"/>
                  </a:lnTo>
                  <a:lnTo>
                    <a:pt x="771144" y="420532"/>
                  </a:lnTo>
                  <a:lnTo>
                    <a:pt x="751333" y="454626"/>
                  </a:lnTo>
                  <a:lnTo>
                    <a:pt x="736472" y="488877"/>
                  </a:lnTo>
                  <a:lnTo>
                    <a:pt x="726496" y="523198"/>
                  </a:lnTo>
                  <a:lnTo>
                    <a:pt x="721339" y="557504"/>
                  </a:lnTo>
                  <a:lnTo>
                    <a:pt x="720935" y="591709"/>
                  </a:lnTo>
                  <a:lnTo>
                    <a:pt x="725218" y="625726"/>
                  </a:lnTo>
                  <a:lnTo>
                    <a:pt x="747582" y="692853"/>
                  </a:lnTo>
                  <a:lnTo>
                    <a:pt x="787907" y="758198"/>
                  </a:lnTo>
                  <a:lnTo>
                    <a:pt x="814641" y="789987"/>
                  </a:lnTo>
                  <a:lnTo>
                    <a:pt x="845667" y="821072"/>
                  </a:lnTo>
                  <a:lnTo>
                    <a:pt x="880921" y="851368"/>
                  </a:lnTo>
                  <a:lnTo>
                    <a:pt x="920335" y="880787"/>
                  </a:lnTo>
                  <a:lnTo>
                    <a:pt x="963846" y="909245"/>
                  </a:lnTo>
                  <a:lnTo>
                    <a:pt x="1011387" y="936655"/>
                  </a:lnTo>
                  <a:lnTo>
                    <a:pt x="1062892" y="962931"/>
                  </a:lnTo>
                  <a:lnTo>
                    <a:pt x="1118295" y="987987"/>
                  </a:lnTo>
                  <a:lnTo>
                    <a:pt x="1177532" y="1011737"/>
                  </a:lnTo>
                  <a:lnTo>
                    <a:pt x="1240536" y="1034095"/>
                  </a:lnTo>
                  <a:lnTo>
                    <a:pt x="1286088" y="1048651"/>
                  </a:lnTo>
                  <a:lnTo>
                    <a:pt x="1332589" y="1062259"/>
                  </a:lnTo>
                  <a:lnTo>
                    <a:pt x="1379974" y="1074921"/>
                  </a:lnTo>
                  <a:lnTo>
                    <a:pt x="1428177" y="1086642"/>
                  </a:lnTo>
                  <a:lnTo>
                    <a:pt x="1477134" y="1097424"/>
                  </a:lnTo>
                  <a:lnTo>
                    <a:pt x="1526778" y="1107273"/>
                  </a:lnTo>
                  <a:lnTo>
                    <a:pt x="1577045" y="1116190"/>
                  </a:lnTo>
                  <a:lnTo>
                    <a:pt x="1627869" y="1124180"/>
                  </a:lnTo>
                  <a:lnTo>
                    <a:pt x="1679184" y="1131246"/>
                  </a:lnTo>
                  <a:lnTo>
                    <a:pt x="1730926" y="1137392"/>
                  </a:lnTo>
                  <a:lnTo>
                    <a:pt x="1783029" y="1142621"/>
                  </a:lnTo>
                  <a:lnTo>
                    <a:pt x="1835428" y="1146938"/>
                  </a:lnTo>
                  <a:lnTo>
                    <a:pt x="1888057" y="1150344"/>
                  </a:lnTo>
                  <a:lnTo>
                    <a:pt x="1940851" y="1152845"/>
                  </a:lnTo>
                  <a:lnTo>
                    <a:pt x="1993744" y="1154443"/>
                  </a:lnTo>
                  <a:lnTo>
                    <a:pt x="2046672" y="1155143"/>
                  </a:lnTo>
                  <a:lnTo>
                    <a:pt x="2099569" y="1154947"/>
                  </a:lnTo>
                  <a:lnTo>
                    <a:pt x="2152370" y="1153860"/>
                  </a:lnTo>
                  <a:lnTo>
                    <a:pt x="2205008" y="1151884"/>
                  </a:lnTo>
                  <a:lnTo>
                    <a:pt x="2257420" y="1149024"/>
                  </a:lnTo>
                  <a:lnTo>
                    <a:pt x="2309539" y="1145283"/>
                  </a:lnTo>
                  <a:lnTo>
                    <a:pt x="2361301" y="1140665"/>
                  </a:lnTo>
                  <a:lnTo>
                    <a:pt x="2412639" y="1135173"/>
                  </a:lnTo>
                  <a:lnTo>
                    <a:pt x="2463489" y="1128810"/>
                  </a:lnTo>
                  <a:lnTo>
                    <a:pt x="2513785" y="1121581"/>
                  </a:lnTo>
                  <a:lnTo>
                    <a:pt x="2563462" y="1113488"/>
                  </a:lnTo>
                  <a:lnTo>
                    <a:pt x="2612454" y="1104536"/>
                  </a:lnTo>
                  <a:lnTo>
                    <a:pt x="2660696" y="1094728"/>
                  </a:lnTo>
                  <a:lnTo>
                    <a:pt x="2708124" y="1084068"/>
                  </a:lnTo>
                  <a:lnTo>
                    <a:pt x="2754670" y="1072559"/>
                  </a:lnTo>
                  <a:lnTo>
                    <a:pt x="2800271" y="1060204"/>
                  </a:lnTo>
                  <a:lnTo>
                    <a:pt x="2844861" y="1047008"/>
                  </a:lnTo>
                  <a:lnTo>
                    <a:pt x="2888374" y="1032973"/>
                  </a:lnTo>
                  <a:lnTo>
                    <a:pt x="2930745" y="1018104"/>
                  </a:lnTo>
                  <a:lnTo>
                    <a:pt x="2971908" y="1002404"/>
                  </a:lnTo>
                  <a:lnTo>
                    <a:pt x="3011799" y="985876"/>
                  </a:lnTo>
                  <a:lnTo>
                    <a:pt x="3050353" y="968525"/>
                  </a:lnTo>
                  <a:lnTo>
                    <a:pt x="3087502" y="950353"/>
                  </a:lnTo>
                  <a:lnTo>
                    <a:pt x="3123184" y="931364"/>
                  </a:lnTo>
                  <a:lnTo>
                    <a:pt x="3166707" y="905792"/>
                  </a:lnTo>
                  <a:lnTo>
                    <a:pt x="3206511" y="879544"/>
                  </a:lnTo>
                  <a:lnTo>
                    <a:pt x="3242613" y="852682"/>
                  </a:lnTo>
                  <a:lnTo>
                    <a:pt x="3275032" y="825267"/>
                  </a:lnTo>
                  <a:lnTo>
                    <a:pt x="3303785" y="797362"/>
                  </a:lnTo>
                  <a:lnTo>
                    <a:pt x="3350368" y="740326"/>
                  </a:lnTo>
                  <a:lnTo>
                    <a:pt x="3382506" y="682069"/>
                  </a:lnTo>
                  <a:lnTo>
                    <a:pt x="3400346" y="623084"/>
                  </a:lnTo>
                  <a:lnTo>
                    <a:pt x="3404032" y="563868"/>
                  </a:lnTo>
                  <a:lnTo>
                    <a:pt x="3400613" y="534327"/>
                  </a:lnTo>
                  <a:lnTo>
                    <a:pt x="3383340" y="475688"/>
                  </a:lnTo>
                  <a:lnTo>
                    <a:pt x="3352277" y="418052"/>
                  </a:lnTo>
                  <a:lnTo>
                    <a:pt x="3307569" y="361914"/>
                  </a:lnTo>
                  <a:lnTo>
                    <a:pt x="3280143" y="334561"/>
                  </a:lnTo>
                  <a:lnTo>
                    <a:pt x="3249360" y="307768"/>
                  </a:lnTo>
                  <a:lnTo>
                    <a:pt x="3215238" y="281597"/>
                  </a:lnTo>
                  <a:lnTo>
                    <a:pt x="3177796" y="256108"/>
                  </a:lnTo>
                  <a:lnTo>
                    <a:pt x="3137051" y="231365"/>
                  </a:lnTo>
                  <a:lnTo>
                    <a:pt x="3093021" y="207429"/>
                  </a:lnTo>
                  <a:lnTo>
                    <a:pt x="3045726" y="184362"/>
                  </a:lnTo>
                  <a:lnTo>
                    <a:pt x="2995182" y="162225"/>
                  </a:lnTo>
                  <a:lnTo>
                    <a:pt x="2941409" y="141080"/>
                  </a:lnTo>
                  <a:lnTo>
                    <a:pt x="2884424" y="120990"/>
                  </a:lnTo>
                  <a:lnTo>
                    <a:pt x="2838871" y="106440"/>
                  </a:lnTo>
                  <a:lnTo>
                    <a:pt x="2792370" y="92839"/>
                  </a:lnTo>
                  <a:lnTo>
                    <a:pt x="2744985" y="80182"/>
                  </a:lnTo>
                  <a:lnTo>
                    <a:pt x="2696782" y="68467"/>
                  </a:lnTo>
                  <a:lnTo>
                    <a:pt x="2647825" y="57689"/>
                  </a:lnTo>
                  <a:lnTo>
                    <a:pt x="2598181" y="47845"/>
                  </a:lnTo>
                  <a:lnTo>
                    <a:pt x="2547914" y="38932"/>
                  </a:lnTo>
                  <a:lnTo>
                    <a:pt x="2497090" y="30946"/>
                  </a:lnTo>
                  <a:lnTo>
                    <a:pt x="2445775" y="23883"/>
                  </a:lnTo>
                  <a:lnTo>
                    <a:pt x="2394033" y="17740"/>
                  </a:lnTo>
                  <a:lnTo>
                    <a:pt x="2341930" y="12513"/>
                  </a:lnTo>
                  <a:lnTo>
                    <a:pt x="2289531" y="8199"/>
                  </a:lnTo>
                  <a:lnTo>
                    <a:pt x="2236902" y="4794"/>
                  </a:lnTo>
                  <a:lnTo>
                    <a:pt x="2184108" y="2295"/>
                  </a:lnTo>
                  <a:lnTo>
                    <a:pt x="2131215" y="698"/>
                  </a:lnTo>
                  <a:lnTo>
                    <a:pt x="2078287" y="0"/>
                  </a:lnTo>
                  <a:close/>
                </a:path>
              </a:pathLst>
            </a:custGeom>
            <a:solidFill>
              <a:srgbClr val="BCE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21050" y="5398048"/>
              <a:ext cx="3404235" cy="1155700"/>
            </a:xfrm>
            <a:custGeom>
              <a:avLst/>
              <a:gdLst/>
              <a:ahLst/>
              <a:cxnLst/>
              <a:rect l="l" t="t" r="r" b="b"/>
              <a:pathLst>
                <a:path w="3404234" h="1155700">
                  <a:moveTo>
                    <a:pt x="0" y="129626"/>
                  </a:moveTo>
                  <a:lnTo>
                    <a:pt x="1001776" y="223733"/>
                  </a:lnTo>
                  <a:lnTo>
                    <a:pt x="1037457" y="204748"/>
                  </a:lnTo>
                  <a:lnTo>
                    <a:pt x="1074606" y="186580"/>
                  </a:lnTo>
                  <a:lnTo>
                    <a:pt x="1113160" y="169232"/>
                  </a:lnTo>
                  <a:lnTo>
                    <a:pt x="1153051" y="152708"/>
                  </a:lnTo>
                  <a:lnTo>
                    <a:pt x="1194214" y="137011"/>
                  </a:lnTo>
                  <a:lnTo>
                    <a:pt x="1236585" y="122145"/>
                  </a:lnTo>
                  <a:lnTo>
                    <a:pt x="1280098" y="108114"/>
                  </a:lnTo>
                  <a:lnTo>
                    <a:pt x="1324688" y="94920"/>
                  </a:lnTo>
                  <a:lnTo>
                    <a:pt x="1370289" y="82569"/>
                  </a:lnTo>
                  <a:lnTo>
                    <a:pt x="1416835" y="71062"/>
                  </a:lnTo>
                  <a:lnTo>
                    <a:pt x="1464263" y="60404"/>
                  </a:lnTo>
                  <a:lnTo>
                    <a:pt x="1512505" y="50598"/>
                  </a:lnTo>
                  <a:lnTo>
                    <a:pt x="1561497" y="41648"/>
                  </a:lnTo>
                  <a:lnTo>
                    <a:pt x="1611174" y="33557"/>
                  </a:lnTo>
                  <a:lnTo>
                    <a:pt x="1661470" y="26330"/>
                  </a:lnTo>
                  <a:lnTo>
                    <a:pt x="1712320" y="19968"/>
                  </a:lnTo>
                  <a:lnTo>
                    <a:pt x="1763658" y="14477"/>
                  </a:lnTo>
                  <a:lnTo>
                    <a:pt x="1815420" y="9859"/>
                  </a:lnTo>
                  <a:lnTo>
                    <a:pt x="1867539" y="6119"/>
                  </a:lnTo>
                  <a:lnTo>
                    <a:pt x="1919951" y="3259"/>
                  </a:lnTo>
                  <a:lnTo>
                    <a:pt x="1972589" y="1284"/>
                  </a:lnTo>
                  <a:lnTo>
                    <a:pt x="2025390" y="196"/>
                  </a:lnTo>
                  <a:lnTo>
                    <a:pt x="2078287" y="0"/>
                  </a:lnTo>
                  <a:lnTo>
                    <a:pt x="2131215" y="698"/>
                  </a:lnTo>
                  <a:lnTo>
                    <a:pt x="2184108" y="2295"/>
                  </a:lnTo>
                  <a:lnTo>
                    <a:pt x="2236902" y="4794"/>
                  </a:lnTo>
                  <a:lnTo>
                    <a:pt x="2289531" y="8199"/>
                  </a:lnTo>
                  <a:lnTo>
                    <a:pt x="2341930" y="12513"/>
                  </a:lnTo>
                  <a:lnTo>
                    <a:pt x="2394033" y="17740"/>
                  </a:lnTo>
                  <a:lnTo>
                    <a:pt x="2445775" y="23883"/>
                  </a:lnTo>
                  <a:lnTo>
                    <a:pt x="2497090" y="30946"/>
                  </a:lnTo>
                  <a:lnTo>
                    <a:pt x="2547914" y="38932"/>
                  </a:lnTo>
                  <a:lnTo>
                    <a:pt x="2598181" y="47845"/>
                  </a:lnTo>
                  <a:lnTo>
                    <a:pt x="2647825" y="57689"/>
                  </a:lnTo>
                  <a:lnTo>
                    <a:pt x="2696782" y="68467"/>
                  </a:lnTo>
                  <a:lnTo>
                    <a:pt x="2744985" y="80182"/>
                  </a:lnTo>
                  <a:lnTo>
                    <a:pt x="2792370" y="92839"/>
                  </a:lnTo>
                  <a:lnTo>
                    <a:pt x="2838871" y="106440"/>
                  </a:lnTo>
                  <a:lnTo>
                    <a:pt x="2884424" y="120990"/>
                  </a:lnTo>
                  <a:lnTo>
                    <a:pt x="2941409" y="141080"/>
                  </a:lnTo>
                  <a:lnTo>
                    <a:pt x="2995182" y="162225"/>
                  </a:lnTo>
                  <a:lnTo>
                    <a:pt x="3045726" y="184362"/>
                  </a:lnTo>
                  <a:lnTo>
                    <a:pt x="3093021" y="207429"/>
                  </a:lnTo>
                  <a:lnTo>
                    <a:pt x="3137051" y="231365"/>
                  </a:lnTo>
                  <a:lnTo>
                    <a:pt x="3177796" y="256108"/>
                  </a:lnTo>
                  <a:lnTo>
                    <a:pt x="3215238" y="281597"/>
                  </a:lnTo>
                  <a:lnTo>
                    <a:pt x="3249360" y="307768"/>
                  </a:lnTo>
                  <a:lnTo>
                    <a:pt x="3280143" y="334561"/>
                  </a:lnTo>
                  <a:lnTo>
                    <a:pt x="3307569" y="361914"/>
                  </a:lnTo>
                  <a:lnTo>
                    <a:pt x="3352277" y="418052"/>
                  </a:lnTo>
                  <a:lnTo>
                    <a:pt x="3383340" y="475688"/>
                  </a:lnTo>
                  <a:lnTo>
                    <a:pt x="3400613" y="534327"/>
                  </a:lnTo>
                  <a:lnTo>
                    <a:pt x="3404032" y="563868"/>
                  </a:lnTo>
                  <a:lnTo>
                    <a:pt x="3403949" y="593474"/>
                  </a:lnTo>
                  <a:lnTo>
                    <a:pt x="3393204" y="652636"/>
                  </a:lnTo>
                  <a:lnTo>
                    <a:pt x="3368233" y="711319"/>
                  </a:lnTo>
                  <a:lnTo>
                    <a:pt x="3328891" y="769027"/>
                  </a:lnTo>
                  <a:lnTo>
                    <a:pt x="3275032" y="825267"/>
                  </a:lnTo>
                  <a:lnTo>
                    <a:pt x="3242613" y="852682"/>
                  </a:lnTo>
                  <a:lnTo>
                    <a:pt x="3206511" y="879544"/>
                  </a:lnTo>
                  <a:lnTo>
                    <a:pt x="3166707" y="905792"/>
                  </a:lnTo>
                  <a:lnTo>
                    <a:pt x="3123184" y="931364"/>
                  </a:lnTo>
                  <a:lnTo>
                    <a:pt x="3087502" y="950353"/>
                  </a:lnTo>
                  <a:lnTo>
                    <a:pt x="3050353" y="968525"/>
                  </a:lnTo>
                  <a:lnTo>
                    <a:pt x="3011799" y="985876"/>
                  </a:lnTo>
                  <a:lnTo>
                    <a:pt x="2971908" y="1002404"/>
                  </a:lnTo>
                  <a:lnTo>
                    <a:pt x="2930745" y="1018104"/>
                  </a:lnTo>
                  <a:lnTo>
                    <a:pt x="2888374" y="1032973"/>
                  </a:lnTo>
                  <a:lnTo>
                    <a:pt x="2844861" y="1047008"/>
                  </a:lnTo>
                  <a:lnTo>
                    <a:pt x="2800271" y="1060204"/>
                  </a:lnTo>
                  <a:lnTo>
                    <a:pt x="2754670" y="1072559"/>
                  </a:lnTo>
                  <a:lnTo>
                    <a:pt x="2708124" y="1084068"/>
                  </a:lnTo>
                  <a:lnTo>
                    <a:pt x="2660696" y="1094728"/>
                  </a:lnTo>
                  <a:lnTo>
                    <a:pt x="2612454" y="1104536"/>
                  </a:lnTo>
                  <a:lnTo>
                    <a:pt x="2563462" y="1113488"/>
                  </a:lnTo>
                  <a:lnTo>
                    <a:pt x="2513785" y="1121581"/>
                  </a:lnTo>
                  <a:lnTo>
                    <a:pt x="2463489" y="1128810"/>
                  </a:lnTo>
                  <a:lnTo>
                    <a:pt x="2412639" y="1135173"/>
                  </a:lnTo>
                  <a:lnTo>
                    <a:pt x="2361301" y="1140665"/>
                  </a:lnTo>
                  <a:lnTo>
                    <a:pt x="2309539" y="1145283"/>
                  </a:lnTo>
                  <a:lnTo>
                    <a:pt x="2257420" y="1149024"/>
                  </a:lnTo>
                  <a:lnTo>
                    <a:pt x="2205008" y="1151884"/>
                  </a:lnTo>
                  <a:lnTo>
                    <a:pt x="2152370" y="1153860"/>
                  </a:lnTo>
                  <a:lnTo>
                    <a:pt x="2099569" y="1154947"/>
                  </a:lnTo>
                  <a:lnTo>
                    <a:pt x="2046672" y="1155143"/>
                  </a:lnTo>
                  <a:lnTo>
                    <a:pt x="1993744" y="1154443"/>
                  </a:lnTo>
                  <a:lnTo>
                    <a:pt x="1940851" y="1152845"/>
                  </a:lnTo>
                  <a:lnTo>
                    <a:pt x="1888057" y="1150344"/>
                  </a:lnTo>
                  <a:lnTo>
                    <a:pt x="1835428" y="1146938"/>
                  </a:lnTo>
                  <a:lnTo>
                    <a:pt x="1783029" y="1142621"/>
                  </a:lnTo>
                  <a:lnTo>
                    <a:pt x="1730926" y="1137392"/>
                  </a:lnTo>
                  <a:lnTo>
                    <a:pt x="1679184" y="1131246"/>
                  </a:lnTo>
                  <a:lnTo>
                    <a:pt x="1627869" y="1124180"/>
                  </a:lnTo>
                  <a:lnTo>
                    <a:pt x="1577045" y="1116190"/>
                  </a:lnTo>
                  <a:lnTo>
                    <a:pt x="1526778" y="1107273"/>
                  </a:lnTo>
                  <a:lnTo>
                    <a:pt x="1477134" y="1097424"/>
                  </a:lnTo>
                  <a:lnTo>
                    <a:pt x="1428177" y="1086642"/>
                  </a:lnTo>
                  <a:lnTo>
                    <a:pt x="1379974" y="1074921"/>
                  </a:lnTo>
                  <a:lnTo>
                    <a:pt x="1332589" y="1062259"/>
                  </a:lnTo>
                  <a:lnTo>
                    <a:pt x="1286088" y="1048651"/>
                  </a:lnTo>
                  <a:lnTo>
                    <a:pt x="1240536" y="1034095"/>
                  </a:lnTo>
                  <a:lnTo>
                    <a:pt x="1177532" y="1011737"/>
                  </a:lnTo>
                  <a:lnTo>
                    <a:pt x="1118295" y="987987"/>
                  </a:lnTo>
                  <a:lnTo>
                    <a:pt x="1062892" y="962931"/>
                  </a:lnTo>
                  <a:lnTo>
                    <a:pt x="1011387" y="936655"/>
                  </a:lnTo>
                  <a:lnTo>
                    <a:pt x="963846" y="909245"/>
                  </a:lnTo>
                  <a:lnTo>
                    <a:pt x="920335" y="880787"/>
                  </a:lnTo>
                  <a:lnTo>
                    <a:pt x="880921" y="851368"/>
                  </a:lnTo>
                  <a:lnTo>
                    <a:pt x="845667" y="821072"/>
                  </a:lnTo>
                  <a:lnTo>
                    <a:pt x="814641" y="789987"/>
                  </a:lnTo>
                  <a:lnTo>
                    <a:pt x="787907" y="758198"/>
                  </a:lnTo>
                  <a:lnTo>
                    <a:pt x="765533" y="725792"/>
                  </a:lnTo>
                  <a:lnTo>
                    <a:pt x="734122" y="659469"/>
                  </a:lnTo>
                  <a:lnTo>
                    <a:pt x="720935" y="591709"/>
                  </a:lnTo>
                  <a:lnTo>
                    <a:pt x="721339" y="557504"/>
                  </a:lnTo>
                  <a:lnTo>
                    <a:pt x="726496" y="523198"/>
                  </a:lnTo>
                  <a:lnTo>
                    <a:pt x="736472" y="488877"/>
                  </a:lnTo>
                  <a:lnTo>
                    <a:pt x="751333" y="454626"/>
                  </a:lnTo>
                  <a:lnTo>
                    <a:pt x="771144" y="420532"/>
                  </a:lnTo>
                  <a:lnTo>
                    <a:pt x="0" y="129626"/>
                  </a:lnTo>
                  <a:close/>
                </a:path>
              </a:pathLst>
            </a:custGeom>
            <a:ln w="12700">
              <a:solidFill>
                <a:srgbClr val="57C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658614" y="5546547"/>
            <a:ext cx="14522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Which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dirty="0">
                <a:latin typeface="Trebuchet MS"/>
                <a:cs typeface="Trebuchet MS"/>
              </a:rPr>
              <a:t>best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region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to </a:t>
            </a:r>
            <a:r>
              <a:rPr sz="1800" dirty="0">
                <a:latin typeface="Trebuchet MS"/>
                <a:cs typeface="Trebuchet MS"/>
              </a:rPr>
              <a:t>replace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with?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Categorical</a:t>
            </a:r>
            <a:r>
              <a:rPr spc="-190" dirty="0"/>
              <a:t> </a:t>
            </a:r>
            <a:r>
              <a:rPr spc="-70" dirty="0"/>
              <a:t>Variables</a:t>
            </a:r>
            <a:r>
              <a:rPr spc="-185" dirty="0"/>
              <a:t> </a:t>
            </a:r>
            <a:r>
              <a:rPr spc="-30" dirty="0"/>
              <a:t>imputation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5317" y="1507871"/>
          <a:ext cx="7029450" cy="4097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Region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marL="94932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Buy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Buy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spc="-20" dirty="0">
                          <a:latin typeface="Trebuchet MS"/>
                          <a:cs typeface="Trebuchet MS"/>
                        </a:rPr>
                        <a:t>East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0" dirty="0">
                          <a:latin typeface="Trebuchet MS"/>
                          <a:cs typeface="Trebuchet MS"/>
                        </a:rPr>
                        <a:t>West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North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South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200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Missing/</a:t>
                      </a:r>
                      <a:r>
                        <a:rPr sz="2000" spc="-5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NA</a:t>
                      </a:r>
                      <a:r>
                        <a:rPr sz="2000" spc="-14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(5%)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3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488555" y="1508327"/>
            <a:ext cx="4414520" cy="1537335"/>
            <a:chOff x="7488555" y="1508327"/>
            <a:chExt cx="4414520" cy="1537335"/>
          </a:xfrm>
        </p:grpSpPr>
        <p:sp>
          <p:nvSpPr>
            <p:cNvPr id="5" name="object 5"/>
            <p:cNvSpPr/>
            <p:nvPr/>
          </p:nvSpPr>
          <p:spPr>
            <a:xfrm>
              <a:off x="7494905" y="1514677"/>
              <a:ext cx="4401820" cy="1524635"/>
            </a:xfrm>
            <a:custGeom>
              <a:avLst/>
              <a:gdLst/>
              <a:ahLst/>
              <a:cxnLst/>
              <a:rect l="l" t="t" r="r" b="b"/>
              <a:pathLst>
                <a:path w="4401820" h="1524635">
                  <a:moveTo>
                    <a:pt x="2713416" y="0"/>
                  </a:moveTo>
                  <a:lnTo>
                    <a:pt x="2658110" y="162"/>
                  </a:lnTo>
                  <a:lnTo>
                    <a:pt x="2602981" y="1126"/>
                  </a:lnTo>
                  <a:lnTo>
                    <a:pt x="2548070" y="2886"/>
                  </a:lnTo>
                  <a:lnTo>
                    <a:pt x="2493419" y="5432"/>
                  </a:lnTo>
                  <a:lnTo>
                    <a:pt x="2439070" y="8759"/>
                  </a:lnTo>
                  <a:lnTo>
                    <a:pt x="2385065" y="12858"/>
                  </a:lnTo>
                  <a:lnTo>
                    <a:pt x="2331445" y="17722"/>
                  </a:lnTo>
                  <a:lnTo>
                    <a:pt x="2278253" y="23344"/>
                  </a:lnTo>
                  <a:lnTo>
                    <a:pt x="2225529" y="29717"/>
                  </a:lnTo>
                  <a:lnTo>
                    <a:pt x="2173317" y="36833"/>
                  </a:lnTo>
                  <a:lnTo>
                    <a:pt x="2121657" y="44684"/>
                  </a:lnTo>
                  <a:lnTo>
                    <a:pt x="2070592" y="53264"/>
                  </a:lnTo>
                  <a:lnTo>
                    <a:pt x="2020162" y="62565"/>
                  </a:lnTo>
                  <a:lnTo>
                    <a:pt x="1970411" y="72579"/>
                  </a:lnTo>
                  <a:lnTo>
                    <a:pt x="1921379" y="83300"/>
                  </a:lnTo>
                  <a:lnTo>
                    <a:pt x="1873109" y="94720"/>
                  </a:lnTo>
                  <a:lnTo>
                    <a:pt x="1825642" y="106831"/>
                  </a:lnTo>
                  <a:lnTo>
                    <a:pt x="1779020" y="119626"/>
                  </a:lnTo>
                  <a:lnTo>
                    <a:pt x="1733285" y="133098"/>
                  </a:lnTo>
                  <a:lnTo>
                    <a:pt x="1688479" y="147239"/>
                  </a:lnTo>
                  <a:lnTo>
                    <a:pt x="1644642" y="162043"/>
                  </a:lnTo>
                  <a:lnTo>
                    <a:pt x="1601818" y="177501"/>
                  </a:lnTo>
                  <a:lnTo>
                    <a:pt x="1560048" y="193606"/>
                  </a:lnTo>
                  <a:lnTo>
                    <a:pt x="1519374" y="210351"/>
                  </a:lnTo>
                  <a:lnTo>
                    <a:pt x="1479837" y="227729"/>
                  </a:lnTo>
                  <a:lnTo>
                    <a:pt x="1441479" y="245732"/>
                  </a:lnTo>
                  <a:lnTo>
                    <a:pt x="1404343" y="264352"/>
                  </a:lnTo>
                  <a:lnTo>
                    <a:pt x="1368469" y="283583"/>
                  </a:lnTo>
                  <a:lnTo>
                    <a:pt x="1333899" y="303417"/>
                  </a:lnTo>
                  <a:lnTo>
                    <a:pt x="1300676" y="323847"/>
                  </a:lnTo>
                  <a:lnTo>
                    <a:pt x="1268841" y="344865"/>
                  </a:lnTo>
                  <a:lnTo>
                    <a:pt x="1209503" y="388636"/>
                  </a:lnTo>
                  <a:lnTo>
                    <a:pt x="1156218" y="434672"/>
                  </a:lnTo>
                  <a:lnTo>
                    <a:pt x="1131951" y="458521"/>
                  </a:lnTo>
                  <a:lnTo>
                    <a:pt x="0" y="495478"/>
                  </a:lnTo>
                  <a:lnTo>
                    <a:pt x="991235" y="742493"/>
                  </a:lnTo>
                  <a:lnTo>
                    <a:pt x="990885" y="774516"/>
                  </a:lnTo>
                  <a:lnTo>
                    <a:pt x="993510" y="806318"/>
                  </a:lnTo>
                  <a:lnTo>
                    <a:pt x="1007496" y="869130"/>
                  </a:lnTo>
                  <a:lnTo>
                    <a:pt x="1032814" y="930663"/>
                  </a:lnTo>
                  <a:lnTo>
                    <a:pt x="1069087" y="990654"/>
                  </a:lnTo>
                  <a:lnTo>
                    <a:pt x="1115938" y="1048839"/>
                  </a:lnTo>
                  <a:lnTo>
                    <a:pt x="1143213" y="1077172"/>
                  </a:lnTo>
                  <a:lnTo>
                    <a:pt x="1172991" y="1104954"/>
                  </a:lnTo>
                  <a:lnTo>
                    <a:pt x="1205225" y="1132153"/>
                  </a:lnTo>
                  <a:lnTo>
                    <a:pt x="1239867" y="1158735"/>
                  </a:lnTo>
                  <a:lnTo>
                    <a:pt x="1276872" y="1184668"/>
                  </a:lnTo>
                  <a:lnTo>
                    <a:pt x="1316191" y="1209918"/>
                  </a:lnTo>
                  <a:lnTo>
                    <a:pt x="1357777" y="1234453"/>
                  </a:lnTo>
                  <a:lnTo>
                    <a:pt x="1401583" y="1258240"/>
                  </a:lnTo>
                  <a:lnTo>
                    <a:pt x="1447563" y="1281245"/>
                  </a:lnTo>
                  <a:lnTo>
                    <a:pt x="1495668" y="1303436"/>
                  </a:lnTo>
                  <a:lnTo>
                    <a:pt x="1545853" y="1324779"/>
                  </a:lnTo>
                  <a:lnTo>
                    <a:pt x="1598068" y="1345242"/>
                  </a:lnTo>
                  <a:lnTo>
                    <a:pt x="1652269" y="1364791"/>
                  </a:lnTo>
                  <a:lnTo>
                    <a:pt x="1708407" y="1383395"/>
                  </a:lnTo>
                  <a:lnTo>
                    <a:pt x="1766435" y="1401018"/>
                  </a:lnTo>
                  <a:lnTo>
                    <a:pt x="1826306" y="1417629"/>
                  </a:lnTo>
                  <a:lnTo>
                    <a:pt x="1887972" y="1433195"/>
                  </a:lnTo>
                  <a:lnTo>
                    <a:pt x="1951388" y="1447683"/>
                  </a:lnTo>
                  <a:lnTo>
                    <a:pt x="2016505" y="1461059"/>
                  </a:lnTo>
                  <a:lnTo>
                    <a:pt x="2070673" y="1471097"/>
                  </a:lnTo>
                  <a:lnTo>
                    <a:pt x="2125164" y="1480244"/>
                  </a:lnTo>
                  <a:lnTo>
                    <a:pt x="2179939" y="1488508"/>
                  </a:lnTo>
                  <a:lnTo>
                    <a:pt x="2234955" y="1495896"/>
                  </a:lnTo>
                  <a:lnTo>
                    <a:pt x="2290170" y="1502416"/>
                  </a:lnTo>
                  <a:lnTo>
                    <a:pt x="2345543" y="1508074"/>
                  </a:lnTo>
                  <a:lnTo>
                    <a:pt x="2401031" y="1512879"/>
                  </a:lnTo>
                  <a:lnTo>
                    <a:pt x="2456594" y="1516838"/>
                  </a:lnTo>
                  <a:lnTo>
                    <a:pt x="2512189" y="1519958"/>
                  </a:lnTo>
                  <a:lnTo>
                    <a:pt x="2567774" y="1522246"/>
                  </a:lnTo>
                  <a:lnTo>
                    <a:pt x="2623308" y="1523710"/>
                  </a:lnTo>
                  <a:lnTo>
                    <a:pt x="2678749" y="1524357"/>
                  </a:lnTo>
                  <a:lnTo>
                    <a:pt x="2734055" y="1524194"/>
                  </a:lnTo>
                  <a:lnTo>
                    <a:pt x="2789184" y="1523230"/>
                  </a:lnTo>
                  <a:lnTo>
                    <a:pt x="2844095" y="1521471"/>
                  </a:lnTo>
                  <a:lnTo>
                    <a:pt x="2898746" y="1518924"/>
                  </a:lnTo>
                  <a:lnTo>
                    <a:pt x="2953095" y="1515598"/>
                  </a:lnTo>
                  <a:lnTo>
                    <a:pt x="3007100" y="1511498"/>
                  </a:lnTo>
                  <a:lnTo>
                    <a:pt x="3060720" y="1506634"/>
                  </a:lnTo>
                  <a:lnTo>
                    <a:pt x="3113912" y="1501012"/>
                  </a:lnTo>
                  <a:lnTo>
                    <a:pt x="3166636" y="1494639"/>
                  </a:lnTo>
                  <a:lnTo>
                    <a:pt x="3218848" y="1487523"/>
                  </a:lnTo>
                  <a:lnTo>
                    <a:pt x="3270508" y="1479672"/>
                  </a:lnTo>
                  <a:lnTo>
                    <a:pt x="3321573" y="1471092"/>
                  </a:lnTo>
                  <a:lnTo>
                    <a:pt x="3372003" y="1461791"/>
                  </a:lnTo>
                  <a:lnTo>
                    <a:pt x="3421754" y="1451777"/>
                  </a:lnTo>
                  <a:lnTo>
                    <a:pt x="3470786" y="1441056"/>
                  </a:lnTo>
                  <a:lnTo>
                    <a:pt x="3519056" y="1429636"/>
                  </a:lnTo>
                  <a:lnTo>
                    <a:pt x="3566523" y="1417525"/>
                  </a:lnTo>
                  <a:lnTo>
                    <a:pt x="3613145" y="1404730"/>
                  </a:lnTo>
                  <a:lnTo>
                    <a:pt x="3658880" y="1391258"/>
                  </a:lnTo>
                  <a:lnTo>
                    <a:pt x="3703686" y="1377117"/>
                  </a:lnTo>
                  <a:lnTo>
                    <a:pt x="3747523" y="1362313"/>
                  </a:lnTo>
                  <a:lnTo>
                    <a:pt x="3790347" y="1346855"/>
                  </a:lnTo>
                  <a:lnTo>
                    <a:pt x="3832117" y="1330750"/>
                  </a:lnTo>
                  <a:lnTo>
                    <a:pt x="3872791" y="1314005"/>
                  </a:lnTo>
                  <a:lnTo>
                    <a:pt x="3912328" y="1296627"/>
                  </a:lnTo>
                  <a:lnTo>
                    <a:pt x="3950686" y="1278624"/>
                  </a:lnTo>
                  <a:lnTo>
                    <a:pt x="3987822" y="1260004"/>
                  </a:lnTo>
                  <a:lnTo>
                    <a:pt x="4023696" y="1240773"/>
                  </a:lnTo>
                  <a:lnTo>
                    <a:pt x="4058266" y="1220939"/>
                  </a:lnTo>
                  <a:lnTo>
                    <a:pt x="4091489" y="1200509"/>
                  </a:lnTo>
                  <a:lnTo>
                    <a:pt x="4123324" y="1179491"/>
                  </a:lnTo>
                  <a:lnTo>
                    <a:pt x="4182662" y="1135720"/>
                  </a:lnTo>
                  <a:lnTo>
                    <a:pt x="4235947" y="1089684"/>
                  </a:lnTo>
                  <a:lnTo>
                    <a:pt x="4286919" y="1036776"/>
                  </a:lnTo>
                  <a:lnTo>
                    <a:pt x="4331766" y="978078"/>
                  </a:lnTo>
                  <a:lnTo>
                    <a:pt x="4365386" y="918822"/>
                  </a:lnTo>
                  <a:lnTo>
                    <a:pt x="4388005" y="859268"/>
                  </a:lnTo>
                  <a:lnTo>
                    <a:pt x="4399851" y="799672"/>
                  </a:lnTo>
                  <a:lnTo>
                    <a:pt x="4401806" y="769939"/>
                  </a:lnTo>
                  <a:lnTo>
                    <a:pt x="4401152" y="740293"/>
                  </a:lnTo>
                  <a:lnTo>
                    <a:pt x="4392136" y="681389"/>
                  </a:lnTo>
                  <a:lnTo>
                    <a:pt x="4373030" y="623220"/>
                  </a:lnTo>
                  <a:lnTo>
                    <a:pt x="4344061" y="566041"/>
                  </a:lnTo>
                  <a:lnTo>
                    <a:pt x="4305458" y="510113"/>
                  </a:lnTo>
                  <a:lnTo>
                    <a:pt x="4257447" y="455693"/>
                  </a:lnTo>
                  <a:lnTo>
                    <a:pt x="4229985" y="429130"/>
                  </a:lnTo>
                  <a:lnTo>
                    <a:pt x="4200256" y="403040"/>
                  </a:lnTo>
                  <a:lnTo>
                    <a:pt x="4168290" y="377456"/>
                  </a:lnTo>
                  <a:lnTo>
                    <a:pt x="4134114" y="352411"/>
                  </a:lnTo>
                  <a:lnTo>
                    <a:pt x="4097756" y="327937"/>
                  </a:lnTo>
                  <a:lnTo>
                    <a:pt x="4059246" y="304066"/>
                  </a:lnTo>
                  <a:lnTo>
                    <a:pt x="4018612" y="280829"/>
                  </a:lnTo>
                  <a:lnTo>
                    <a:pt x="3975882" y="258261"/>
                  </a:lnTo>
                  <a:lnTo>
                    <a:pt x="3931084" y="236392"/>
                  </a:lnTo>
                  <a:lnTo>
                    <a:pt x="3884248" y="215256"/>
                  </a:lnTo>
                  <a:lnTo>
                    <a:pt x="3835401" y="194883"/>
                  </a:lnTo>
                  <a:lnTo>
                    <a:pt x="3784571" y="175308"/>
                  </a:lnTo>
                  <a:lnTo>
                    <a:pt x="3731789" y="156561"/>
                  </a:lnTo>
                  <a:lnTo>
                    <a:pt x="3677081" y="138676"/>
                  </a:lnTo>
                  <a:lnTo>
                    <a:pt x="3620476" y="121684"/>
                  </a:lnTo>
                  <a:lnTo>
                    <a:pt x="3562003" y="105618"/>
                  </a:lnTo>
                  <a:lnTo>
                    <a:pt x="3501691" y="90510"/>
                  </a:lnTo>
                  <a:lnTo>
                    <a:pt x="3439567" y="76392"/>
                  </a:lnTo>
                  <a:lnTo>
                    <a:pt x="3375660" y="63297"/>
                  </a:lnTo>
                  <a:lnTo>
                    <a:pt x="3321492" y="53259"/>
                  </a:lnTo>
                  <a:lnTo>
                    <a:pt x="3267001" y="44112"/>
                  </a:lnTo>
                  <a:lnTo>
                    <a:pt x="3212226" y="35848"/>
                  </a:lnTo>
                  <a:lnTo>
                    <a:pt x="3157210" y="28460"/>
                  </a:lnTo>
                  <a:lnTo>
                    <a:pt x="3101995" y="21940"/>
                  </a:lnTo>
                  <a:lnTo>
                    <a:pt x="3046622" y="16282"/>
                  </a:lnTo>
                  <a:lnTo>
                    <a:pt x="2991134" y="11477"/>
                  </a:lnTo>
                  <a:lnTo>
                    <a:pt x="2935571" y="7518"/>
                  </a:lnTo>
                  <a:lnTo>
                    <a:pt x="2879976" y="4399"/>
                  </a:lnTo>
                  <a:lnTo>
                    <a:pt x="2824391" y="2110"/>
                  </a:lnTo>
                  <a:lnTo>
                    <a:pt x="2768857" y="647"/>
                  </a:lnTo>
                  <a:lnTo>
                    <a:pt x="2713416" y="0"/>
                  </a:lnTo>
                  <a:close/>
                </a:path>
              </a:pathLst>
            </a:custGeom>
            <a:solidFill>
              <a:srgbClr val="BCE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94905" y="1514677"/>
              <a:ext cx="4401820" cy="1524635"/>
            </a:xfrm>
            <a:custGeom>
              <a:avLst/>
              <a:gdLst/>
              <a:ahLst/>
              <a:cxnLst/>
              <a:rect l="l" t="t" r="r" b="b"/>
              <a:pathLst>
                <a:path w="4401820" h="1524635">
                  <a:moveTo>
                    <a:pt x="0" y="495478"/>
                  </a:moveTo>
                  <a:lnTo>
                    <a:pt x="1131951" y="458521"/>
                  </a:lnTo>
                  <a:lnTo>
                    <a:pt x="1156218" y="434672"/>
                  </a:lnTo>
                  <a:lnTo>
                    <a:pt x="1182083" y="411375"/>
                  </a:lnTo>
                  <a:lnTo>
                    <a:pt x="1238436" y="366464"/>
                  </a:lnTo>
                  <a:lnTo>
                    <a:pt x="1300676" y="323847"/>
                  </a:lnTo>
                  <a:lnTo>
                    <a:pt x="1333899" y="303417"/>
                  </a:lnTo>
                  <a:lnTo>
                    <a:pt x="1368469" y="283583"/>
                  </a:lnTo>
                  <a:lnTo>
                    <a:pt x="1404343" y="264352"/>
                  </a:lnTo>
                  <a:lnTo>
                    <a:pt x="1441479" y="245732"/>
                  </a:lnTo>
                  <a:lnTo>
                    <a:pt x="1479837" y="227729"/>
                  </a:lnTo>
                  <a:lnTo>
                    <a:pt x="1519374" y="210351"/>
                  </a:lnTo>
                  <a:lnTo>
                    <a:pt x="1560048" y="193606"/>
                  </a:lnTo>
                  <a:lnTo>
                    <a:pt x="1601818" y="177501"/>
                  </a:lnTo>
                  <a:lnTo>
                    <a:pt x="1644642" y="162043"/>
                  </a:lnTo>
                  <a:lnTo>
                    <a:pt x="1688479" y="147239"/>
                  </a:lnTo>
                  <a:lnTo>
                    <a:pt x="1733285" y="133098"/>
                  </a:lnTo>
                  <a:lnTo>
                    <a:pt x="1779020" y="119626"/>
                  </a:lnTo>
                  <a:lnTo>
                    <a:pt x="1825642" y="106831"/>
                  </a:lnTo>
                  <a:lnTo>
                    <a:pt x="1873109" y="94720"/>
                  </a:lnTo>
                  <a:lnTo>
                    <a:pt x="1921379" y="83300"/>
                  </a:lnTo>
                  <a:lnTo>
                    <a:pt x="1970411" y="72579"/>
                  </a:lnTo>
                  <a:lnTo>
                    <a:pt x="2020162" y="62565"/>
                  </a:lnTo>
                  <a:lnTo>
                    <a:pt x="2070592" y="53264"/>
                  </a:lnTo>
                  <a:lnTo>
                    <a:pt x="2121657" y="44684"/>
                  </a:lnTo>
                  <a:lnTo>
                    <a:pt x="2173317" y="36833"/>
                  </a:lnTo>
                  <a:lnTo>
                    <a:pt x="2225529" y="29717"/>
                  </a:lnTo>
                  <a:lnTo>
                    <a:pt x="2278253" y="23344"/>
                  </a:lnTo>
                  <a:lnTo>
                    <a:pt x="2331445" y="17722"/>
                  </a:lnTo>
                  <a:lnTo>
                    <a:pt x="2385065" y="12858"/>
                  </a:lnTo>
                  <a:lnTo>
                    <a:pt x="2439070" y="8759"/>
                  </a:lnTo>
                  <a:lnTo>
                    <a:pt x="2493419" y="5432"/>
                  </a:lnTo>
                  <a:lnTo>
                    <a:pt x="2548070" y="2886"/>
                  </a:lnTo>
                  <a:lnTo>
                    <a:pt x="2602981" y="1126"/>
                  </a:lnTo>
                  <a:lnTo>
                    <a:pt x="2658110" y="162"/>
                  </a:lnTo>
                  <a:lnTo>
                    <a:pt x="2713416" y="0"/>
                  </a:lnTo>
                  <a:lnTo>
                    <a:pt x="2768857" y="647"/>
                  </a:lnTo>
                  <a:lnTo>
                    <a:pt x="2824391" y="2110"/>
                  </a:lnTo>
                  <a:lnTo>
                    <a:pt x="2879976" y="4399"/>
                  </a:lnTo>
                  <a:lnTo>
                    <a:pt x="2935571" y="7518"/>
                  </a:lnTo>
                  <a:lnTo>
                    <a:pt x="2991134" y="11477"/>
                  </a:lnTo>
                  <a:lnTo>
                    <a:pt x="3046622" y="16282"/>
                  </a:lnTo>
                  <a:lnTo>
                    <a:pt x="3101995" y="21940"/>
                  </a:lnTo>
                  <a:lnTo>
                    <a:pt x="3157210" y="28460"/>
                  </a:lnTo>
                  <a:lnTo>
                    <a:pt x="3212226" y="35848"/>
                  </a:lnTo>
                  <a:lnTo>
                    <a:pt x="3267001" y="44112"/>
                  </a:lnTo>
                  <a:lnTo>
                    <a:pt x="3321492" y="53259"/>
                  </a:lnTo>
                  <a:lnTo>
                    <a:pt x="3375660" y="63297"/>
                  </a:lnTo>
                  <a:lnTo>
                    <a:pt x="3439567" y="76392"/>
                  </a:lnTo>
                  <a:lnTo>
                    <a:pt x="3501691" y="90510"/>
                  </a:lnTo>
                  <a:lnTo>
                    <a:pt x="3562003" y="105618"/>
                  </a:lnTo>
                  <a:lnTo>
                    <a:pt x="3620476" y="121684"/>
                  </a:lnTo>
                  <a:lnTo>
                    <a:pt x="3677081" y="138676"/>
                  </a:lnTo>
                  <a:lnTo>
                    <a:pt x="3731789" y="156561"/>
                  </a:lnTo>
                  <a:lnTo>
                    <a:pt x="3784571" y="175308"/>
                  </a:lnTo>
                  <a:lnTo>
                    <a:pt x="3835401" y="194883"/>
                  </a:lnTo>
                  <a:lnTo>
                    <a:pt x="3884248" y="215256"/>
                  </a:lnTo>
                  <a:lnTo>
                    <a:pt x="3931084" y="236392"/>
                  </a:lnTo>
                  <a:lnTo>
                    <a:pt x="3975882" y="258261"/>
                  </a:lnTo>
                  <a:lnTo>
                    <a:pt x="4018612" y="280829"/>
                  </a:lnTo>
                  <a:lnTo>
                    <a:pt x="4059246" y="304066"/>
                  </a:lnTo>
                  <a:lnTo>
                    <a:pt x="4097756" y="327937"/>
                  </a:lnTo>
                  <a:lnTo>
                    <a:pt x="4134114" y="352411"/>
                  </a:lnTo>
                  <a:lnTo>
                    <a:pt x="4168290" y="377456"/>
                  </a:lnTo>
                  <a:lnTo>
                    <a:pt x="4200256" y="403040"/>
                  </a:lnTo>
                  <a:lnTo>
                    <a:pt x="4229985" y="429130"/>
                  </a:lnTo>
                  <a:lnTo>
                    <a:pt x="4257447" y="455693"/>
                  </a:lnTo>
                  <a:lnTo>
                    <a:pt x="4305458" y="510113"/>
                  </a:lnTo>
                  <a:lnTo>
                    <a:pt x="4344061" y="566041"/>
                  </a:lnTo>
                  <a:lnTo>
                    <a:pt x="4373030" y="623220"/>
                  </a:lnTo>
                  <a:lnTo>
                    <a:pt x="4392136" y="681389"/>
                  </a:lnTo>
                  <a:lnTo>
                    <a:pt x="4401152" y="740293"/>
                  </a:lnTo>
                  <a:lnTo>
                    <a:pt x="4401806" y="769939"/>
                  </a:lnTo>
                  <a:lnTo>
                    <a:pt x="4399851" y="799672"/>
                  </a:lnTo>
                  <a:lnTo>
                    <a:pt x="4388005" y="859268"/>
                  </a:lnTo>
                  <a:lnTo>
                    <a:pt x="4365386" y="918822"/>
                  </a:lnTo>
                  <a:lnTo>
                    <a:pt x="4331766" y="978078"/>
                  </a:lnTo>
                  <a:lnTo>
                    <a:pt x="4286919" y="1036776"/>
                  </a:lnTo>
                  <a:lnTo>
                    <a:pt x="4260215" y="1065835"/>
                  </a:lnTo>
                  <a:lnTo>
                    <a:pt x="4210082" y="1112981"/>
                  </a:lnTo>
                  <a:lnTo>
                    <a:pt x="4153729" y="1157892"/>
                  </a:lnTo>
                  <a:lnTo>
                    <a:pt x="4091489" y="1200509"/>
                  </a:lnTo>
                  <a:lnTo>
                    <a:pt x="4058266" y="1220939"/>
                  </a:lnTo>
                  <a:lnTo>
                    <a:pt x="4023696" y="1240773"/>
                  </a:lnTo>
                  <a:lnTo>
                    <a:pt x="3987822" y="1260004"/>
                  </a:lnTo>
                  <a:lnTo>
                    <a:pt x="3950686" y="1278624"/>
                  </a:lnTo>
                  <a:lnTo>
                    <a:pt x="3912328" y="1296627"/>
                  </a:lnTo>
                  <a:lnTo>
                    <a:pt x="3872791" y="1314005"/>
                  </a:lnTo>
                  <a:lnTo>
                    <a:pt x="3832117" y="1330750"/>
                  </a:lnTo>
                  <a:lnTo>
                    <a:pt x="3790347" y="1346855"/>
                  </a:lnTo>
                  <a:lnTo>
                    <a:pt x="3747523" y="1362313"/>
                  </a:lnTo>
                  <a:lnTo>
                    <a:pt x="3703686" y="1377117"/>
                  </a:lnTo>
                  <a:lnTo>
                    <a:pt x="3658880" y="1391258"/>
                  </a:lnTo>
                  <a:lnTo>
                    <a:pt x="3613145" y="1404730"/>
                  </a:lnTo>
                  <a:lnTo>
                    <a:pt x="3566523" y="1417525"/>
                  </a:lnTo>
                  <a:lnTo>
                    <a:pt x="3519056" y="1429636"/>
                  </a:lnTo>
                  <a:lnTo>
                    <a:pt x="3470786" y="1441056"/>
                  </a:lnTo>
                  <a:lnTo>
                    <a:pt x="3421754" y="1451777"/>
                  </a:lnTo>
                  <a:lnTo>
                    <a:pt x="3372003" y="1461791"/>
                  </a:lnTo>
                  <a:lnTo>
                    <a:pt x="3321573" y="1471092"/>
                  </a:lnTo>
                  <a:lnTo>
                    <a:pt x="3270508" y="1479672"/>
                  </a:lnTo>
                  <a:lnTo>
                    <a:pt x="3218848" y="1487523"/>
                  </a:lnTo>
                  <a:lnTo>
                    <a:pt x="3166636" y="1494639"/>
                  </a:lnTo>
                  <a:lnTo>
                    <a:pt x="3113912" y="1501012"/>
                  </a:lnTo>
                  <a:lnTo>
                    <a:pt x="3060720" y="1506634"/>
                  </a:lnTo>
                  <a:lnTo>
                    <a:pt x="3007100" y="1511498"/>
                  </a:lnTo>
                  <a:lnTo>
                    <a:pt x="2953095" y="1515598"/>
                  </a:lnTo>
                  <a:lnTo>
                    <a:pt x="2898746" y="1518924"/>
                  </a:lnTo>
                  <a:lnTo>
                    <a:pt x="2844095" y="1521471"/>
                  </a:lnTo>
                  <a:lnTo>
                    <a:pt x="2789184" y="1523230"/>
                  </a:lnTo>
                  <a:lnTo>
                    <a:pt x="2734055" y="1524194"/>
                  </a:lnTo>
                  <a:lnTo>
                    <a:pt x="2678749" y="1524357"/>
                  </a:lnTo>
                  <a:lnTo>
                    <a:pt x="2623308" y="1523710"/>
                  </a:lnTo>
                  <a:lnTo>
                    <a:pt x="2567774" y="1522246"/>
                  </a:lnTo>
                  <a:lnTo>
                    <a:pt x="2512189" y="1519958"/>
                  </a:lnTo>
                  <a:lnTo>
                    <a:pt x="2456594" y="1516838"/>
                  </a:lnTo>
                  <a:lnTo>
                    <a:pt x="2401031" y="1512879"/>
                  </a:lnTo>
                  <a:lnTo>
                    <a:pt x="2345543" y="1508074"/>
                  </a:lnTo>
                  <a:lnTo>
                    <a:pt x="2290170" y="1502416"/>
                  </a:lnTo>
                  <a:lnTo>
                    <a:pt x="2234955" y="1495896"/>
                  </a:lnTo>
                  <a:lnTo>
                    <a:pt x="2179939" y="1488508"/>
                  </a:lnTo>
                  <a:lnTo>
                    <a:pt x="2125164" y="1480244"/>
                  </a:lnTo>
                  <a:lnTo>
                    <a:pt x="2070673" y="1471097"/>
                  </a:lnTo>
                  <a:lnTo>
                    <a:pt x="2016505" y="1461059"/>
                  </a:lnTo>
                  <a:lnTo>
                    <a:pt x="1951388" y="1447683"/>
                  </a:lnTo>
                  <a:lnTo>
                    <a:pt x="1887972" y="1433195"/>
                  </a:lnTo>
                  <a:lnTo>
                    <a:pt x="1826306" y="1417629"/>
                  </a:lnTo>
                  <a:lnTo>
                    <a:pt x="1766435" y="1401018"/>
                  </a:lnTo>
                  <a:lnTo>
                    <a:pt x="1708407" y="1383395"/>
                  </a:lnTo>
                  <a:lnTo>
                    <a:pt x="1652269" y="1364791"/>
                  </a:lnTo>
                  <a:lnTo>
                    <a:pt x="1598068" y="1345242"/>
                  </a:lnTo>
                  <a:lnTo>
                    <a:pt x="1545853" y="1324779"/>
                  </a:lnTo>
                  <a:lnTo>
                    <a:pt x="1495668" y="1303436"/>
                  </a:lnTo>
                  <a:lnTo>
                    <a:pt x="1447563" y="1281245"/>
                  </a:lnTo>
                  <a:lnTo>
                    <a:pt x="1401583" y="1258240"/>
                  </a:lnTo>
                  <a:lnTo>
                    <a:pt x="1357777" y="1234453"/>
                  </a:lnTo>
                  <a:lnTo>
                    <a:pt x="1316191" y="1209918"/>
                  </a:lnTo>
                  <a:lnTo>
                    <a:pt x="1276872" y="1184668"/>
                  </a:lnTo>
                  <a:lnTo>
                    <a:pt x="1239867" y="1158735"/>
                  </a:lnTo>
                  <a:lnTo>
                    <a:pt x="1205225" y="1132153"/>
                  </a:lnTo>
                  <a:lnTo>
                    <a:pt x="1172991" y="1104954"/>
                  </a:lnTo>
                  <a:lnTo>
                    <a:pt x="1143213" y="1077172"/>
                  </a:lnTo>
                  <a:lnTo>
                    <a:pt x="1115938" y="1048839"/>
                  </a:lnTo>
                  <a:lnTo>
                    <a:pt x="1069087" y="990654"/>
                  </a:lnTo>
                  <a:lnTo>
                    <a:pt x="1032814" y="930663"/>
                  </a:lnTo>
                  <a:lnTo>
                    <a:pt x="1007496" y="869130"/>
                  </a:lnTo>
                  <a:lnTo>
                    <a:pt x="993510" y="806318"/>
                  </a:lnTo>
                  <a:lnTo>
                    <a:pt x="990885" y="774516"/>
                  </a:lnTo>
                  <a:lnTo>
                    <a:pt x="991235" y="742493"/>
                  </a:lnTo>
                  <a:lnTo>
                    <a:pt x="0" y="495478"/>
                  </a:lnTo>
                  <a:close/>
                </a:path>
              </a:pathLst>
            </a:custGeom>
            <a:ln w="12699">
              <a:solidFill>
                <a:srgbClr val="57C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36760" y="1983485"/>
            <a:ext cx="2109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What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target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endParaRPr sz="18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categorical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Categorical</a:t>
            </a:r>
            <a:r>
              <a:rPr spc="-190" dirty="0"/>
              <a:t> </a:t>
            </a:r>
            <a:r>
              <a:rPr spc="-70" dirty="0"/>
              <a:t>Variables</a:t>
            </a:r>
            <a:r>
              <a:rPr spc="-185" dirty="0"/>
              <a:t> </a:t>
            </a:r>
            <a:r>
              <a:rPr spc="-30" dirty="0"/>
              <a:t>imputation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934200" y="1514221"/>
            <a:ext cx="1757680" cy="1366520"/>
            <a:chOff x="6934200" y="1514221"/>
            <a:chExt cx="1757680" cy="1366520"/>
          </a:xfrm>
        </p:grpSpPr>
        <p:sp>
          <p:nvSpPr>
            <p:cNvPr id="4" name="object 4"/>
            <p:cNvSpPr/>
            <p:nvPr/>
          </p:nvSpPr>
          <p:spPr>
            <a:xfrm>
              <a:off x="6934200" y="1514221"/>
              <a:ext cx="1757680" cy="683260"/>
            </a:xfrm>
            <a:custGeom>
              <a:avLst/>
              <a:gdLst/>
              <a:ahLst/>
              <a:cxnLst/>
              <a:rect l="l" t="t" r="r" b="b"/>
              <a:pathLst>
                <a:path w="1757679" h="683260">
                  <a:moveTo>
                    <a:pt x="1757552" y="0"/>
                  </a:moveTo>
                  <a:lnTo>
                    <a:pt x="0" y="0"/>
                  </a:lnTo>
                  <a:lnTo>
                    <a:pt x="0" y="683133"/>
                  </a:lnTo>
                  <a:lnTo>
                    <a:pt x="1757552" y="683133"/>
                  </a:lnTo>
                  <a:lnTo>
                    <a:pt x="1757552" y="0"/>
                  </a:lnTo>
                  <a:close/>
                </a:path>
              </a:pathLst>
            </a:custGeom>
            <a:solidFill>
              <a:srgbClr val="4E6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34200" y="2197227"/>
              <a:ext cx="1757680" cy="683260"/>
            </a:xfrm>
            <a:custGeom>
              <a:avLst/>
              <a:gdLst/>
              <a:ahLst/>
              <a:cxnLst/>
              <a:rect l="l" t="t" r="r" b="b"/>
              <a:pathLst>
                <a:path w="1757679" h="683260">
                  <a:moveTo>
                    <a:pt x="1757552" y="0"/>
                  </a:moveTo>
                  <a:lnTo>
                    <a:pt x="0" y="0"/>
                  </a:lnTo>
                  <a:lnTo>
                    <a:pt x="0" y="683133"/>
                  </a:lnTo>
                  <a:lnTo>
                    <a:pt x="1757552" y="683133"/>
                  </a:lnTo>
                  <a:lnTo>
                    <a:pt x="1757552" y="0"/>
                  </a:lnTo>
                  <a:close/>
                </a:path>
              </a:pathLst>
            </a:custGeom>
            <a:solidFill>
              <a:srgbClr val="D0D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55317" y="1507871"/>
          <a:ext cx="7028815" cy="4097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Region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Buy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67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20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Buy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spc="-20" dirty="0">
                          <a:latin typeface="Trebuchet MS"/>
                          <a:cs typeface="Trebuchet MS"/>
                        </a:rPr>
                        <a:t>East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20%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80%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0" dirty="0">
                          <a:latin typeface="Trebuchet MS"/>
                          <a:cs typeface="Trebuchet MS"/>
                        </a:rPr>
                        <a:t>West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10%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90%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North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40%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60%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South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90%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10%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200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Missing/</a:t>
                      </a:r>
                      <a:r>
                        <a:rPr sz="2000" spc="-5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NA</a:t>
                      </a:r>
                      <a:r>
                        <a:rPr sz="2000" spc="-14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(5%)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3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2000" spc="-2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9%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3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sz="2000" spc="-25" dirty="0">
                          <a:solidFill>
                            <a:srgbClr val="FF8020"/>
                          </a:solidFill>
                          <a:latin typeface="Trebuchet MS"/>
                          <a:cs typeface="Trebuchet MS"/>
                        </a:rPr>
                        <a:t>91%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83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488555" y="1508327"/>
            <a:ext cx="4414520" cy="1537335"/>
            <a:chOff x="7488555" y="1508327"/>
            <a:chExt cx="4414520" cy="1537335"/>
          </a:xfrm>
        </p:grpSpPr>
        <p:sp>
          <p:nvSpPr>
            <p:cNvPr id="8" name="object 8"/>
            <p:cNvSpPr/>
            <p:nvPr/>
          </p:nvSpPr>
          <p:spPr>
            <a:xfrm>
              <a:off x="7494905" y="1514677"/>
              <a:ext cx="4401820" cy="1524635"/>
            </a:xfrm>
            <a:custGeom>
              <a:avLst/>
              <a:gdLst/>
              <a:ahLst/>
              <a:cxnLst/>
              <a:rect l="l" t="t" r="r" b="b"/>
              <a:pathLst>
                <a:path w="4401820" h="1524635">
                  <a:moveTo>
                    <a:pt x="2713416" y="0"/>
                  </a:moveTo>
                  <a:lnTo>
                    <a:pt x="2658110" y="162"/>
                  </a:lnTo>
                  <a:lnTo>
                    <a:pt x="2602981" y="1126"/>
                  </a:lnTo>
                  <a:lnTo>
                    <a:pt x="2548070" y="2886"/>
                  </a:lnTo>
                  <a:lnTo>
                    <a:pt x="2493419" y="5432"/>
                  </a:lnTo>
                  <a:lnTo>
                    <a:pt x="2439070" y="8759"/>
                  </a:lnTo>
                  <a:lnTo>
                    <a:pt x="2385065" y="12858"/>
                  </a:lnTo>
                  <a:lnTo>
                    <a:pt x="2331445" y="17722"/>
                  </a:lnTo>
                  <a:lnTo>
                    <a:pt x="2278253" y="23344"/>
                  </a:lnTo>
                  <a:lnTo>
                    <a:pt x="2225529" y="29717"/>
                  </a:lnTo>
                  <a:lnTo>
                    <a:pt x="2173317" y="36833"/>
                  </a:lnTo>
                  <a:lnTo>
                    <a:pt x="2121657" y="44684"/>
                  </a:lnTo>
                  <a:lnTo>
                    <a:pt x="2070592" y="53264"/>
                  </a:lnTo>
                  <a:lnTo>
                    <a:pt x="2020162" y="62565"/>
                  </a:lnTo>
                  <a:lnTo>
                    <a:pt x="1970411" y="72579"/>
                  </a:lnTo>
                  <a:lnTo>
                    <a:pt x="1921379" y="83300"/>
                  </a:lnTo>
                  <a:lnTo>
                    <a:pt x="1873109" y="94720"/>
                  </a:lnTo>
                  <a:lnTo>
                    <a:pt x="1825642" y="106831"/>
                  </a:lnTo>
                  <a:lnTo>
                    <a:pt x="1779020" y="119626"/>
                  </a:lnTo>
                  <a:lnTo>
                    <a:pt x="1733285" y="133098"/>
                  </a:lnTo>
                  <a:lnTo>
                    <a:pt x="1688479" y="147239"/>
                  </a:lnTo>
                  <a:lnTo>
                    <a:pt x="1644642" y="162043"/>
                  </a:lnTo>
                  <a:lnTo>
                    <a:pt x="1601818" y="177501"/>
                  </a:lnTo>
                  <a:lnTo>
                    <a:pt x="1560048" y="193606"/>
                  </a:lnTo>
                  <a:lnTo>
                    <a:pt x="1519374" y="210351"/>
                  </a:lnTo>
                  <a:lnTo>
                    <a:pt x="1479837" y="227729"/>
                  </a:lnTo>
                  <a:lnTo>
                    <a:pt x="1441479" y="245732"/>
                  </a:lnTo>
                  <a:lnTo>
                    <a:pt x="1404343" y="264352"/>
                  </a:lnTo>
                  <a:lnTo>
                    <a:pt x="1368469" y="283583"/>
                  </a:lnTo>
                  <a:lnTo>
                    <a:pt x="1333899" y="303417"/>
                  </a:lnTo>
                  <a:lnTo>
                    <a:pt x="1300676" y="323847"/>
                  </a:lnTo>
                  <a:lnTo>
                    <a:pt x="1268841" y="344865"/>
                  </a:lnTo>
                  <a:lnTo>
                    <a:pt x="1209503" y="388636"/>
                  </a:lnTo>
                  <a:lnTo>
                    <a:pt x="1156218" y="434672"/>
                  </a:lnTo>
                  <a:lnTo>
                    <a:pt x="1131951" y="458521"/>
                  </a:lnTo>
                  <a:lnTo>
                    <a:pt x="0" y="495478"/>
                  </a:lnTo>
                  <a:lnTo>
                    <a:pt x="991235" y="742493"/>
                  </a:lnTo>
                  <a:lnTo>
                    <a:pt x="990885" y="774516"/>
                  </a:lnTo>
                  <a:lnTo>
                    <a:pt x="993510" y="806318"/>
                  </a:lnTo>
                  <a:lnTo>
                    <a:pt x="1007496" y="869130"/>
                  </a:lnTo>
                  <a:lnTo>
                    <a:pt x="1032814" y="930663"/>
                  </a:lnTo>
                  <a:lnTo>
                    <a:pt x="1069087" y="990654"/>
                  </a:lnTo>
                  <a:lnTo>
                    <a:pt x="1115938" y="1048839"/>
                  </a:lnTo>
                  <a:lnTo>
                    <a:pt x="1143213" y="1077172"/>
                  </a:lnTo>
                  <a:lnTo>
                    <a:pt x="1172991" y="1104954"/>
                  </a:lnTo>
                  <a:lnTo>
                    <a:pt x="1205225" y="1132153"/>
                  </a:lnTo>
                  <a:lnTo>
                    <a:pt x="1239867" y="1158735"/>
                  </a:lnTo>
                  <a:lnTo>
                    <a:pt x="1276872" y="1184668"/>
                  </a:lnTo>
                  <a:lnTo>
                    <a:pt x="1316191" y="1209918"/>
                  </a:lnTo>
                  <a:lnTo>
                    <a:pt x="1357777" y="1234453"/>
                  </a:lnTo>
                  <a:lnTo>
                    <a:pt x="1401583" y="1258240"/>
                  </a:lnTo>
                  <a:lnTo>
                    <a:pt x="1447563" y="1281245"/>
                  </a:lnTo>
                  <a:lnTo>
                    <a:pt x="1495668" y="1303436"/>
                  </a:lnTo>
                  <a:lnTo>
                    <a:pt x="1545853" y="1324779"/>
                  </a:lnTo>
                  <a:lnTo>
                    <a:pt x="1598068" y="1345242"/>
                  </a:lnTo>
                  <a:lnTo>
                    <a:pt x="1652269" y="1364791"/>
                  </a:lnTo>
                  <a:lnTo>
                    <a:pt x="1708407" y="1383395"/>
                  </a:lnTo>
                  <a:lnTo>
                    <a:pt x="1766435" y="1401018"/>
                  </a:lnTo>
                  <a:lnTo>
                    <a:pt x="1826306" y="1417629"/>
                  </a:lnTo>
                  <a:lnTo>
                    <a:pt x="1887972" y="1433195"/>
                  </a:lnTo>
                  <a:lnTo>
                    <a:pt x="1951388" y="1447683"/>
                  </a:lnTo>
                  <a:lnTo>
                    <a:pt x="2016505" y="1461059"/>
                  </a:lnTo>
                  <a:lnTo>
                    <a:pt x="2070673" y="1471097"/>
                  </a:lnTo>
                  <a:lnTo>
                    <a:pt x="2125164" y="1480244"/>
                  </a:lnTo>
                  <a:lnTo>
                    <a:pt x="2179939" y="1488508"/>
                  </a:lnTo>
                  <a:lnTo>
                    <a:pt x="2234955" y="1495896"/>
                  </a:lnTo>
                  <a:lnTo>
                    <a:pt x="2290170" y="1502416"/>
                  </a:lnTo>
                  <a:lnTo>
                    <a:pt x="2345543" y="1508074"/>
                  </a:lnTo>
                  <a:lnTo>
                    <a:pt x="2401031" y="1512879"/>
                  </a:lnTo>
                  <a:lnTo>
                    <a:pt x="2456594" y="1516838"/>
                  </a:lnTo>
                  <a:lnTo>
                    <a:pt x="2512189" y="1519958"/>
                  </a:lnTo>
                  <a:lnTo>
                    <a:pt x="2567774" y="1522246"/>
                  </a:lnTo>
                  <a:lnTo>
                    <a:pt x="2623308" y="1523710"/>
                  </a:lnTo>
                  <a:lnTo>
                    <a:pt x="2678749" y="1524357"/>
                  </a:lnTo>
                  <a:lnTo>
                    <a:pt x="2734055" y="1524194"/>
                  </a:lnTo>
                  <a:lnTo>
                    <a:pt x="2789184" y="1523230"/>
                  </a:lnTo>
                  <a:lnTo>
                    <a:pt x="2844095" y="1521471"/>
                  </a:lnTo>
                  <a:lnTo>
                    <a:pt x="2898746" y="1518924"/>
                  </a:lnTo>
                  <a:lnTo>
                    <a:pt x="2953095" y="1515598"/>
                  </a:lnTo>
                  <a:lnTo>
                    <a:pt x="3007100" y="1511498"/>
                  </a:lnTo>
                  <a:lnTo>
                    <a:pt x="3060720" y="1506634"/>
                  </a:lnTo>
                  <a:lnTo>
                    <a:pt x="3113912" y="1501012"/>
                  </a:lnTo>
                  <a:lnTo>
                    <a:pt x="3166636" y="1494639"/>
                  </a:lnTo>
                  <a:lnTo>
                    <a:pt x="3218848" y="1487523"/>
                  </a:lnTo>
                  <a:lnTo>
                    <a:pt x="3270508" y="1479672"/>
                  </a:lnTo>
                  <a:lnTo>
                    <a:pt x="3321573" y="1471092"/>
                  </a:lnTo>
                  <a:lnTo>
                    <a:pt x="3372003" y="1461791"/>
                  </a:lnTo>
                  <a:lnTo>
                    <a:pt x="3421754" y="1451777"/>
                  </a:lnTo>
                  <a:lnTo>
                    <a:pt x="3470786" y="1441056"/>
                  </a:lnTo>
                  <a:lnTo>
                    <a:pt x="3519056" y="1429636"/>
                  </a:lnTo>
                  <a:lnTo>
                    <a:pt x="3566523" y="1417525"/>
                  </a:lnTo>
                  <a:lnTo>
                    <a:pt x="3613145" y="1404730"/>
                  </a:lnTo>
                  <a:lnTo>
                    <a:pt x="3658880" y="1391258"/>
                  </a:lnTo>
                  <a:lnTo>
                    <a:pt x="3703686" y="1377117"/>
                  </a:lnTo>
                  <a:lnTo>
                    <a:pt x="3747523" y="1362313"/>
                  </a:lnTo>
                  <a:lnTo>
                    <a:pt x="3790347" y="1346855"/>
                  </a:lnTo>
                  <a:lnTo>
                    <a:pt x="3832117" y="1330750"/>
                  </a:lnTo>
                  <a:lnTo>
                    <a:pt x="3872791" y="1314005"/>
                  </a:lnTo>
                  <a:lnTo>
                    <a:pt x="3912328" y="1296627"/>
                  </a:lnTo>
                  <a:lnTo>
                    <a:pt x="3950686" y="1278624"/>
                  </a:lnTo>
                  <a:lnTo>
                    <a:pt x="3987822" y="1260004"/>
                  </a:lnTo>
                  <a:lnTo>
                    <a:pt x="4023696" y="1240773"/>
                  </a:lnTo>
                  <a:lnTo>
                    <a:pt x="4058266" y="1220939"/>
                  </a:lnTo>
                  <a:lnTo>
                    <a:pt x="4091489" y="1200509"/>
                  </a:lnTo>
                  <a:lnTo>
                    <a:pt x="4123324" y="1179491"/>
                  </a:lnTo>
                  <a:lnTo>
                    <a:pt x="4182662" y="1135720"/>
                  </a:lnTo>
                  <a:lnTo>
                    <a:pt x="4235947" y="1089684"/>
                  </a:lnTo>
                  <a:lnTo>
                    <a:pt x="4286919" y="1036776"/>
                  </a:lnTo>
                  <a:lnTo>
                    <a:pt x="4331766" y="978078"/>
                  </a:lnTo>
                  <a:lnTo>
                    <a:pt x="4365386" y="918822"/>
                  </a:lnTo>
                  <a:lnTo>
                    <a:pt x="4388005" y="859268"/>
                  </a:lnTo>
                  <a:lnTo>
                    <a:pt x="4399851" y="799672"/>
                  </a:lnTo>
                  <a:lnTo>
                    <a:pt x="4401806" y="769939"/>
                  </a:lnTo>
                  <a:lnTo>
                    <a:pt x="4401152" y="740293"/>
                  </a:lnTo>
                  <a:lnTo>
                    <a:pt x="4392136" y="681389"/>
                  </a:lnTo>
                  <a:lnTo>
                    <a:pt x="4373030" y="623220"/>
                  </a:lnTo>
                  <a:lnTo>
                    <a:pt x="4344061" y="566041"/>
                  </a:lnTo>
                  <a:lnTo>
                    <a:pt x="4305458" y="510113"/>
                  </a:lnTo>
                  <a:lnTo>
                    <a:pt x="4257447" y="455693"/>
                  </a:lnTo>
                  <a:lnTo>
                    <a:pt x="4229985" y="429130"/>
                  </a:lnTo>
                  <a:lnTo>
                    <a:pt x="4200256" y="403040"/>
                  </a:lnTo>
                  <a:lnTo>
                    <a:pt x="4168290" y="377456"/>
                  </a:lnTo>
                  <a:lnTo>
                    <a:pt x="4134114" y="352411"/>
                  </a:lnTo>
                  <a:lnTo>
                    <a:pt x="4097756" y="327937"/>
                  </a:lnTo>
                  <a:lnTo>
                    <a:pt x="4059246" y="304066"/>
                  </a:lnTo>
                  <a:lnTo>
                    <a:pt x="4018612" y="280829"/>
                  </a:lnTo>
                  <a:lnTo>
                    <a:pt x="3975882" y="258261"/>
                  </a:lnTo>
                  <a:lnTo>
                    <a:pt x="3931084" y="236392"/>
                  </a:lnTo>
                  <a:lnTo>
                    <a:pt x="3884248" y="215256"/>
                  </a:lnTo>
                  <a:lnTo>
                    <a:pt x="3835401" y="194883"/>
                  </a:lnTo>
                  <a:lnTo>
                    <a:pt x="3784571" y="175308"/>
                  </a:lnTo>
                  <a:lnTo>
                    <a:pt x="3731789" y="156561"/>
                  </a:lnTo>
                  <a:lnTo>
                    <a:pt x="3677081" y="138676"/>
                  </a:lnTo>
                  <a:lnTo>
                    <a:pt x="3620476" y="121684"/>
                  </a:lnTo>
                  <a:lnTo>
                    <a:pt x="3562003" y="105618"/>
                  </a:lnTo>
                  <a:lnTo>
                    <a:pt x="3501691" y="90510"/>
                  </a:lnTo>
                  <a:lnTo>
                    <a:pt x="3439567" y="76392"/>
                  </a:lnTo>
                  <a:lnTo>
                    <a:pt x="3375660" y="63297"/>
                  </a:lnTo>
                  <a:lnTo>
                    <a:pt x="3321492" y="53259"/>
                  </a:lnTo>
                  <a:lnTo>
                    <a:pt x="3267001" y="44112"/>
                  </a:lnTo>
                  <a:lnTo>
                    <a:pt x="3212226" y="35848"/>
                  </a:lnTo>
                  <a:lnTo>
                    <a:pt x="3157210" y="28460"/>
                  </a:lnTo>
                  <a:lnTo>
                    <a:pt x="3101995" y="21940"/>
                  </a:lnTo>
                  <a:lnTo>
                    <a:pt x="3046622" y="16282"/>
                  </a:lnTo>
                  <a:lnTo>
                    <a:pt x="2991134" y="11477"/>
                  </a:lnTo>
                  <a:lnTo>
                    <a:pt x="2935571" y="7518"/>
                  </a:lnTo>
                  <a:lnTo>
                    <a:pt x="2879976" y="4399"/>
                  </a:lnTo>
                  <a:lnTo>
                    <a:pt x="2824391" y="2110"/>
                  </a:lnTo>
                  <a:lnTo>
                    <a:pt x="2768857" y="647"/>
                  </a:lnTo>
                  <a:lnTo>
                    <a:pt x="2713416" y="0"/>
                  </a:lnTo>
                  <a:close/>
                </a:path>
              </a:pathLst>
            </a:custGeom>
            <a:solidFill>
              <a:srgbClr val="BCE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4905" y="1514677"/>
              <a:ext cx="4401820" cy="1524635"/>
            </a:xfrm>
            <a:custGeom>
              <a:avLst/>
              <a:gdLst/>
              <a:ahLst/>
              <a:cxnLst/>
              <a:rect l="l" t="t" r="r" b="b"/>
              <a:pathLst>
                <a:path w="4401820" h="1524635">
                  <a:moveTo>
                    <a:pt x="0" y="495478"/>
                  </a:moveTo>
                  <a:lnTo>
                    <a:pt x="1131951" y="458521"/>
                  </a:lnTo>
                  <a:lnTo>
                    <a:pt x="1156218" y="434672"/>
                  </a:lnTo>
                  <a:lnTo>
                    <a:pt x="1182083" y="411375"/>
                  </a:lnTo>
                  <a:lnTo>
                    <a:pt x="1238436" y="366464"/>
                  </a:lnTo>
                  <a:lnTo>
                    <a:pt x="1300676" y="323847"/>
                  </a:lnTo>
                  <a:lnTo>
                    <a:pt x="1333899" y="303417"/>
                  </a:lnTo>
                  <a:lnTo>
                    <a:pt x="1368469" y="283583"/>
                  </a:lnTo>
                  <a:lnTo>
                    <a:pt x="1404343" y="264352"/>
                  </a:lnTo>
                  <a:lnTo>
                    <a:pt x="1441479" y="245732"/>
                  </a:lnTo>
                  <a:lnTo>
                    <a:pt x="1479837" y="227729"/>
                  </a:lnTo>
                  <a:lnTo>
                    <a:pt x="1519374" y="210351"/>
                  </a:lnTo>
                  <a:lnTo>
                    <a:pt x="1560048" y="193606"/>
                  </a:lnTo>
                  <a:lnTo>
                    <a:pt x="1601818" y="177501"/>
                  </a:lnTo>
                  <a:lnTo>
                    <a:pt x="1644642" y="162043"/>
                  </a:lnTo>
                  <a:lnTo>
                    <a:pt x="1688479" y="147239"/>
                  </a:lnTo>
                  <a:lnTo>
                    <a:pt x="1733285" y="133098"/>
                  </a:lnTo>
                  <a:lnTo>
                    <a:pt x="1779020" y="119626"/>
                  </a:lnTo>
                  <a:lnTo>
                    <a:pt x="1825642" y="106831"/>
                  </a:lnTo>
                  <a:lnTo>
                    <a:pt x="1873109" y="94720"/>
                  </a:lnTo>
                  <a:lnTo>
                    <a:pt x="1921379" y="83300"/>
                  </a:lnTo>
                  <a:lnTo>
                    <a:pt x="1970411" y="72579"/>
                  </a:lnTo>
                  <a:lnTo>
                    <a:pt x="2020162" y="62565"/>
                  </a:lnTo>
                  <a:lnTo>
                    <a:pt x="2070592" y="53264"/>
                  </a:lnTo>
                  <a:lnTo>
                    <a:pt x="2121657" y="44684"/>
                  </a:lnTo>
                  <a:lnTo>
                    <a:pt x="2173317" y="36833"/>
                  </a:lnTo>
                  <a:lnTo>
                    <a:pt x="2225529" y="29717"/>
                  </a:lnTo>
                  <a:lnTo>
                    <a:pt x="2278253" y="23344"/>
                  </a:lnTo>
                  <a:lnTo>
                    <a:pt x="2331445" y="17722"/>
                  </a:lnTo>
                  <a:lnTo>
                    <a:pt x="2385065" y="12858"/>
                  </a:lnTo>
                  <a:lnTo>
                    <a:pt x="2439070" y="8759"/>
                  </a:lnTo>
                  <a:lnTo>
                    <a:pt x="2493419" y="5432"/>
                  </a:lnTo>
                  <a:lnTo>
                    <a:pt x="2548070" y="2886"/>
                  </a:lnTo>
                  <a:lnTo>
                    <a:pt x="2602981" y="1126"/>
                  </a:lnTo>
                  <a:lnTo>
                    <a:pt x="2658110" y="162"/>
                  </a:lnTo>
                  <a:lnTo>
                    <a:pt x="2713416" y="0"/>
                  </a:lnTo>
                  <a:lnTo>
                    <a:pt x="2768857" y="647"/>
                  </a:lnTo>
                  <a:lnTo>
                    <a:pt x="2824391" y="2110"/>
                  </a:lnTo>
                  <a:lnTo>
                    <a:pt x="2879976" y="4399"/>
                  </a:lnTo>
                  <a:lnTo>
                    <a:pt x="2935571" y="7518"/>
                  </a:lnTo>
                  <a:lnTo>
                    <a:pt x="2991134" y="11477"/>
                  </a:lnTo>
                  <a:lnTo>
                    <a:pt x="3046622" y="16282"/>
                  </a:lnTo>
                  <a:lnTo>
                    <a:pt x="3101995" y="21940"/>
                  </a:lnTo>
                  <a:lnTo>
                    <a:pt x="3157210" y="28460"/>
                  </a:lnTo>
                  <a:lnTo>
                    <a:pt x="3212226" y="35848"/>
                  </a:lnTo>
                  <a:lnTo>
                    <a:pt x="3267001" y="44112"/>
                  </a:lnTo>
                  <a:lnTo>
                    <a:pt x="3321492" y="53259"/>
                  </a:lnTo>
                  <a:lnTo>
                    <a:pt x="3375660" y="63297"/>
                  </a:lnTo>
                  <a:lnTo>
                    <a:pt x="3439567" y="76392"/>
                  </a:lnTo>
                  <a:lnTo>
                    <a:pt x="3501691" y="90510"/>
                  </a:lnTo>
                  <a:lnTo>
                    <a:pt x="3562003" y="105618"/>
                  </a:lnTo>
                  <a:lnTo>
                    <a:pt x="3620476" y="121684"/>
                  </a:lnTo>
                  <a:lnTo>
                    <a:pt x="3677081" y="138676"/>
                  </a:lnTo>
                  <a:lnTo>
                    <a:pt x="3731789" y="156561"/>
                  </a:lnTo>
                  <a:lnTo>
                    <a:pt x="3784571" y="175308"/>
                  </a:lnTo>
                  <a:lnTo>
                    <a:pt x="3835401" y="194883"/>
                  </a:lnTo>
                  <a:lnTo>
                    <a:pt x="3884248" y="215256"/>
                  </a:lnTo>
                  <a:lnTo>
                    <a:pt x="3931084" y="236392"/>
                  </a:lnTo>
                  <a:lnTo>
                    <a:pt x="3975882" y="258261"/>
                  </a:lnTo>
                  <a:lnTo>
                    <a:pt x="4018612" y="280829"/>
                  </a:lnTo>
                  <a:lnTo>
                    <a:pt x="4059246" y="304066"/>
                  </a:lnTo>
                  <a:lnTo>
                    <a:pt x="4097756" y="327937"/>
                  </a:lnTo>
                  <a:lnTo>
                    <a:pt x="4134114" y="352411"/>
                  </a:lnTo>
                  <a:lnTo>
                    <a:pt x="4168290" y="377456"/>
                  </a:lnTo>
                  <a:lnTo>
                    <a:pt x="4200256" y="403040"/>
                  </a:lnTo>
                  <a:lnTo>
                    <a:pt x="4229985" y="429130"/>
                  </a:lnTo>
                  <a:lnTo>
                    <a:pt x="4257447" y="455693"/>
                  </a:lnTo>
                  <a:lnTo>
                    <a:pt x="4305458" y="510113"/>
                  </a:lnTo>
                  <a:lnTo>
                    <a:pt x="4344061" y="566041"/>
                  </a:lnTo>
                  <a:lnTo>
                    <a:pt x="4373030" y="623220"/>
                  </a:lnTo>
                  <a:lnTo>
                    <a:pt x="4392136" y="681389"/>
                  </a:lnTo>
                  <a:lnTo>
                    <a:pt x="4401152" y="740293"/>
                  </a:lnTo>
                  <a:lnTo>
                    <a:pt x="4401806" y="769939"/>
                  </a:lnTo>
                  <a:lnTo>
                    <a:pt x="4399851" y="799672"/>
                  </a:lnTo>
                  <a:lnTo>
                    <a:pt x="4388005" y="859268"/>
                  </a:lnTo>
                  <a:lnTo>
                    <a:pt x="4365386" y="918822"/>
                  </a:lnTo>
                  <a:lnTo>
                    <a:pt x="4331766" y="978078"/>
                  </a:lnTo>
                  <a:lnTo>
                    <a:pt x="4286919" y="1036776"/>
                  </a:lnTo>
                  <a:lnTo>
                    <a:pt x="4260215" y="1065835"/>
                  </a:lnTo>
                  <a:lnTo>
                    <a:pt x="4210082" y="1112981"/>
                  </a:lnTo>
                  <a:lnTo>
                    <a:pt x="4153729" y="1157892"/>
                  </a:lnTo>
                  <a:lnTo>
                    <a:pt x="4091489" y="1200509"/>
                  </a:lnTo>
                  <a:lnTo>
                    <a:pt x="4058266" y="1220939"/>
                  </a:lnTo>
                  <a:lnTo>
                    <a:pt x="4023696" y="1240773"/>
                  </a:lnTo>
                  <a:lnTo>
                    <a:pt x="3987822" y="1260004"/>
                  </a:lnTo>
                  <a:lnTo>
                    <a:pt x="3950686" y="1278624"/>
                  </a:lnTo>
                  <a:lnTo>
                    <a:pt x="3912328" y="1296627"/>
                  </a:lnTo>
                  <a:lnTo>
                    <a:pt x="3872791" y="1314005"/>
                  </a:lnTo>
                  <a:lnTo>
                    <a:pt x="3832117" y="1330750"/>
                  </a:lnTo>
                  <a:lnTo>
                    <a:pt x="3790347" y="1346855"/>
                  </a:lnTo>
                  <a:lnTo>
                    <a:pt x="3747523" y="1362313"/>
                  </a:lnTo>
                  <a:lnTo>
                    <a:pt x="3703686" y="1377117"/>
                  </a:lnTo>
                  <a:lnTo>
                    <a:pt x="3658880" y="1391258"/>
                  </a:lnTo>
                  <a:lnTo>
                    <a:pt x="3613145" y="1404730"/>
                  </a:lnTo>
                  <a:lnTo>
                    <a:pt x="3566523" y="1417525"/>
                  </a:lnTo>
                  <a:lnTo>
                    <a:pt x="3519056" y="1429636"/>
                  </a:lnTo>
                  <a:lnTo>
                    <a:pt x="3470786" y="1441056"/>
                  </a:lnTo>
                  <a:lnTo>
                    <a:pt x="3421754" y="1451777"/>
                  </a:lnTo>
                  <a:lnTo>
                    <a:pt x="3372003" y="1461791"/>
                  </a:lnTo>
                  <a:lnTo>
                    <a:pt x="3321573" y="1471092"/>
                  </a:lnTo>
                  <a:lnTo>
                    <a:pt x="3270508" y="1479672"/>
                  </a:lnTo>
                  <a:lnTo>
                    <a:pt x="3218848" y="1487523"/>
                  </a:lnTo>
                  <a:lnTo>
                    <a:pt x="3166636" y="1494639"/>
                  </a:lnTo>
                  <a:lnTo>
                    <a:pt x="3113912" y="1501012"/>
                  </a:lnTo>
                  <a:lnTo>
                    <a:pt x="3060720" y="1506634"/>
                  </a:lnTo>
                  <a:lnTo>
                    <a:pt x="3007100" y="1511498"/>
                  </a:lnTo>
                  <a:lnTo>
                    <a:pt x="2953095" y="1515598"/>
                  </a:lnTo>
                  <a:lnTo>
                    <a:pt x="2898746" y="1518924"/>
                  </a:lnTo>
                  <a:lnTo>
                    <a:pt x="2844095" y="1521471"/>
                  </a:lnTo>
                  <a:lnTo>
                    <a:pt x="2789184" y="1523230"/>
                  </a:lnTo>
                  <a:lnTo>
                    <a:pt x="2734055" y="1524194"/>
                  </a:lnTo>
                  <a:lnTo>
                    <a:pt x="2678749" y="1524357"/>
                  </a:lnTo>
                  <a:lnTo>
                    <a:pt x="2623308" y="1523710"/>
                  </a:lnTo>
                  <a:lnTo>
                    <a:pt x="2567774" y="1522246"/>
                  </a:lnTo>
                  <a:lnTo>
                    <a:pt x="2512189" y="1519958"/>
                  </a:lnTo>
                  <a:lnTo>
                    <a:pt x="2456594" y="1516838"/>
                  </a:lnTo>
                  <a:lnTo>
                    <a:pt x="2401031" y="1512879"/>
                  </a:lnTo>
                  <a:lnTo>
                    <a:pt x="2345543" y="1508074"/>
                  </a:lnTo>
                  <a:lnTo>
                    <a:pt x="2290170" y="1502416"/>
                  </a:lnTo>
                  <a:lnTo>
                    <a:pt x="2234955" y="1495896"/>
                  </a:lnTo>
                  <a:lnTo>
                    <a:pt x="2179939" y="1488508"/>
                  </a:lnTo>
                  <a:lnTo>
                    <a:pt x="2125164" y="1480244"/>
                  </a:lnTo>
                  <a:lnTo>
                    <a:pt x="2070673" y="1471097"/>
                  </a:lnTo>
                  <a:lnTo>
                    <a:pt x="2016505" y="1461059"/>
                  </a:lnTo>
                  <a:lnTo>
                    <a:pt x="1951388" y="1447683"/>
                  </a:lnTo>
                  <a:lnTo>
                    <a:pt x="1887972" y="1433195"/>
                  </a:lnTo>
                  <a:lnTo>
                    <a:pt x="1826306" y="1417629"/>
                  </a:lnTo>
                  <a:lnTo>
                    <a:pt x="1766435" y="1401018"/>
                  </a:lnTo>
                  <a:lnTo>
                    <a:pt x="1708407" y="1383395"/>
                  </a:lnTo>
                  <a:lnTo>
                    <a:pt x="1652269" y="1364791"/>
                  </a:lnTo>
                  <a:lnTo>
                    <a:pt x="1598068" y="1345242"/>
                  </a:lnTo>
                  <a:lnTo>
                    <a:pt x="1545853" y="1324779"/>
                  </a:lnTo>
                  <a:lnTo>
                    <a:pt x="1495668" y="1303436"/>
                  </a:lnTo>
                  <a:lnTo>
                    <a:pt x="1447563" y="1281245"/>
                  </a:lnTo>
                  <a:lnTo>
                    <a:pt x="1401583" y="1258240"/>
                  </a:lnTo>
                  <a:lnTo>
                    <a:pt x="1357777" y="1234453"/>
                  </a:lnTo>
                  <a:lnTo>
                    <a:pt x="1316191" y="1209918"/>
                  </a:lnTo>
                  <a:lnTo>
                    <a:pt x="1276872" y="1184668"/>
                  </a:lnTo>
                  <a:lnTo>
                    <a:pt x="1239867" y="1158735"/>
                  </a:lnTo>
                  <a:lnTo>
                    <a:pt x="1205225" y="1132153"/>
                  </a:lnTo>
                  <a:lnTo>
                    <a:pt x="1172991" y="1104954"/>
                  </a:lnTo>
                  <a:lnTo>
                    <a:pt x="1143213" y="1077172"/>
                  </a:lnTo>
                  <a:lnTo>
                    <a:pt x="1115938" y="1048839"/>
                  </a:lnTo>
                  <a:lnTo>
                    <a:pt x="1069087" y="990654"/>
                  </a:lnTo>
                  <a:lnTo>
                    <a:pt x="1032814" y="930663"/>
                  </a:lnTo>
                  <a:lnTo>
                    <a:pt x="1007496" y="869130"/>
                  </a:lnTo>
                  <a:lnTo>
                    <a:pt x="993510" y="806318"/>
                  </a:lnTo>
                  <a:lnTo>
                    <a:pt x="990885" y="774516"/>
                  </a:lnTo>
                  <a:lnTo>
                    <a:pt x="991235" y="742493"/>
                  </a:lnTo>
                  <a:lnTo>
                    <a:pt x="0" y="495478"/>
                  </a:lnTo>
                  <a:close/>
                </a:path>
              </a:pathLst>
            </a:custGeom>
            <a:ln w="12699">
              <a:solidFill>
                <a:srgbClr val="57C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26093" y="1983485"/>
            <a:ext cx="2129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Impute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based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target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14700" y="5391698"/>
            <a:ext cx="3416935" cy="1168400"/>
            <a:chOff x="3314700" y="5391698"/>
            <a:chExt cx="3416935" cy="1168400"/>
          </a:xfrm>
        </p:grpSpPr>
        <p:sp>
          <p:nvSpPr>
            <p:cNvPr id="12" name="object 12"/>
            <p:cNvSpPr/>
            <p:nvPr/>
          </p:nvSpPr>
          <p:spPr>
            <a:xfrm>
              <a:off x="3321050" y="5398048"/>
              <a:ext cx="3404235" cy="1155700"/>
            </a:xfrm>
            <a:custGeom>
              <a:avLst/>
              <a:gdLst/>
              <a:ahLst/>
              <a:cxnLst/>
              <a:rect l="l" t="t" r="r" b="b"/>
              <a:pathLst>
                <a:path w="3404234" h="1155700">
                  <a:moveTo>
                    <a:pt x="2078287" y="0"/>
                  </a:moveTo>
                  <a:lnTo>
                    <a:pt x="2025390" y="196"/>
                  </a:lnTo>
                  <a:lnTo>
                    <a:pt x="1972589" y="1284"/>
                  </a:lnTo>
                  <a:lnTo>
                    <a:pt x="1919951" y="3259"/>
                  </a:lnTo>
                  <a:lnTo>
                    <a:pt x="1867539" y="6119"/>
                  </a:lnTo>
                  <a:lnTo>
                    <a:pt x="1815420" y="9859"/>
                  </a:lnTo>
                  <a:lnTo>
                    <a:pt x="1763658" y="14477"/>
                  </a:lnTo>
                  <a:lnTo>
                    <a:pt x="1712320" y="19968"/>
                  </a:lnTo>
                  <a:lnTo>
                    <a:pt x="1661470" y="26330"/>
                  </a:lnTo>
                  <a:lnTo>
                    <a:pt x="1611174" y="33557"/>
                  </a:lnTo>
                  <a:lnTo>
                    <a:pt x="1561497" y="41648"/>
                  </a:lnTo>
                  <a:lnTo>
                    <a:pt x="1512505" y="50598"/>
                  </a:lnTo>
                  <a:lnTo>
                    <a:pt x="1464263" y="60404"/>
                  </a:lnTo>
                  <a:lnTo>
                    <a:pt x="1416835" y="71062"/>
                  </a:lnTo>
                  <a:lnTo>
                    <a:pt x="1370289" y="82569"/>
                  </a:lnTo>
                  <a:lnTo>
                    <a:pt x="1324688" y="94920"/>
                  </a:lnTo>
                  <a:lnTo>
                    <a:pt x="1280098" y="108114"/>
                  </a:lnTo>
                  <a:lnTo>
                    <a:pt x="1236585" y="122145"/>
                  </a:lnTo>
                  <a:lnTo>
                    <a:pt x="1194214" y="137011"/>
                  </a:lnTo>
                  <a:lnTo>
                    <a:pt x="1153051" y="152708"/>
                  </a:lnTo>
                  <a:lnTo>
                    <a:pt x="1113160" y="169232"/>
                  </a:lnTo>
                  <a:lnTo>
                    <a:pt x="1074606" y="186580"/>
                  </a:lnTo>
                  <a:lnTo>
                    <a:pt x="1037457" y="204748"/>
                  </a:lnTo>
                  <a:lnTo>
                    <a:pt x="1001776" y="223733"/>
                  </a:lnTo>
                  <a:lnTo>
                    <a:pt x="0" y="129626"/>
                  </a:lnTo>
                  <a:lnTo>
                    <a:pt x="771144" y="420532"/>
                  </a:lnTo>
                  <a:lnTo>
                    <a:pt x="751333" y="454626"/>
                  </a:lnTo>
                  <a:lnTo>
                    <a:pt x="736472" y="488877"/>
                  </a:lnTo>
                  <a:lnTo>
                    <a:pt x="726496" y="523198"/>
                  </a:lnTo>
                  <a:lnTo>
                    <a:pt x="721339" y="557504"/>
                  </a:lnTo>
                  <a:lnTo>
                    <a:pt x="720935" y="591709"/>
                  </a:lnTo>
                  <a:lnTo>
                    <a:pt x="725218" y="625726"/>
                  </a:lnTo>
                  <a:lnTo>
                    <a:pt x="747582" y="692853"/>
                  </a:lnTo>
                  <a:lnTo>
                    <a:pt x="787907" y="758198"/>
                  </a:lnTo>
                  <a:lnTo>
                    <a:pt x="814641" y="789987"/>
                  </a:lnTo>
                  <a:lnTo>
                    <a:pt x="845667" y="821072"/>
                  </a:lnTo>
                  <a:lnTo>
                    <a:pt x="880921" y="851368"/>
                  </a:lnTo>
                  <a:lnTo>
                    <a:pt x="920335" y="880787"/>
                  </a:lnTo>
                  <a:lnTo>
                    <a:pt x="963846" y="909245"/>
                  </a:lnTo>
                  <a:lnTo>
                    <a:pt x="1011387" y="936655"/>
                  </a:lnTo>
                  <a:lnTo>
                    <a:pt x="1062892" y="962931"/>
                  </a:lnTo>
                  <a:lnTo>
                    <a:pt x="1118295" y="987987"/>
                  </a:lnTo>
                  <a:lnTo>
                    <a:pt x="1177532" y="1011737"/>
                  </a:lnTo>
                  <a:lnTo>
                    <a:pt x="1240536" y="1034095"/>
                  </a:lnTo>
                  <a:lnTo>
                    <a:pt x="1286088" y="1048651"/>
                  </a:lnTo>
                  <a:lnTo>
                    <a:pt x="1332589" y="1062259"/>
                  </a:lnTo>
                  <a:lnTo>
                    <a:pt x="1379974" y="1074921"/>
                  </a:lnTo>
                  <a:lnTo>
                    <a:pt x="1428177" y="1086642"/>
                  </a:lnTo>
                  <a:lnTo>
                    <a:pt x="1477134" y="1097424"/>
                  </a:lnTo>
                  <a:lnTo>
                    <a:pt x="1526778" y="1107273"/>
                  </a:lnTo>
                  <a:lnTo>
                    <a:pt x="1577045" y="1116190"/>
                  </a:lnTo>
                  <a:lnTo>
                    <a:pt x="1627869" y="1124180"/>
                  </a:lnTo>
                  <a:lnTo>
                    <a:pt x="1679184" y="1131246"/>
                  </a:lnTo>
                  <a:lnTo>
                    <a:pt x="1730926" y="1137392"/>
                  </a:lnTo>
                  <a:lnTo>
                    <a:pt x="1783029" y="1142621"/>
                  </a:lnTo>
                  <a:lnTo>
                    <a:pt x="1835428" y="1146938"/>
                  </a:lnTo>
                  <a:lnTo>
                    <a:pt x="1888057" y="1150344"/>
                  </a:lnTo>
                  <a:lnTo>
                    <a:pt x="1940851" y="1152845"/>
                  </a:lnTo>
                  <a:lnTo>
                    <a:pt x="1993744" y="1154443"/>
                  </a:lnTo>
                  <a:lnTo>
                    <a:pt x="2046672" y="1155143"/>
                  </a:lnTo>
                  <a:lnTo>
                    <a:pt x="2099569" y="1154947"/>
                  </a:lnTo>
                  <a:lnTo>
                    <a:pt x="2152370" y="1153860"/>
                  </a:lnTo>
                  <a:lnTo>
                    <a:pt x="2205008" y="1151884"/>
                  </a:lnTo>
                  <a:lnTo>
                    <a:pt x="2257420" y="1149024"/>
                  </a:lnTo>
                  <a:lnTo>
                    <a:pt x="2309539" y="1145283"/>
                  </a:lnTo>
                  <a:lnTo>
                    <a:pt x="2361301" y="1140665"/>
                  </a:lnTo>
                  <a:lnTo>
                    <a:pt x="2412639" y="1135173"/>
                  </a:lnTo>
                  <a:lnTo>
                    <a:pt x="2463489" y="1128810"/>
                  </a:lnTo>
                  <a:lnTo>
                    <a:pt x="2513785" y="1121581"/>
                  </a:lnTo>
                  <a:lnTo>
                    <a:pt x="2563462" y="1113488"/>
                  </a:lnTo>
                  <a:lnTo>
                    <a:pt x="2612454" y="1104536"/>
                  </a:lnTo>
                  <a:lnTo>
                    <a:pt x="2660696" y="1094728"/>
                  </a:lnTo>
                  <a:lnTo>
                    <a:pt x="2708124" y="1084068"/>
                  </a:lnTo>
                  <a:lnTo>
                    <a:pt x="2754670" y="1072559"/>
                  </a:lnTo>
                  <a:lnTo>
                    <a:pt x="2800271" y="1060204"/>
                  </a:lnTo>
                  <a:lnTo>
                    <a:pt x="2844861" y="1047008"/>
                  </a:lnTo>
                  <a:lnTo>
                    <a:pt x="2888374" y="1032973"/>
                  </a:lnTo>
                  <a:lnTo>
                    <a:pt x="2930745" y="1018104"/>
                  </a:lnTo>
                  <a:lnTo>
                    <a:pt x="2971908" y="1002404"/>
                  </a:lnTo>
                  <a:lnTo>
                    <a:pt x="3011799" y="985876"/>
                  </a:lnTo>
                  <a:lnTo>
                    <a:pt x="3050353" y="968525"/>
                  </a:lnTo>
                  <a:lnTo>
                    <a:pt x="3087502" y="950353"/>
                  </a:lnTo>
                  <a:lnTo>
                    <a:pt x="3123184" y="931364"/>
                  </a:lnTo>
                  <a:lnTo>
                    <a:pt x="3166707" y="905792"/>
                  </a:lnTo>
                  <a:lnTo>
                    <a:pt x="3206511" y="879544"/>
                  </a:lnTo>
                  <a:lnTo>
                    <a:pt x="3242613" y="852682"/>
                  </a:lnTo>
                  <a:lnTo>
                    <a:pt x="3275032" y="825267"/>
                  </a:lnTo>
                  <a:lnTo>
                    <a:pt x="3303785" y="797362"/>
                  </a:lnTo>
                  <a:lnTo>
                    <a:pt x="3350368" y="740326"/>
                  </a:lnTo>
                  <a:lnTo>
                    <a:pt x="3382506" y="682069"/>
                  </a:lnTo>
                  <a:lnTo>
                    <a:pt x="3400346" y="623084"/>
                  </a:lnTo>
                  <a:lnTo>
                    <a:pt x="3404032" y="563868"/>
                  </a:lnTo>
                  <a:lnTo>
                    <a:pt x="3400613" y="534327"/>
                  </a:lnTo>
                  <a:lnTo>
                    <a:pt x="3383340" y="475688"/>
                  </a:lnTo>
                  <a:lnTo>
                    <a:pt x="3352277" y="418052"/>
                  </a:lnTo>
                  <a:lnTo>
                    <a:pt x="3307569" y="361914"/>
                  </a:lnTo>
                  <a:lnTo>
                    <a:pt x="3280143" y="334561"/>
                  </a:lnTo>
                  <a:lnTo>
                    <a:pt x="3249360" y="307768"/>
                  </a:lnTo>
                  <a:lnTo>
                    <a:pt x="3215238" y="281597"/>
                  </a:lnTo>
                  <a:lnTo>
                    <a:pt x="3177796" y="256108"/>
                  </a:lnTo>
                  <a:lnTo>
                    <a:pt x="3137051" y="231365"/>
                  </a:lnTo>
                  <a:lnTo>
                    <a:pt x="3093021" y="207429"/>
                  </a:lnTo>
                  <a:lnTo>
                    <a:pt x="3045726" y="184362"/>
                  </a:lnTo>
                  <a:lnTo>
                    <a:pt x="2995182" y="162225"/>
                  </a:lnTo>
                  <a:lnTo>
                    <a:pt x="2941409" y="141080"/>
                  </a:lnTo>
                  <a:lnTo>
                    <a:pt x="2884424" y="120990"/>
                  </a:lnTo>
                  <a:lnTo>
                    <a:pt x="2838871" y="106440"/>
                  </a:lnTo>
                  <a:lnTo>
                    <a:pt x="2792370" y="92839"/>
                  </a:lnTo>
                  <a:lnTo>
                    <a:pt x="2744985" y="80182"/>
                  </a:lnTo>
                  <a:lnTo>
                    <a:pt x="2696782" y="68467"/>
                  </a:lnTo>
                  <a:lnTo>
                    <a:pt x="2647825" y="57689"/>
                  </a:lnTo>
                  <a:lnTo>
                    <a:pt x="2598181" y="47845"/>
                  </a:lnTo>
                  <a:lnTo>
                    <a:pt x="2547914" y="38932"/>
                  </a:lnTo>
                  <a:lnTo>
                    <a:pt x="2497090" y="30946"/>
                  </a:lnTo>
                  <a:lnTo>
                    <a:pt x="2445775" y="23883"/>
                  </a:lnTo>
                  <a:lnTo>
                    <a:pt x="2394033" y="17740"/>
                  </a:lnTo>
                  <a:lnTo>
                    <a:pt x="2341930" y="12513"/>
                  </a:lnTo>
                  <a:lnTo>
                    <a:pt x="2289531" y="8199"/>
                  </a:lnTo>
                  <a:lnTo>
                    <a:pt x="2236902" y="4794"/>
                  </a:lnTo>
                  <a:lnTo>
                    <a:pt x="2184108" y="2295"/>
                  </a:lnTo>
                  <a:lnTo>
                    <a:pt x="2131215" y="698"/>
                  </a:lnTo>
                  <a:lnTo>
                    <a:pt x="2078287" y="0"/>
                  </a:lnTo>
                  <a:close/>
                </a:path>
              </a:pathLst>
            </a:custGeom>
            <a:solidFill>
              <a:srgbClr val="BCE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21050" y="5398048"/>
              <a:ext cx="3404235" cy="1155700"/>
            </a:xfrm>
            <a:custGeom>
              <a:avLst/>
              <a:gdLst/>
              <a:ahLst/>
              <a:cxnLst/>
              <a:rect l="l" t="t" r="r" b="b"/>
              <a:pathLst>
                <a:path w="3404234" h="1155700">
                  <a:moveTo>
                    <a:pt x="0" y="129626"/>
                  </a:moveTo>
                  <a:lnTo>
                    <a:pt x="1001776" y="223733"/>
                  </a:lnTo>
                  <a:lnTo>
                    <a:pt x="1037457" y="204748"/>
                  </a:lnTo>
                  <a:lnTo>
                    <a:pt x="1074606" y="186580"/>
                  </a:lnTo>
                  <a:lnTo>
                    <a:pt x="1113160" y="169232"/>
                  </a:lnTo>
                  <a:lnTo>
                    <a:pt x="1153051" y="152708"/>
                  </a:lnTo>
                  <a:lnTo>
                    <a:pt x="1194214" y="137011"/>
                  </a:lnTo>
                  <a:lnTo>
                    <a:pt x="1236585" y="122145"/>
                  </a:lnTo>
                  <a:lnTo>
                    <a:pt x="1280098" y="108114"/>
                  </a:lnTo>
                  <a:lnTo>
                    <a:pt x="1324688" y="94920"/>
                  </a:lnTo>
                  <a:lnTo>
                    <a:pt x="1370289" y="82569"/>
                  </a:lnTo>
                  <a:lnTo>
                    <a:pt x="1416835" y="71062"/>
                  </a:lnTo>
                  <a:lnTo>
                    <a:pt x="1464263" y="60404"/>
                  </a:lnTo>
                  <a:lnTo>
                    <a:pt x="1512505" y="50598"/>
                  </a:lnTo>
                  <a:lnTo>
                    <a:pt x="1561497" y="41648"/>
                  </a:lnTo>
                  <a:lnTo>
                    <a:pt x="1611174" y="33557"/>
                  </a:lnTo>
                  <a:lnTo>
                    <a:pt x="1661470" y="26330"/>
                  </a:lnTo>
                  <a:lnTo>
                    <a:pt x="1712320" y="19968"/>
                  </a:lnTo>
                  <a:lnTo>
                    <a:pt x="1763658" y="14477"/>
                  </a:lnTo>
                  <a:lnTo>
                    <a:pt x="1815420" y="9859"/>
                  </a:lnTo>
                  <a:lnTo>
                    <a:pt x="1867539" y="6119"/>
                  </a:lnTo>
                  <a:lnTo>
                    <a:pt x="1919951" y="3259"/>
                  </a:lnTo>
                  <a:lnTo>
                    <a:pt x="1972589" y="1284"/>
                  </a:lnTo>
                  <a:lnTo>
                    <a:pt x="2025390" y="196"/>
                  </a:lnTo>
                  <a:lnTo>
                    <a:pt x="2078287" y="0"/>
                  </a:lnTo>
                  <a:lnTo>
                    <a:pt x="2131215" y="698"/>
                  </a:lnTo>
                  <a:lnTo>
                    <a:pt x="2184108" y="2295"/>
                  </a:lnTo>
                  <a:lnTo>
                    <a:pt x="2236902" y="4794"/>
                  </a:lnTo>
                  <a:lnTo>
                    <a:pt x="2289531" y="8199"/>
                  </a:lnTo>
                  <a:lnTo>
                    <a:pt x="2341930" y="12513"/>
                  </a:lnTo>
                  <a:lnTo>
                    <a:pt x="2394033" y="17740"/>
                  </a:lnTo>
                  <a:lnTo>
                    <a:pt x="2445775" y="23883"/>
                  </a:lnTo>
                  <a:lnTo>
                    <a:pt x="2497090" y="30946"/>
                  </a:lnTo>
                  <a:lnTo>
                    <a:pt x="2547914" y="38932"/>
                  </a:lnTo>
                  <a:lnTo>
                    <a:pt x="2598181" y="47845"/>
                  </a:lnTo>
                  <a:lnTo>
                    <a:pt x="2647825" y="57689"/>
                  </a:lnTo>
                  <a:lnTo>
                    <a:pt x="2696782" y="68467"/>
                  </a:lnTo>
                  <a:lnTo>
                    <a:pt x="2744985" y="80182"/>
                  </a:lnTo>
                  <a:lnTo>
                    <a:pt x="2792370" y="92839"/>
                  </a:lnTo>
                  <a:lnTo>
                    <a:pt x="2838871" y="106440"/>
                  </a:lnTo>
                  <a:lnTo>
                    <a:pt x="2884424" y="120990"/>
                  </a:lnTo>
                  <a:lnTo>
                    <a:pt x="2941409" y="141080"/>
                  </a:lnTo>
                  <a:lnTo>
                    <a:pt x="2995182" y="162225"/>
                  </a:lnTo>
                  <a:lnTo>
                    <a:pt x="3045726" y="184362"/>
                  </a:lnTo>
                  <a:lnTo>
                    <a:pt x="3093021" y="207429"/>
                  </a:lnTo>
                  <a:lnTo>
                    <a:pt x="3137051" y="231365"/>
                  </a:lnTo>
                  <a:lnTo>
                    <a:pt x="3177796" y="256108"/>
                  </a:lnTo>
                  <a:lnTo>
                    <a:pt x="3215238" y="281597"/>
                  </a:lnTo>
                  <a:lnTo>
                    <a:pt x="3249360" y="307768"/>
                  </a:lnTo>
                  <a:lnTo>
                    <a:pt x="3280143" y="334561"/>
                  </a:lnTo>
                  <a:lnTo>
                    <a:pt x="3307569" y="361914"/>
                  </a:lnTo>
                  <a:lnTo>
                    <a:pt x="3352277" y="418052"/>
                  </a:lnTo>
                  <a:lnTo>
                    <a:pt x="3383340" y="475688"/>
                  </a:lnTo>
                  <a:lnTo>
                    <a:pt x="3400613" y="534327"/>
                  </a:lnTo>
                  <a:lnTo>
                    <a:pt x="3404032" y="563868"/>
                  </a:lnTo>
                  <a:lnTo>
                    <a:pt x="3403949" y="593474"/>
                  </a:lnTo>
                  <a:lnTo>
                    <a:pt x="3393204" y="652636"/>
                  </a:lnTo>
                  <a:lnTo>
                    <a:pt x="3368233" y="711319"/>
                  </a:lnTo>
                  <a:lnTo>
                    <a:pt x="3328891" y="769027"/>
                  </a:lnTo>
                  <a:lnTo>
                    <a:pt x="3275032" y="825267"/>
                  </a:lnTo>
                  <a:lnTo>
                    <a:pt x="3242613" y="852682"/>
                  </a:lnTo>
                  <a:lnTo>
                    <a:pt x="3206511" y="879544"/>
                  </a:lnTo>
                  <a:lnTo>
                    <a:pt x="3166707" y="905792"/>
                  </a:lnTo>
                  <a:lnTo>
                    <a:pt x="3123184" y="931364"/>
                  </a:lnTo>
                  <a:lnTo>
                    <a:pt x="3087502" y="950353"/>
                  </a:lnTo>
                  <a:lnTo>
                    <a:pt x="3050353" y="968525"/>
                  </a:lnTo>
                  <a:lnTo>
                    <a:pt x="3011799" y="985876"/>
                  </a:lnTo>
                  <a:lnTo>
                    <a:pt x="2971908" y="1002404"/>
                  </a:lnTo>
                  <a:lnTo>
                    <a:pt x="2930745" y="1018104"/>
                  </a:lnTo>
                  <a:lnTo>
                    <a:pt x="2888374" y="1032973"/>
                  </a:lnTo>
                  <a:lnTo>
                    <a:pt x="2844861" y="1047008"/>
                  </a:lnTo>
                  <a:lnTo>
                    <a:pt x="2800271" y="1060204"/>
                  </a:lnTo>
                  <a:lnTo>
                    <a:pt x="2754670" y="1072559"/>
                  </a:lnTo>
                  <a:lnTo>
                    <a:pt x="2708124" y="1084068"/>
                  </a:lnTo>
                  <a:lnTo>
                    <a:pt x="2660696" y="1094728"/>
                  </a:lnTo>
                  <a:lnTo>
                    <a:pt x="2612454" y="1104536"/>
                  </a:lnTo>
                  <a:lnTo>
                    <a:pt x="2563462" y="1113488"/>
                  </a:lnTo>
                  <a:lnTo>
                    <a:pt x="2513785" y="1121581"/>
                  </a:lnTo>
                  <a:lnTo>
                    <a:pt x="2463489" y="1128810"/>
                  </a:lnTo>
                  <a:lnTo>
                    <a:pt x="2412639" y="1135173"/>
                  </a:lnTo>
                  <a:lnTo>
                    <a:pt x="2361301" y="1140665"/>
                  </a:lnTo>
                  <a:lnTo>
                    <a:pt x="2309539" y="1145283"/>
                  </a:lnTo>
                  <a:lnTo>
                    <a:pt x="2257420" y="1149024"/>
                  </a:lnTo>
                  <a:lnTo>
                    <a:pt x="2205008" y="1151884"/>
                  </a:lnTo>
                  <a:lnTo>
                    <a:pt x="2152370" y="1153860"/>
                  </a:lnTo>
                  <a:lnTo>
                    <a:pt x="2099569" y="1154947"/>
                  </a:lnTo>
                  <a:lnTo>
                    <a:pt x="2046672" y="1155143"/>
                  </a:lnTo>
                  <a:lnTo>
                    <a:pt x="1993744" y="1154443"/>
                  </a:lnTo>
                  <a:lnTo>
                    <a:pt x="1940851" y="1152845"/>
                  </a:lnTo>
                  <a:lnTo>
                    <a:pt x="1888057" y="1150344"/>
                  </a:lnTo>
                  <a:lnTo>
                    <a:pt x="1835428" y="1146938"/>
                  </a:lnTo>
                  <a:lnTo>
                    <a:pt x="1783029" y="1142621"/>
                  </a:lnTo>
                  <a:lnTo>
                    <a:pt x="1730926" y="1137392"/>
                  </a:lnTo>
                  <a:lnTo>
                    <a:pt x="1679184" y="1131246"/>
                  </a:lnTo>
                  <a:lnTo>
                    <a:pt x="1627869" y="1124180"/>
                  </a:lnTo>
                  <a:lnTo>
                    <a:pt x="1577045" y="1116190"/>
                  </a:lnTo>
                  <a:lnTo>
                    <a:pt x="1526778" y="1107273"/>
                  </a:lnTo>
                  <a:lnTo>
                    <a:pt x="1477134" y="1097424"/>
                  </a:lnTo>
                  <a:lnTo>
                    <a:pt x="1428177" y="1086642"/>
                  </a:lnTo>
                  <a:lnTo>
                    <a:pt x="1379974" y="1074921"/>
                  </a:lnTo>
                  <a:lnTo>
                    <a:pt x="1332589" y="1062259"/>
                  </a:lnTo>
                  <a:lnTo>
                    <a:pt x="1286088" y="1048651"/>
                  </a:lnTo>
                  <a:lnTo>
                    <a:pt x="1240536" y="1034095"/>
                  </a:lnTo>
                  <a:lnTo>
                    <a:pt x="1177532" y="1011737"/>
                  </a:lnTo>
                  <a:lnTo>
                    <a:pt x="1118295" y="987987"/>
                  </a:lnTo>
                  <a:lnTo>
                    <a:pt x="1062892" y="962931"/>
                  </a:lnTo>
                  <a:lnTo>
                    <a:pt x="1011387" y="936655"/>
                  </a:lnTo>
                  <a:lnTo>
                    <a:pt x="963846" y="909245"/>
                  </a:lnTo>
                  <a:lnTo>
                    <a:pt x="920335" y="880787"/>
                  </a:lnTo>
                  <a:lnTo>
                    <a:pt x="880921" y="851368"/>
                  </a:lnTo>
                  <a:lnTo>
                    <a:pt x="845667" y="821072"/>
                  </a:lnTo>
                  <a:lnTo>
                    <a:pt x="814641" y="789987"/>
                  </a:lnTo>
                  <a:lnTo>
                    <a:pt x="787907" y="758198"/>
                  </a:lnTo>
                  <a:lnTo>
                    <a:pt x="765533" y="725792"/>
                  </a:lnTo>
                  <a:lnTo>
                    <a:pt x="734122" y="659469"/>
                  </a:lnTo>
                  <a:lnTo>
                    <a:pt x="720935" y="591709"/>
                  </a:lnTo>
                  <a:lnTo>
                    <a:pt x="721339" y="557504"/>
                  </a:lnTo>
                  <a:lnTo>
                    <a:pt x="726496" y="523198"/>
                  </a:lnTo>
                  <a:lnTo>
                    <a:pt x="736472" y="488877"/>
                  </a:lnTo>
                  <a:lnTo>
                    <a:pt x="751333" y="454626"/>
                  </a:lnTo>
                  <a:lnTo>
                    <a:pt x="771144" y="420532"/>
                  </a:lnTo>
                  <a:lnTo>
                    <a:pt x="0" y="129626"/>
                  </a:lnTo>
                  <a:close/>
                </a:path>
              </a:pathLst>
            </a:custGeom>
            <a:ln w="12700">
              <a:solidFill>
                <a:srgbClr val="57C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58614" y="5546547"/>
            <a:ext cx="14522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Which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dirty="0">
                <a:latin typeface="Trebuchet MS"/>
                <a:cs typeface="Trebuchet MS"/>
              </a:rPr>
              <a:t>best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region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to </a:t>
            </a:r>
            <a:r>
              <a:rPr sz="1800" dirty="0">
                <a:latin typeface="Trebuchet MS"/>
                <a:cs typeface="Trebuchet MS"/>
              </a:rPr>
              <a:t>replace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with?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NumberOfTime30_59DaysPastDueNotW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6590030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  <a:tab pos="4886960" algn="l"/>
              </a:tabLst>
            </a:pP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rate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category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of</a:t>
            </a:r>
            <a:r>
              <a:rPr sz="2400" dirty="0">
                <a:latin typeface="Trebuchet MS"/>
                <a:cs typeface="Trebuchet MS"/>
              </a:rPr>
              <a:t>	this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  <a:tab pos="3209290" algn="l"/>
                <a:tab pos="6390005" algn="l"/>
              </a:tabLst>
            </a:pPr>
            <a:r>
              <a:rPr sz="2400" spc="-10" dirty="0">
                <a:latin typeface="Trebuchet MS"/>
                <a:cs typeface="Trebuchet MS"/>
              </a:rPr>
              <a:t>Replace </a:t>
            </a:r>
            <a:r>
              <a:rPr sz="2400" dirty="0">
                <a:latin typeface="Trebuchet MS"/>
                <a:cs typeface="Trebuchet MS"/>
              </a:rPr>
              <a:t>96 with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dirty="0">
                <a:latin typeface="Trebuchet MS"/>
                <a:cs typeface="Trebuchet MS"/>
              </a:rPr>
              <a:t>?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Replace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98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with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3678682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75549" y="1595622"/>
            <a:ext cx="2738755" cy="741045"/>
            <a:chOff x="2575549" y="1595622"/>
            <a:chExt cx="2738755" cy="741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1595622"/>
              <a:ext cx="2703596" cy="73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3847" y="1647431"/>
              <a:ext cx="2720340" cy="688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2607563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607563" y="643127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0" y="643127"/>
                  </a:moveTo>
                  <a:lnTo>
                    <a:pt x="2607563" y="643127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16148" y="1735658"/>
            <a:ext cx="23761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5549" y="3459455"/>
            <a:ext cx="2738755" cy="739775"/>
            <a:chOff x="2575549" y="3459455"/>
            <a:chExt cx="2738755" cy="7397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49" y="3459455"/>
              <a:ext cx="2703596" cy="7376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3847" y="3509759"/>
              <a:ext cx="2720340" cy="6888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2607563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2607563" y="641603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0" y="641603"/>
                  </a:moveTo>
                  <a:lnTo>
                    <a:pt x="2607563" y="641603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6148" y="3598926"/>
            <a:ext cx="237807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Medium(10%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75549" y="5532088"/>
            <a:ext cx="2738755" cy="741045"/>
            <a:chOff x="2575549" y="5532088"/>
            <a:chExt cx="2738755" cy="74104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5532088"/>
              <a:ext cx="2703596" cy="7391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3847" y="5583935"/>
              <a:ext cx="2720340" cy="6888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2607563" y="0"/>
                  </a:moveTo>
                  <a:lnTo>
                    <a:pt x="0" y="0"/>
                  </a:lnTo>
                  <a:lnTo>
                    <a:pt x="0" y="643128"/>
                  </a:lnTo>
                  <a:lnTo>
                    <a:pt x="2607563" y="643128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0" y="643128"/>
                  </a:moveTo>
                  <a:lnTo>
                    <a:pt x="2607563" y="643128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8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16148" y="5673344"/>
            <a:ext cx="2378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1205" marR="5080" indent="-73914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50623" y="1086587"/>
            <a:ext cx="5442585" cy="737870"/>
            <a:chOff x="5850623" y="1086587"/>
            <a:chExt cx="5442585" cy="73787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1086587"/>
              <a:ext cx="5442229" cy="73767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34455" y="1156741"/>
              <a:ext cx="5271515" cy="6476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5346191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5346191" y="641603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0" y="641603"/>
                  </a:moveTo>
                  <a:lnTo>
                    <a:pt x="5346191" y="641603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49771" y="1242822"/>
            <a:ext cx="49930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continuous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variables.</a:t>
            </a:r>
            <a:endParaRPr sz="13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50623" y="1889747"/>
            <a:ext cx="5442585" cy="844550"/>
            <a:chOff x="5850623" y="1889747"/>
            <a:chExt cx="5442585" cy="84455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1917186"/>
              <a:ext cx="5442229" cy="73916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2511" y="1889747"/>
              <a:ext cx="4425695" cy="84430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97828" y="1975230"/>
            <a:ext cx="409638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probable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category/class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Look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cross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tab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850623" y="3014472"/>
            <a:ext cx="5442585" cy="845819"/>
            <a:chOff x="5850623" y="3014472"/>
            <a:chExt cx="5442585" cy="845819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043422"/>
              <a:ext cx="5442229" cy="7391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9987" y="3014472"/>
              <a:ext cx="5190744" cy="84581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15303" y="3101086"/>
            <a:ext cx="486600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Non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50623" y="3846563"/>
            <a:ext cx="5442585" cy="844550"/>
            <a:chOff x="5850623" y="3846563"/>
            <a:chExt cx="5442585" cy="84455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874002"/>
              <a:ext cx="5442229" cy="7391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99403" y="3846563"/>
              <a:ext cx="5393436" cy="84430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14720" y="3932682"/>
            <a:ext cx="506285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categorical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variables,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rename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“Missing”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numeric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discrete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class,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850623" y="5003273"/>
            <a:ext cx="5442585" cy="739775"/>
            <a:chOff x="5850623" y="5003273"/>
            <a:chExt cx="5442585" cy="739775"/>
          </a:xfrm>
        </p:grpSpPr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5003273"/>
              <a:ext cx="5442229" cy="7391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0363" y="5074920"/>
              <a:ext cx="5268468" cy="64616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075679" y="5161026"/>
            <a:ext cx="49441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1980" marR="5080" indent="-1859914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indicator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missing.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Drop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850623" y="5835358"/>
            <a:ext cx="5442585" cy="737870"/>
            <a:chOff x="5850623" y="5835358"/>
            <a:chExt cx="5442585" cy="737870"/>
          </a:xfrm>
        </p:grpSpPr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5835358"/>
              <a:ext cx="5442229" cy="73767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50279" y="5905499"/>
              <a:ext cx="5090160" cy="64616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5346191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5346191" y="641604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0" y="641604"/>
                  </a:moveTo>
                  <a:lnTo>
                    <a:pt x="5346191" y="641604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165596" y="5992164"/>
            <a:ext cx="47618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missing,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club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rest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endParaRPr sz="1300">
              <a:latin typeface="Trebuchet MS"/>
              <a:cs typeface="Trebuchet MS"/>
            </a:endParaRPr>
          </a:p>
          <a:p>
            <a:pPr marL="3810"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“Non-missing”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629155" y="1290815"/>
            <a:ext cx="4435475" cy="5080000"/>
            <a:chOff x="1629155" y="1290815"/>
            <a:chExt cx="4435475" cy="5080000"/>
          </a:xfrm>
        </p:grpSpPr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9155" y="1799844"/>
              <a:ext cx="1161300" cy="20924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657095" y="1968245"/>
              <a:ext cx="944244" cy="1874520"/>
            </a:xfrm>
            <a:custGeom>
              <a:avLst/>
              <a:gdLst/>
              <a:ahLst/>
              <a:cxnLst/>
              <a:rect l="l" t="t" r="r" b="b"/>
              <a:pathLst>
                <a:path w="944244" h="1874520">
                  <a:moveTo>
                    <a:pt x="875838" y="93876"/>
                  </a:moveTo>
                  <a:lnTo>
                    <a:pt x="0" y="1857628"/>
                  </a:lnTo>
                  <a:lnTo>
                    <a:pt x="34036" y="1874520"/>
                  </a:lnTo>
                  <a:lnTo>
                    <a:pt x="909975" y="110817"/>
                  </a:lnTo>
                  <a:lnTo>
                    <a:pt x="875838" y="93876"/>
                  </a:lnTo>
                  <a:close/>
                </a:path>
                <a:path w="944244" h="1874520">
                  <a:moveTo>
                    <a:pt x="943966" y="76834"/>
                  </a:moveTo>
                  <a:lnTo>
                    <a:pt x="884301" y="76834"/>
                  </a:lnTo>
                  <a:lnTo>
                    <a:pt x="918464" y="93725"/>
                  </a:lnTo>
                  <a:lnTo>
                    <a:pt x="909975" y="110817"/>
                  </a:lnTo>
                  <a:lnTo>
                    <a:pt x="944118" y="127762"/>
                  </a:lnTo>
                  <a:lnTo>
                    <a:pt x="944016" y="93725"/>
                  </a:lnTo>
                  <a:lnTo>
                    <a:pt x="943966" y="76834"/>
                  </a:lnTo>
                  <a:close/>
                </a:path>
                <a:path w="944244" h="1874520">
                  <a:moveTo>
                    <a:pt x="884301" y="76834"/>
                  </a:moveTo>
                  <a:lnTo>
                    <a:pt x="875913" y="93725"/>
                  </a:lnTo>
                  <a:lnTo>
                    <a:pt x="875838" y="93876"/>
                  </a:lnTo>
                  <a:lnTo>
                    <a:pt x="909975" y="110817"/>
                  </a:lnTo>
                  <a:lnTo>
                    <a:pt x="918389" y="93876"/>
                  </a:lnTo>
                  <a:lnTo>
                    <a:pt x="918464" y="93725"/>
                  </a:lnTo>
                  <a:lnTo>
                    <a:pt x="884301" y="76834"/>
                  </a:lnTo>
                  <a:close/>
                </a:path>
                <a:path w="944244" h="1874520">
                  <a:moveTo>
                    <a:pt x="943737" y="0"/>
                  </a:moveTo>
                  <a:lnTo>
                    <a:pt x="841756" y="76962"/>
                  </a:lnTo>
                  <a:lnTo>
                    <a:pt x="875838" y="93876"/>
                  </a:lnTo>
                  <a:lnTo>
                    <a:pt x="884237" y="76962"/>
                  </a:lnTo>
                  <a:lnTo>
                    <a:pt x="884301" y="76834"/>
                  </a:lnTo>
                  <a:lnTo>
                    <a:pt x="943966" y="76834"/>
                  </a:lnTo>
                  <a:lnTo>
                    <a:pt x="943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45919" y="3662146"/>
              <a:ext cx="1144536" cy="33225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673986" y="3773805"/>
              <a:ext cx="927100" cy="114300"/>
            </a:xfrm>
            <a:custGeom>
              <a:avLst/>
              <a:gdLst/>
              <a:ahLst/>
              <a:cxnLst/>
              <a:rect l="l" t="t" r="r" b="b"/>
              <a:pathLst>
                <a:path w="927100" h="114300">
                  <a:moveTo>
                    <a:pt x="812419" y="0"/>
                  </a:moveTo>
                  <a:lnTo>
                    <a:pt x="812546" y="38172"/>
                  </a:lnTo>
                  <a:lnTo>
                    <a:pt x="812556" y="41275"/>
                  </a:lnTo>
                  <a:lnTo>
                    <a:pt x="812673" y="76272"/>
                  </a:lnTo>
                  <a:lnTo>
                    <a:pt x="812800" y="114300"/>
                  </a:lnTo>
                  <a:lnTo>
                    <a:pt x="888182" y="76272"/>
                  </a:lnTo>
                  <a:lnTo>
                    <a:pt x="831723" y="76272"/>
                  </a:lnTo>
                  <a:lnTo>
                    <a:pt x="831606" y="41275"/>
                  </a:lnTo>
                  <a:lnTo>
                    <a:pt x="831596" y="38172"/>
                  </a:lnTo>
                  <a:lnTo>
                    <a:pt x="889362" y="38172"/>
                  </a:lnTo>
                  <a:lnTo>
                    <a:pt x="812419" y="0"/>
                  </a:lnTo>
                  <a:close/>
                </a:path>
                <a:path w="927100" h="114300">
                  <a:moveTo>
                    <a:pt x="812546" y="38172"/>
                  </a:moveTo>
                  <a:lnTo>
                    <a:pt x="0" y="41275"/>
                  </a:lnTo>
                  <a:lnTo>
                    <a:pt x="233" y="76272"/>
                  </a:lnTo>
                  <a:lnTo>
                    <a:pt x="254" y="79375"/>
                  </a:lnTo>
                  <a:lnTo>
                    <a:pt x="812673" y="76272"/>
                  </a:lnTo>
                  <a:lnTo>
                    <a:pt x="812556" y="41275"/>
                  </a:lnTo>
                  <a:lnTo>
                    <a:pt x="812546" y="38172"/>
                  </a:lnTo>
                  <a:close/>
                </a:path>
                <a:path w="927100" h="114300">
                  <a:moveTo>
                    <a:pt x="889362" y="38172"/>
                  </a:moveTo>
                  <a:lnTo>
                    <a:pt x="831596" y="38172"/>
                  </a:lnTo>
                  <a:lnTo>
                    <a:pt x="831606" y="41275"/>
                  </a:lnTo>
                  <a:lnTo>
                    <a:pt x="831723" y="76272"/>
                  </a:lnTo>
                  <a:lnTo>
                    <a:pt x="888182" y="76272"/>
                  </a:lnTo>
                  <a:lnTo>
                    <a:pt x="926845" y="56769"/>
                  </a:lnTo>
                  <a:lnTo>
                    <a:pt x="889362" y="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9155" y="3773436"/>
              <a:ext cx="1161300" cy="229514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656714" y="3827399"/>
              <a:ext cx="949960" cy="2078355"/>
            </a:xfrm>
            <a:custGeom>
              <a:avLst/>
              <a:gdLst/>
              <a:ahLst/>
              <a:cxnLst/>
              <a:rect l="l" t="t" r="r" b="b"/>
              <a:pathLst>
                <a:path w="949960" h="2078354">
                  <a:moveTo>
                    <a:pt x="880070" y="1981571"/>
                  </a:moveTo>
                  <a:lnTo>
                    <a:pt x="845312" y="1997138"/>
                  </a:lnTo>
                  <a:lnTo>
                    <a:pt x="944118" y="2078126"/>
                  </a:lnTo>
                  <a:lnTo>
                    <a:pt x="947503" y="1998967"/>
                  </a:lnTo>
                  <a:lnTo>
                    <a:pt x="887857" y="1998967"/>
                  </a:lnTo>
                  <a:lnTo>
                    <a:pt x="880070" y="1981571"/>
                  </a:lnTo>
                  <a:close/>
                </a:path>
                <a:path w="949960" h="2078354">
                  <a:moveTo>
                    <a:pt x="914862" y="1965989"/>
                  </a:moveTo>
                  <a:lnTo>
                    <a:pt x="880070" y="1981571"/>
                  </a:lnTo>
                  <a:lnTo>
                    <a:pt x="887857" y="1998967"/>
                  </a:lnTo>
                  <a:lnTo>
                    <a:pt x="922655" y="1983397"/>
                  </a:lnTo>
                  <a:lnTo>
                    <a:pt x="914862" y="1965989"/>
                  </a:lnTo>
                  <a:close/>
                </a:path>
                <a:path w="949960" h="2078354">
                  <a:moveTo>
                    <a:pt x="949579" y="1950440"/>
                  </a:moveTo>
                  <a:lnTo>
                    <a:pt x="914862" y="1965989"/>
                  </a:lnTo>
                  <a:lnTo>
                    <a:pt x="922655" y="1983397"/>
                  </a:lnTo>
                  <a:lnTo>
                    <a:pt x="887857" y="1998967"/>
                  </a:lnTo>
                  <a:lnTo>
                    <a:pt x="947503" y="1998967"/>
                  </a:lnTo>
                  <a:lnTo>
                    <a:pt x="949579" y="1950440"/>
                  </a:lnTo>
                  <a:close/>
                </a:path>
                <a:path w="949960" h="2078354">
                  <a:moveTo>
                    <a:pt x="34798" y="0"/>
                  </a:moveTo>
                  <a:lnTo>
                    <a:pt x="0" y="15493"/>
                  </a:lnTo>
                  <a:lnTo>
                    <a:pt x="880070" y="1981571"/>
                  </a:lnTo>
                  <a:lnTo>
                    <a:pt x="914862" y="1965989"/>
                  </a:lnTo>
                  <a:lnTo>
                    <a:pt x="34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69408" y="1290815"/>
              <a:ext cx="894575" cy="7422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196713" y="1459229"/>
              <a:ext cx="678180" cy="525145"/>
            </a:xfrm>
            <a:custGeom>
              <a:avLst/>
              <a:gdLst/>
              <a:ahLst/>
              <a:cxnLst/>
              <a:rect l="l" t="t" r="r" b="b"/>
              <a:pathLst>
                <a:path w="678179" h="525144">
                  <a:moveTo>
                    <a:pt x="575806" y="54367"/>
                  </a:moveTo>
                  <a:lnTo>
                    <a:pt x="0" y="494792"/>
                  </a:lnTo>
                  <a:lnTo>
                    <a:pt x="23113" y="525018"/>
                  </a:lnTo>
                  <a:lnTo>
                    <a:pt x="598927" y="84588"/>
                  </a:lnTo>
                  <a:lnTo>
                    <a:pt x="575806" y="54367"/>
                  </a:lnTo>
                  <a:close/>
                </a:path>
                <a:path w="678179" h="525144">
                  <a:moveTo>
                    <a:pt x="657253" y="42799"/>
                  </a:moveTo>
                  <a:lnTo>
                    <a:pt x="590931" y="42799"/>
                  </a:lnTo>
                  <a:lnTo>
                    <a:pt x="614045" y="73025"/>
                  </a:lnTo>
                  <a:lnTo>
                    <a:pt x="598927" y="84588"/>
                  </a:lnTo>
                  <a:lnTo>
                    <a:pt x="622046" y="114808"/>
                  </a:lnTo>
                  <a:lnTo>
                    <a:pt x="657253" y="42799"/>
                  </a:lnTo>
                  <a:close/>
                </a:path>
                <a:path w="678179" h="525144">
                  <a:moveTo>
                    <a:pt x="590931" y="42799"/>
                  </a:moveTo>
                  <a:lnTo>
                    <a:pt x="575806" y="54367"/>
                  </a:lnTo>
                  <a:lnTo>
                    <a:pt x="598927" y="84588"/>
                  </a:lnTo>
                  <a:lnTo>
                    <a:pt x="614045" y="73025"/>
                  </a:lnTo>
                  <a:lnTo>
                    <a:pt x="590931" y="42799"/>
                  </a:lnTo>
                  <a:close/>
                </a:path>
                <a:path w="678179" h="525144">
                  <a:moveTo>
                    <a:pt x="678179" y="0"/>
                  </a:moveTo>
                  <a:lnTo>
                    <a:pt x="552576" y="24003"/>
                  </a:lnTo>
                  <a:lnTo>
                    <a:pt x="575806" y="54367"/>
                  </a:lnTo>
                  <a:lnTo>
                    <a:pt x="590931" y="42799"/>
                  </a:lnTo>
                  <a:lnTo>
                    <a:pt x="657253" y="42799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72455" y="1897405"/>
              <a:ext cx="891539" cy="55623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200015" y="1951101"/>
              <a:ext cx="675005" cy="340360"/>
            </a:xfrm>
            <a:custGeom>
              <a:avLst/>
              <a:gdLst/>
              <a:ahLst/>
              <a:cxnLst/>
              <a:rect l="l" t="t" r="r" b="b"/>
              <a:pathLst>
                <a:path w="675004" h="340360">
                  <a:moveTo>
                    <a:pt x="563629" y="305936"/>
                  </a:moveTo>
                  <a:lnTo>
                    <a:pt x="547115" y="340233"/>
                  </a:lnTo>
                  <a:lnTo>
                    <a:pt x="674877" y="338454"/>
                  </a:lnTo>
                  <a:lnTo>
                    <a:pt x="656106" y="314198"/>
                  </a:lnTo>
                  <a:lnTo>
                    <a:pt x="580771" y="314198"/>
                  </a:lnTo>
                  <a:lnTo>
                    <a:pt x="563629" y="305936"/>
                  </a:lnTo>
                  <a:close/>
                </a:path>
                <a:path w="675004" h="340360">
                  <a:moveTo>
                    <a:pt x="580139" y="271646"/>
                  </a:moveTo>
                  <a:lnTo>
                    <a:pt x="563629" y="305936"/>
                  </a:lnTo>
                  <a:lnTo>
                    <a:pt x="580771" y="314198"/>
                  </a:lnTo>
                  <a:lnTo>
                    <a:pt x="597281" y="279908"/>
                  </a:lnTo>
                  <a:lnTo>
                    <a:pt x="580139" y="271646"/>
                  </a:lnTo>
                  <a:close/>
                </a:path>
                <a:path w="675004" h="340360">
                  <a:moveTo>
                    <a:pt x="596646" y="237362"/>
                  </a:moveTo>
                  <a:lnTo>
                    <a:pt x="580139" y="271646"/>
                  </a:lnTo>
                  <a:lnTo>
                    <a:pt x="597281" y="279908"/>
                  </a:lnTo>
                  <a:lnTo>
                    <a:pt x="580771" y="314198"/>
                  </a:lnTo>
                  <a:lnTo>
                    <a:pt x="656106" y="314198"/>
                  </a:lnTo>
                  <a:lnTo>
                    <a:pt x="596646" y="237362"/>
                  </a:lnTo>
                  <a:close/>
                </a:path>
                <a:path w="675004" h="340360">
                  <a:moveTo>
                    <a:pt x="16510" y="0"/>
                  </a:moveTo>
                  <a:lnTo>
                    <a:pt x="0" y="34289"/>
                  </a:lnTo>
                  <a:lnTo>
                    <a:pt x="563629" y="305936"/>
                  </a:lnTo>
                  <a:lnTo>
                    <a:pt x="580139" y="271646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70932" y="3247618"/>
              <a:ext cx="893051" cy="64924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198236" y="3416046"/>
              <a:ext cx="676910" cy="431800"/>
            </a:xfrm>
            <a:custGeom>
              <a:avLst/>
              <a:gdLst/>
              <a:ahLst/>
              <a:cxnLst/>
              <a:rect l="l" t="t" r="r" b="b"/>
              <a:pathLst>
                <a:path w="676910" h="431800">
                  <a:moveTo>
                    <a:pt x="569534" y="44251"/>
                  </a:moveTo>
                  <a:lnTo>
                    <a:pt x="0" y="399160"/>
                  </a:lnTo>
                  <a:lnTo>
                    <a:pt x="20065" y="431545"/>
                  </a:lnTo>
                  <a:lnTo>
                    <a:pt x="589680" y="76586"/>
                  </a:lnTo>
                  <a:lnTo>
                    <a:pt x="569534" y="44251"/>
                  </a:lnTo>
                  <a:close/>
                </a:path>
                <a:path w="676910" h="431800">
                  <a:moveTo>
                    <a:pt x="655712" y="34162"/>
                  </a:moveTo>
                  <a:lnTo>
                    <a:pt x="585724" y="34162"/>
                  </a:lnTo>
                  <a:lnTo>
                    <a:pt x="605789" y="66548"/>
                  </a:lnTo>
                  <a:lnTo>
                    <a:pt x="589680" y="76586"/>
                  </a:lnTo>
                  <a:lnTo>
                    <a:pt x="609853" y="108965"/>
                  </a:lnTo>
                  <a:lnTo>
                    <a:pt x="655712" y="34162"/>
                  </a:lnTo>
                  <a:close/>
                </a:path>
                <a:path w="676910" h="431800">
                  <a:moveTo>
                    <a:pt x="585724" y="34162"/>
                  </a:moveTo>
                  <a:lnTo>
                    <a:pt x="569534" y="44251"/>
                  </a:lnTo>
                  <a:lnTo>
                    <a:pt x="589680" y="76586"/>
                  </a:lnTo>
                  <a:lnTo>
                    <a:pt x="605789" y="66548"/>
                  </a:lnTo>
                  <a:lnTo>
                    <a:pt x="585724" y="34162"/>
                  </a:lnTo>
                  <a:close/>
                </a:path>
                <a:path w="676910" h="431800">
                  <a:moveTo>
                    <a:pt x="676655" y="0"/>
                  </a:moveTo>
                  <a:lnTo>
                    <a:pt x="549401" y="11937"/>
                  </a:lnTo>
                  <a:lnTo>
                    <a:pt x="569534" y="44251"/>
                  </a:lnTo>
                  <a:lnTo>
                    <a:pt x="585724" y="34162"/>
                  </a:lnTo>
                  <a:lnTo>
                    <a:pt x="655712" y="34162"/>
                  </a:lnTo>
                  <a:lnTo>
                    <a:pt x="676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70932" y="3761206"/>
              <a:ext cx="893051" cy="64924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198236" y="3814444"/>
              <a:ext cx="676910" cy="432434"/>
            </a:xfrm>
            <a:custGeom>
              <a:avLst/>
              <a:gdLst/>
              <a:ahLst/>
              <a:cxnLst/>
              <a:rect l="l" t="t" r="r" b="b"/>
              <a:pathLst>
                <a:path w="676910" h="432435">
                  <a:moveTo>
                    <a:pt x="569540" y="387665"/>
                  </a:moveTo>
                  <a:lnTo>
                    <a:pt x="549401" y="419988"/>
                  </a:lnTo>
                  <a:lnTo>
                    <a:pt x="676655" y="431926"/>
                  </a:lnTo>
                  <a:lnTo>
                    <a:pt x="655712" y="397763"/>
                  </a:lnTo>
                  <a:lnTo>
                    <a:pt x="585724" y="397763"/>
                  </a:lnTo>
                  <a:lnTo>
                    <a:pt x="569540" y="387665"/>
                  </a:lnTo>
                  <a:close/>
                </a:path>
                <a:path w="676910" h="432435">
                  <a:moveTo>
                    <a:pt x="589719" y="355277"/>
                  </a:moveTo>
                  <a:lnTo>
                    <a:pt x="569540" y="387665"/>
                  </a:lnTo>
                  <a:lnTo>
                    <a:pt x="585724" y="397763"/>
                  </a:lnTo>
                  <a:lnTo>
                    <a:pt x="605916" y="365378"/>
                  </a:lnTo>
                  <a:lnTo>
                    <a:pt x="589719" y="355277"/>
                  </a:lnTo>
                  <a:close/>
                </a:path>
                <a:path w="676910" h="432435">
                  <a:moveTo>
                    <a:pt x="609853" y="322960"/>
                  </a:moveTo>
                  <a:lnTo>
                    <a:pt x="589719" y="355277"/>
                  </a:lnTo>
                  <a:lnTo>
                    <a:pt x="605916" y="365378"/>
                  </a:lnTo>
                  <a:lnTo>
                    <a:pt x="585724" y="397763"/>
                  </a:lnTo>
                  <a:lnTo>
                    <a:pt x="655712" y="397763"/>
                  </a:lnTo>
                  <a:lnTo>
                    <a:pt x="609853" y="322960"/>
                  </a:lnTo>
                  <a:close/>
                </a:path>
                <a:path w="676910" h="432435">
                  <a:moveTo>
                    <a:pt x="20065" y="0"/>
                  </a:moveTo>
                  <a:lnTo>
                    <a:pt x="0" y="32257"/>
                  </a:lnTo>
                  <a:lnTo>
                    <a:pt x="569540" y="387665"/>
                  </a:lnTo>
                  <a:lnTo>
                    <a:pt x="589719" y="355277"/>
                  </a:lnTo>
                  <a:lnTo>
                    <a:pt x="20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67884" y="5207508"/>
              <a:ext cx="896137" cy="76048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196459" y="5375910"/>
              <a:ext cx="678815" cy="544195"/>
            </a:xfrm>
            <a:custGeom>
              <a:avLst/>
              <a:gdLst/>
              <a:ahLst/>
              <a:cxnLst/>
              <a:rect l="l" t="t" r="r" b="b"/>
              <a:pathLst>
                <a:path w="678814" h="544195">
                  <a:moveTo>
                    <a:pt x="577054" y="56144"/>
                  </a:moveTo>
                  <a:lnTo>
                    <a:pt x="0" y="514197"/>
                  </a:lnTo>
                  <a:lnTo>
                    <a:pt x="23621" y="544042"/>
                  </a:lnTo>
                  <a:lnTo>
                    <a:pt x="600728" y="85948"/>
                  </a:lnTo>
                  <a:lnTo>
                    <a:pt x="577054" y="56144"/>
                  </a:lnTo>
                  <a:close/>
                </a:path>
                <a:path w="678814" h="544195">
                  <a:moveTo>
                    <a:pt x="657779" y="44322"/>
                  </a:moveTo>
                  <a:lnTo>
                    <a:pt x="591946" y="44322"/>
                  </a:lnTo>
                  <a:lnTo>
                    <a:pt x="615568" y="74167"/>
                  </a:lnTo>
                  <a:lnTo>
                    <a:pt x="600728" y="85948"/>
                  </a:lnTo>
                  <a:lnTo>
                    <a:pt x="624458" y="115823"/>
                  </a:lnTo>
                  <a:lnTo>
                    <a:pt x="657779" y="44322"/>
                  </a:lnTo>
                  <a:close/>
                </a:path>
                <a:path w="678814" h="544195">
                  <a:moveTo>
                    <a:pt x="591946" y="44322"/>
                  </a:moveTo>
                  <a:lnTo>
                    <a:pt x="577054" y="56144"/>
                  </a:lnTo>
                  <a:lnTo>
                    <a:pt x="600728" y="85948"/>
                  </a:lnTo>
                  <a:lnTo>
                    <a:pt x="615568" y="74167"/>
                  </a:lnTo>
                  <a:lnTo>
                    <a:pt x="591946" y="44322"/>
                  </a:lnTo>
                  <a:close/>
                </a:path>
                <a:path w="678814" h="544195">
                  <a:moveTo>
                    <a:pt x="678433" y="0"/>
                  </a:moveTo>
                  <a:lnTo>
                    <a:pt x="553338" y="26288"/>
                  </a:lnTo>
                  <a:lnTo>
                    <a:pt x="577054" y="56144"/>
                  </a:lnTo>
                  <a:lnTo>
                    <a:pt x="591946" y="44322"/>
                  </a:lnTo>
                  <a:lnTo>
                    <a:pt x="657779" y="44322"/>
                  </a:lnTo>
                  <a:lnTo>
                    <a:pt x="678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72455" y="5833872"/>
              <a:ext cx="891539" cy="53643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200396" y="5887389"/>
              <a:ext cx="675005" cy="324485"/>
            </a:xfrm>
            <a:custGeom>
              <a:avLst/>
              <a:gdLst/>
              <a:ahLst/>
              <a:cxnLst/>
              <a:rect l="l" t="t" r="r" b="b"/>
              <a:pathLst>
                <a:path w="675004" h="324485">
                  <a:moveTo>
                    <a:pt x="562489" y="289578"/>
                  </a:moveTo>
                  <a:lnTo>
                    <a:pt x="546734" y="324294"/>
                  </a:lnTo>
                  <a:lnTo>
                    <a:pt x="674496" y="319417"/>
                  </a:lnTo>
                  <a:lnTo>
                    <a:pt x="656678" y="297459"/>
                  </a:lnTo>
                  <a:lnTo>
                    <a:pt x="579881" y="297459"/>
                  </a:lnTo>
                  <a:lnTo>
                    <a:pt x="562489" y="289578"/>
                  </a:lnTo>
                  <a:close/>
                </a:path>
                <a:path w="675004" h="324485">
                  <a:moveTo>
                    <a:pt x="578219" y="254917"/>
                  </a:moveTo>
                  <a:lnTo>
                    <a:pt x="562489" y="289578"/>
                  </a:lnTo>
                  <a:lnTo>
                    <a:pt x="579881" y="297459"/>
                  </a:lnTo>
                  <a:lnTo>
                    <a:pt x="595502" y="262750"/>
                  </a:lnTo>
                  <a:lnTo>
                    <a:pt x="578219" y="254917"/>
                  </a:lnTo>
                  <a:close/>
                </a:path>
                <a:path w="675004" h="324485">
                  <a:moveTo>
                    <a:pt x="593978" y="220192"/>
                  </a:moveTo>
                  <a:lnTo>
                    <a:pt x="578219" y="254917"/>
                  </a:lnTo>
                  <a:lnTo>
                    <a:pt x="595502" y="262750"/>
                  </a:lnTo>
                  <a:lnTo>
                    <a:pt x="579881" y="297459"/>
                  </a:lnTo>
                  <a:lnTo>
                    <a:pt x="656678" y="297459"/>
                  </a:lnTo>
                  <a:lnTo>
                    <a:pt x="593978" y="220192"/>
                  </a:lnTo>
                  <a:close/>
                </a:path>
                <a:path w="675004" h="324485">
                  <a:moveTo>
                    <a:pt x="15748" y="0"/>
                  </a:moveTo>
                  <a:lnTo>
                    <a:pt x="0" y="34696"/>
                  </a:lnTo>
                  <a:lnTo>
                    <a:pt x="562489" y="289578"/>
                  </a:lnTo>
                  <a:lnTo>
                    <a:pt x="578219" y="254917"/>
                  </a:lnTo>
                  <a:lnTo>
                    <a:pt x="1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3678682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75549" y="1595622"/>
            <a:ext cx="2738755" cy="741045"/>
            <a:chOff x="2575549" y="1595622"/>
            <a:chExt cx="2738755" cy="741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1595622"/>
              <a:ext cx="2703596" cy="73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3847" y="1647431"/>
              <a:ext cx="2720340" cy="688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2607563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607563" y="643127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0" y="643127"/>
                  </a:moveTo>
                  <a:lnTo>
                    <a:pt x="2607563" y="643127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16148" y="1735658"/>
            <a:ext cx="23761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50623" y="1889747"/>
            <a:ext cx="5442585" cy="844550"/>
            <a:chOff x="5850623" y="1889747"/>
            <a:chExt cx="5442585" cy="8445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623" y="1917186"/>
              <a:ext cx="5442229" cy="739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2511" y="1889747"/>
              <a:ext cx="4425695" cy="84430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97828" y="1975230"/>
            <a:ext cx="409638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probable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category/class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Look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cross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tab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29155" y="1799844"/>
            <a:ext cx="4434840" cy="2092960"/>
            <a:chOff x="1629155" y="1799844"/>
            <a:chExt cx="4434840" cy="209296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9155" y="1799844"/>
              <a:ext cx="1161300" cy="209245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57095" y="1968246"/>
              <a:ext cx="944244" cy="1874520"/>
            </a:xfrm>
            <a:custGeom>
              <a:avLst/>
              <a:gdLst/>
              <a:ahLst/>
              <a:cxnLst/>
              <a:rect l="l" t="t" r="r" b="b"/>
              <a:pathLst>
                <a:path w="944244" h="1874520">
                  <a:moveTo>
                    <a:pt x="875838" y="93876"/>
                  </a:moveTo>
                  <a:lnTo>
                    <a:pt x="0" y="1857628"/>
                  </a:lnTo>
                  <a:lnTo>
                    <a:pt x="34036" y="1874520"/>
                  </a:lnTo>
                  <a:lnTo>
                    <a:pt x="909975" y="110817"/>
                  </a:lnTo>
                  <a:lnTo>
                    <a:pt x="875838" y="93876"/>
                  </a:lnTo>
                  <a:close/>
                </a:path>
                <a:path w="944244" h="1874520">
                  <a:moveTo>
                    <a:pt x="943966" y="76834"/>
                  </a:moveTo>
                  <a:lnTo>
                    <a:pt x="884301" y="76834"/>
                  </a:lnTo>
                  <a:lnTo>
                    <a:pt x="918464" y="93725"/>
                  </a:lnTo>
                  <a:lnTo>
                    <a:pt x="909975" y="110817"/>
                  </a:lnTo>
                  <a:lnTo>
                    <a:pt x="944118" y="127762"/>
                  </a:lnTo>
                  <a:lnTo>
                    <a:pt x="944016" y="93725"/>
                  </a:lnTo>
                  <a:lnTo>
                    <a:pt x="943966" y="76834"/>
                  </a:lnTo>
                  <a:close/>
                </a:path>
                <a:path w="944244" h="1874520">
                  <a:moveTo>
                    <a:pt x="884301" y="76834"/>
                  </a:moveTo>
                  <a:lnTo>
                    <a:pt x="875913" y="93725"/>
                  </a:lnTo>
                  <a:lnTo>
                    <a:pt x="875838" y="93876"/>
                  </a:lnTo>
                  <a:lnTo>
                    <a:pt x="909975" y="110817"/>
                  </a:lnTo>
                  <a:lnTo>
                    <a:pt x="918389" y="93876"/>
                  </a:lnTo>
                  <a:lnTo>
                    <a:pt x="918464" y="93725"/>
                  </a:lnTo>
                  <a:lnTo>
                    <a:pt x="884301" y="76834"/>
                  </a:lnTo>
                  <a:close/>
                </a:path>
                <a:path w="944244" h="1874520">
                  <a:moveTo>
                    <a:pt x="943737" y="0"/>
                  </a:moveTo>
                  <a:lnTo>
                    <a:pt x="841756" y="76962"/>
                  </a:lnTo>
                  <a:lnTo>
                    <a:pt x="875838" y="93876"/>
                  </a:lnTo>
                  <a:lnTo>
                    <a:pt x="884237" y="76962"/>
                  </a:lnTo>
                  <a:lnTo>
                    <a:pt x="884301" y="76834"/>
                  </a:lnTo>
                  <a:lnTo>
                    <a:pt x="943966" y="76834"/>
                  </a:lnTo>
                  <a:lnTo>
                    <a:pt x="943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2455" y="1897405"/>
              <a:ext cx="891539" cy="55623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00015" y="1951101"/>
              <a:ext cx="675005" cy="340360"/>
            </a:xfrm>
            <a:custGeom>
              <a:avLst/>
              <a:gdLst/>
              <a:ahLst/>
              <a:cxnLst/>
              <a:rect l="l" t="t" r="r" b="b"/>
              <a:pathLst>
                <a:path w="675004" h="340360">
                  <a:moveTo>
                    <a:pt x="563629" y="305936"/>
                  </a:moveTo>
                  <a:lnTo>
                    <a:pt x="547115" y="340233"/>
                  </a:lnTo>
                  <a:lnTo>
                    <a:pt x="674877" y="338454"/>
                  </a:lnTo>
                  <a:lnTo>
                    <a:pt x="656106" y="314198"/>
                  </a:lnTo>
                  <a:lnTo>
                    <a:pt x="580771" y="314198"/>
                  </a:lnTo>
                  <a:lnTo>
                    <a:pt x="563629" y="305936"/>
                  </a:lnTo>
                  <a:close/>
                </a:path>
                <a:path w="675004" h="340360">
                  <a:moveTo>
                    <a:pt x="580139" y="271646"/>
                  </a:moveTo>
                  <a:lnTo>
                    <a:pt x="563629" y="305936"/>
                  </a:lnTo>
                  <a:lnTo>
                    <a:pt x="580771" y="314198"/>
                  </a:lnTo>
                  <a:lnTo>
                    <a:pt x="597281" y="279908"/>
                  </a:lnTo>
                  <a:lnTo>
                    <a:pt x="580139" y="271646"/>
                  </a:lnTo>
                  <a:close/>
                </a:path>
                <a:path w="675004" h="340360">
                  <a:moveTo>
                    <a:pt x="596646" y="237362"/>
                  </a:moveTo>
                  <a:lnTo>
                    <a:pt x="580139" y="271646"/>
                  </a:lnTo>
                  <a:lnTo>
                    <a:pt x="597281" y="279908"/>
                  </a:lnTo>
                  <a:lnTo>
                    <a:pt x="580771" y="314198"/>
                  </a:lnTo>
                  <a:lnTo>
                    <a:pt x="656106" y="314198"/>
                  </a:lnTo>
                  <a:lnTo>
                    <a:pt x="596646" y="237362"/>
                  </a:lnTo>
                  <a:close/>
                </a:path>
                <a:path w="675004" h="340360">
                  <a:moveTo>
                    <a:pt x="16510" y="0"/>
                  </a:moveTo>
                  <a:lnTo>
                    <a:pt x="0" y="34289"/>
                  </a:lnTo>
                  <a:lnTo>
                    <a:pt x="563629" y="305936"/>
                  </a:lnTo>
                  <a:lnTo>
                    <a:pt x="580139" y="271646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LAB</a:t>
            </a:r>
            <a:r>
              <a:rPr spc="-20" dirty="0"/>
              <a:t>:</a:t>
            </a:r>
            <a:r>
              <a:rPr spc="-185" dirty="0"/>
              <a:t> </a:t>
            </a:r>
            <a:r>
              <a:rPr spc="-20" dirty="0"/>
              <a:t>Data</a:t>
            </a:r>
            <a:r>
              <a:rPr spc="-195" dirty="0"/>
              <a:t> </a:t>
            </a:r>
            <a:r>
              <a:rPr spc="-55" dirty="0"/>
              <a:t>Cleaning</a:t>
            </a:r>
            <a:r>
              <a:rPr spc="-170" dirty="0"/>
              <a:t> </a:t>
            </a:r>
            <a:r>
              <a:rPr spc="-80" dirty="0"/>
              <a:t>Scenario-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762490" cy="2586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issue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NumberOfTime30_59DaysPastDueNotW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Draw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frequency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table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What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erroneous?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Clean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variable-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Look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cross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tab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target.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Impute </a:t>
            </a:r>
            <a:r>
              <a:rPr sz="2400" dirty="0">
                <a:latin typeface="Trebuchet MS"/>
                <a:cs typeface="Trebuchet MS"/>
              </a:rPr>
              <a:t>based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target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Create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frequency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table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cleaned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</a:t>
            </a:r>
            <a:r>
              <a:rPr spc="-35" dirty="0"/>
              <a:t>:</a:t>
            </a:r>
            <a:r>
              <a:rPr spc="-190" dirty="0"/>
              <a:t> </a:t>
            </a:r>
            <a:r>
              <a:rPr spc="-20" dirty="0"/>
              <a:t>Data</a:t>
            </a:r>
            <a:r>
              <a:rPr spc="-200" dirty="0"/>
              <a:t> </a:t>
            </a:r>
            <a:r>
              <a:rPr spc="-50" dirty="0"/>
              <a:t>Cleaning</a:t>
            </a:r>
            <a:r>
              <a:rPr spc="-200" dirty="0"/>
              <a:t> </a:t>
            </a:r>
            <a:r>
              <a:rPr spc="-80" dirty="0"/>
              <a:t>Scenario-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359" y="1565271"/>
            <a:ext cx="11056620" cy="35921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10" dirty="0">
                <a:latin typeface="Consolas"/>
                <a:cs typeface="Consolas"/>
              </a:rPr>
              <a:t>freq_table_30dpd=loans[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'NumberOfTime30-59DaysPastDueNotWorse'</a:t>
            </a:r>
            <a:r>
              <a:rPr sz="1800" spc="-10" dirty="0">
                <a:latin typeface="Consolas"/>
                <a:cs typeface="Consolas"/>
              </a:rPr>
              <a:t>].value_counts()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onsolas"/>
                <a:cs typeface="Consolas"/>
              </a:rPr>
              <a:t>freq_table_30dpd</a:t>
            </a:r>
            <a:endParaRPr sz="1800">
              <a:latin typeface="Consolas"/>
              <a:cs typeface="Consolas"/>
            </a:endParaRPr>
          </a:p>
          <a:p>
            <a:pPr marL="12700" marR="8278495">
              <a:lnSpc>
                <a:spcPct val="120000"/>
              </a:lnSpc>
              <a:spcBef>
                <a:spcPts val="5"/>
              </a:spcBef>
            </a:pP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#Cross</a:t>
            </a:r>
            <a:r>
              <a:rPr sz="18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tab</a:t>
            </a:r>
            <a:r>
              <a:rPr sz="18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sz="18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target </a:t>
            </a:r>
            <a:r>
              <a:rPr sz="1800" dirty="0">
                <a:solidFill>
                  <a:srgbClr val="AE00DB"/>
                </a:solidFill>
                <a:latin typeface="Consolas"/>
                <a:cs typeface="Consolas"/>
              </a:rPr>
              <a:t>import</a:t>
            </a:r>
            <a:r>
              <a:rPr sz="1800" spc="-40" dirty="0">
                <a:solidFill>
                  <a:srgbClr val="AE00DB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pandas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AE00DB"/>
                </a:solidFill>
                <a:latin typeface="Consolas"/>
                <a:cs typeface="Consolas"/>
              </a:rPr>
              <a:t>as</a:t>
            </a:r>
            <a:r>
              <a:rPr sz="1800" spc="-10" dirty="0">
                <a:solidFill>
                  <a:srgbClr val="AE00DB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latin typeface="Consolas"/>
                <a:cs typeface="Consolas"/>
              </a:rPr>
              <a:t>pd</a:t>
            </a:r>
            <a:endParaRPr sz="1800">
              <a:latin typeface="Consolas"/>
              <a:cs typeface="Consolas"/>
            </a:endParaRPr>
          </a:p>
          <a:p>
            <a:pPr marL="12700" marR="3890010">
              <a:lnSpc>
                <a:spcPct val="110000"/>
              </a:lnSpc>
              <a:spcBef>
                <a:spcPts val="215"/>
              </a:spcBef>
            </a:pPr>
            <a:r>
              <a:rPr sz="1800" spc="-10" dirty="0">
                <a:latin typeface="Consolas"/>
                <a:cs typeface="Consolas"/>
              </a:rPr>
              <a:t>cross_tab_30dpd_target=pd.crosstab(loans[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'NumberOfTime30- 59DaysPastDueNotWorse'</a:t>
            </a:r>
            <a:r>
              <a:rPr sz="1800" spc="-10" dirty="0">
                <a:latin typeface="Consolas"/>
                <a:cs typeface="Consolas"/>
              </a:rPr>
              <a:t>],loans[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'SeriousDlqin2yrs'</a:t>
            </a:r>
            <a:r>
              <a:rPr sz="1800" spc="-10" dirty="0">
                <a:latin typeface="Consolas"/>
                <a:cs typeface="Consolas"/>
              </a:rPr>
              <a:t>]) cross_tab_30dpd_target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20000"/>
              </a:lnSpc>
            </a:pP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#Cross</a:t>
            </a:r>
            <a:r>
              <a:rPr sz="18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tab</a:t>
            </a:r>
            <a:r>
              <a:rPr sz="18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row</a:t>
            </a:r>
            <a:r>
              <a:rPr sz="18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8000"/>
                </a:solidFill>
                <a:latin typeface="Consolas"/>
                <a:cs typeface="Consolas"/>
              </a:rPr>
              <a:t>Percentages </a:t>
            </a:r>
            <a:r>
              <a:rPr sz="1800" dirty="0">
                <a:latin typeface="Consolas"/>
                <a:cs typeface="Consolas"/>
              </a:rPr>
              <a:t>cross_tab_30dpd_target_percent=cross_tab_30dpd_target.apply(</a:t>
            </a:r>
            <a:r>
              <a:rPr sz="1800" dirty="0">
                <a:solidFill>
                  <a:srgbClr val="0000FF"/>
                </a:solidFill>
                <a:latin typeface="Consolas"/>
                <a:cs typeface="Consolas"/>
              </a:rPr>
              <a:t>lambda</a:t>
            </a:r>
            <a:r>
              <a:rPr sz="1800" spc="-1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x:</a:t>
            </a:r>
            <a:r>
              <a:rPr sz="1800" spc="-1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x/x.</a:t>
            </a:r>
            <a:r>
              <a:rPr sz="1800" dirty="0">
                <a:solidFill>
                  <a:srgbClr val="795E25"/>
                </a:solidFill>
                <a:latin typeface="Consolas"/>
                <a:cs typeface="Consolas"/>
              </a:rPr>
              <a:t>sum</a:t>
            </a:r>
            <a:r>
              <a:rPr sz="1800" dirty="0">
                <a:latin typeface="Consolas"/>
                <a:cs typeface="Consolas"/>
              </a:rPr>
              <a:t>(),</a:t>
            </a:r>
            <a:r>
              <a:rPr sz="1800" spc="-9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axis=</a:t>
            </a:r>
            <a:r>
              <a:rPr sz="1800" spc="-10" dirty="0">
                <a:solidFill>
                  <a:srgbClr val="09875A"/>
                </a:solidFill>
                <a:latin typeface="Consolas"/>
                <a:cs typeface="Consolas"/>
              </a:rPr>
              <a:t>1</a:t>
            </a:r>
            <a:r>
              <a:rPr sz="1800" spc="-10" dirty="0">
                <a:latin typeface="Consolas"/>
                <a:cs typeface="Consolas"/>
              </a:rPr>
              <a:t>) </a:t>
            </a:r>
            <a:r>
              <a:rPr sz="1800" spc="-10" dirty="0">
                <a:solidFill>
                  <a:srgbClr val="795E25"/>
                </a:solidFill>
                <a:latin typeface="Consolas"/>
                <a:cs typeface="Consolas"/>
              </a:rPr>
              <a:t>round</a:t>
            </a:r>
            <a:r>
              <a:rPr sz="1800" spc="-10" dirty="0">
                <a:latin typeface="Consolas"/>
                <a:cs typeface="Consolas"/>
              </a:rPr>
              <a:t>(cross_tab_30dpd_target_percent,</a:t>
            </a:r>
            <a:r>
              <a:rPr sz="1800" spc="-10" dirty="0">
                <a:solidFill>
                  <a:srgbClr val="09875A"/>
                </a:solidFill>
                <a:latin typeface="Consolas"/>
                <a:cs typeface="Consolas"/>
              </a:rPr>
              <a:t>2</a:t>
            </a:r>
            <a:r>
              <a:rPr sz="1800" spc="-10" dirty="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FF0000"/>
                </a:solidFill>
              </a:rPr>
              <a:t>Code</a:t>
            </a:r>
            <a:r>
              <a:rPr spc="-35" dirty="0"/>
              <a:t>:</a:t>
            </a:r>
            <a:r>
              <a:rPr spc="-190" dirty="0"/>
              <a:t> </a:t>
            </a:r>
            <a:r>
              <a:rPr spc="-20" dirty="0"/>
              <a:t>Data</a:t>
            </a:r>
            <a:r>
              <a:rPr spc="-200" dirty="0"/>
              <a:t> </a:t>
            </a:r>
            <a:r>
              <a:rPr spc="-50" dirty="0"/>
              <a:t>Cleaning</a:t>
            </a:r>
            <a:r>
              <a:rPr spc="-200" dirty="0"/>
              <a:t> </a:t>
            </a:r>
            <a:r>
              <a:rPr spc="-80" dirty="0"/>
              <a:t>Scenario-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65271"/>
            <a:ext cx="9051290" cy="25495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#Percentage</a:t>
            </a:r>
            <a:r>
              <a:rPr sz="18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sz="18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0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1</a:t>
            </a:r>
            <a:r>
              <a:rPr sz="18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are</a:t>
            </a:r>
            <a:r>
              <a:rPr sz="18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98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near</a:t>
            </a:r>
            <a:r>
              <a:rPr sz="18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percentages</a:t>
            </a:r>
            <a:r>
              <a:rPr sz="18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sz="1800" spc="-25" dirty="0">
                <a:solidFill>
                  <a:srgbClr val="008000"/>
                </a:solidFill>
                <a:latin typeface="Consolas"/>
                <a:cs typeface="Consolas"/>
              </a:rPr>
              <a:t> 6.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#Replacing</a:t>
            </a:r>
            <a:r>
              <a:rPr sz="18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r>
              <a:rPr sz="180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values</a:t>
            </a:r>
            <a:r>
              <a:rPr sz="180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sz="1800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008000"/>
                </a:solidFill>
                <a:latin typeface="Consolas"/>
                <a:cs typeface="Consolas"/>
              </a:rPr>
              <a:t>6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20000"/>
              </a:lnSpc>
            </a:pPr>
            <a:r>
              <a:rPr sz="1800" spc="-10" dirty="0">
                <a:latin typeface="Consolas"/>
                <a:cs typeface="Consolas"/>
              </a:rPr>
              <a:t>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'num_30_59_dpd_new'</a:t>
            </a:r>
            <a:r>
              <a:rPr sz="1800" spc="-10" dirty="0">
                <a:latin typeface="Consolas"/>
                <a:cs typeface="Consolas"/>
              </a:rPr>
              <a:t>]=loans[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'NumberOfTime30-59DaysPastDueNotWorse'</a:t>
            </a:r>
            <a:r>
              <a:rPr sz="1800" spc="-10" dirty="0">
                <a:latin typeface="Consolas"/>
                <a:cs typeface="Consolas"/>
              </a:rPr>
              <a:t>] 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'num_30_59_dpd_new'</a:t>
            </a:r>
            <a:r>
              <a:rPr sz="1800" spc="-10" dirty="0">
                <a:latin typeface="Consolas"/>
                <a:cs typeface="Consolas"/>
              </a:rPr>
              <a:t>][loans[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'num_30_59_dpd_new'</a:t>
            </a:r>
            <a:r>
              <a:rPr sz="1800" spc="-10" dirty="0">
                <a:latin typeface="Consolas"/>
                <a:cs typeface="Consolas"/>
              </a:rPr>
              <a:t>]&gt;</a:t>
            </a:r>
            <a:r>
              <a:rPr sz="1800" spc="-10" dirty="0">
                <a:solidFill>
                  <a:srgbClr val="09875A"/>
                </a:solidFill>
                <a:latin typeface="Consolas"/>
                <a:cs typeface="Consolas"/>
              </a:rPr>
              <a:t>13</a:t>
            </a:r>
            <a:r>
              <a:rPr sz="1800" spc="-10" dirty="0">
                <a:latin typeface="Consolas"/>
                <a:cs typeface="Consolas"/>
              </a:rPr>
              <a:t>]=</a:t>
            </a:r>
            <a:r>
              <a:rPr sz="1800" spc="-10" dirty="0">
                <a:solidFill>
                  <a:srgbClr val="09875A"/>
                </a:solidFill>
                <a:latin typeface="Consolas"/>
                <a:cs typeface="Consolas"/>
              </a:rPr>
              <a:t>6 </a:t>
            </a:r>
            <a:r>
              <a:rPr sz="1800" spc="-10" dirty="0">
                <a:latin typeface="Consolas"/>
                <a:cs typeface="Consolas"/>
              </a:rPr>
              <a:t>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'num_30_59_dpd_new'</a:t>
            </a:r>
            <a:r>
              <a:rPr sz="1800" spc="-10" dirty="0">
                <a:latin typeface="Consolas"/>
                <a:cs typeface="Consolas"/>
              </a:rPr>
              <a:t>]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nsolas"/>
                <a:cs typeface="Consolas"/>
              </a:rPr>
              <a:t>loans[</a:t>
            </a:r>
            <a:r>
              <a:rPr sz="1800" spc="-10" dirty="0">
                <a:solidFill>
                  <a:srgbClr val="A21515"/>
                </a:solidFill>
                <a:latin typeface="Consolas"/>
                <a:cs typeface="Consolas"/>
              </a:rPr>
              <a:t>'num_30_59_dpd_new'</a:t>
            </a:r>
            <a:r>
              <a:rPr sz="1800" spc="-10" dirty="0">
                <a:latin typeface="Consolas"/>
                <a:cs typeface="Consolas"/>
              </a:rPr>
              <a:t>].value_counts()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81368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Data</a:t>
            </a:r>
            <a:r>
              <a:rPr sz="6000" spc="-280" dirty="0"/>
              <a:t> </a:t>
            </a:r>
            <a:r>
              <a:rPr sz="6000" spc="-35" dirty="0"/>
              <a:t>Cleaning</a:t>
            </a:r>
            <a:r>
              <a:rPr sz="6000" spc="-275" dirty="0"/>
              <a:t> </a:t>
            </a:r>
            <a:r>
              <a:rPr sz="6000" spc="-85" dirty="0"/>
              <a:t>Scenario-</a:t>
            </a:r>
            <a:r>
              <a:rPr sz="6000" spc="-50" dirty="0"/>
              <a:t>3</a:t>
            </a:r>
            <a:endParaRPr sz="6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37738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Monthly</a:t>
            </a:r>
            <a:r>
              <a:rPr spc="-220" dirty="0"/>
              <a:t> </a:t>
            </a:r>
            <a:r>
              <a:rPr spc="-30" dirty="0"/>
              <a:t>Income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712960" cy="21482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Monthly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Income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nearly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20%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percentage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significant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Simply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replacing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mean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median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sufficient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create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indicator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keep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track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non-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Issues</a:t>
            </a:r>
            <a:r>
              <a:rPr spc="-204" dirty="0"/>
              <a:t> </a:t>
            </a:r>
            <a:r>
              <a:rPr dirty="0"/>
              <a:t>are</a:t>
            </a:r>
            <a:r>
              <a:rPr spc="-204" dirty="0"/>
              <a:t> </a:t>
            </a:r>
            <a:r>
              <a:rPr spc="-65" dirty="0"/>
              <a:t>between</a:t>
            </a:r>
            <a:r>
              <a:rPr spc="-180" dirty="0"/>
              <a:t> </a:t>
            </a:r>
            <a:r>
              <a:rPr spc="-95" dirty="0"/>
              <a:t>10%-</a:t>
            </a:r>
            <a:r>
              <a:rPr spc="-25" dirty="0"/>
              <a:t>50%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5255" y="3413735"/>
            <a:ext cx="1716405" cy="737870"/>
            <a:chOff x="1795255" y="3413735"/>
            <a:chExt cx="1716405" cy="737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5255" y="3413735"/>
              <a:ext cx="1716056" cy="7376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1620012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1620012" y="641604"/>
                  </a:lnTo>
                  <a:lnTo>
                    <a:pt x="1620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9655" y="3464051"/>
              <a:ext cx="1620520" cy="641985"/>
            </a:xfrm>
            <a:custGeom>
              <a:avLst/>
              <a:gdLst/>
              <a:ahLst/>
              <a:cxnLst/>
              <a:rect l="l" t="t" r="r" b="b"/>
              <a:pathLst>
                <a:path w="1620520" h="641985">
                  <a:moveTo>
                    <a:pt x="0" y="641604"/>
                  </a:moveTo>
                  <a:lnTo>
                    <a:pt x="1620012" y="641604"/>
                  </a:lnTo>
                  <a:lnTo>
                    <a:pt x="1620012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47645" y="3644900"/>
            <a:ext cx="763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5860" y="1546854"/>
            <a:ext cx="2924810" cy="786765"/>
            <a:chOff x="4405860" y="1546854"/>
            <a:chExt cx="2924810" cy="7867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1546854"/>
              <a:ext cx="2881931" cy="7391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7220" y="1560576"/>
              <a:ext cx="2903220" cy="7726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0268" y="1597152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5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30268" y="1597152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5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4507" y="1656333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05860" y="3409182"/>
            <a:ext cx="2924810" cy="786765"/>
            <a:chOff x="4405860" y="3409182"/>
            <a:chExt cx="2924810" cy="78676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3409182"/>
              <a:ext cx="2881931" cy="7391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7220" y="3422904"/>
              <a:ext cx="2903220" cy="7726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30268" y="3459480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2785872" y="0"/>
                  </a:moveTo>
                  <a:lnTo>
                    <a:pt x="0" y="0"/>
                  </a:lnTo>
                  <a:lnTo>
                    <a:pt x="0" y="643128"/>
                  </a:lnTo>
                  <a:lnTo>
                    <a:pt x="2785872" y="643128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30268" y="3459480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0" y="643128"/>
                  </a:moveTo>
                  <a:lnTo>
                    <a:pt x="2785872" y="643128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8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64507" y="3519297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Medium(10%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50%)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05860" y="5483320"/>
            <a:ext cx="2924810" cy="786765"/>
            <a:chOff x="4405860" y="5483320"/>
            <a:chExt cx="2924810" cy="78676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60" y="5483320"/>
              <a:ext cx="2881931" cy="7391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7220" y="5497067"/>
              <a:ext cx="2903220" cy="77266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2785872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785872" y="643127"/>
                  </a:lnTo>
                  <a:lnTo>
                    <a:pt x="2785872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0268" y="5533643"/>
              <a:ext cx="2786380" cy="643255"/>
            </a:xfrm>
            <a:custGeom>
              <a:avLst/>
              <a:gdLst/>
              <a:ahLst/>
              <a:cxnLst/>
              <a:rect l="l" t="t" r="r" b="b"/>
              <a:pathLst>
                <a:path w="2786379" h="643254">
                  <a:moveTo>
                    <a:pt x="0" y="643127"/>
                  </a:moveTo>
                  <a:lnTo>
                    <a:pt x="2785872" y="643127"/>
                  </a:lnTo>
                  <a:lnTo>
                    <a:pt x="278587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64507" y="5593791"/>
            <a:ext cx="2513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0400" marR="5080" indent="-647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95471" y="1531614"/>
            <a:ext cx="7277734" cy="4486910"/>
            <a:chOff x="3395471" y="1531614"/>
            <a:chExt cx="7277734" cy="4486910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5471" y="1751075"/>
              <a:ext cx="1225308" cy="209245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423665" y="1919477"/>
              <a:ext cx="1007744" cy="1875155"/>
            </a:xfrm>
            <a:custGeom>
              <a:avLst/>
              <a:gdLst/>
              <a:ahLst/>
              <a:cxnLst/>
              <a:rect l="l" t="t" r="r" b="b"/>
              <a:pathLst>
                <a:path w="1007745" h="1875154">
                  <a:moveTo>
                    <a:pt x="936838" y="92010"/>
                  </a:moveTo>
                  <a:lnTo>
                    <a:pt x="0" y="1857121"/>
                  </a:lnTo>
                  <a:lnTo>
                    <a:pt x="33528" y="1875028"/>
                  </a:lnTo>
                  <a:lnTo>
                    <a:pt x="970509" y="109884"/>
                  </a:lnTo>
                  <a:lnTo>
                    <a:pt x="936838" y="92010"/>
                  </a:lnTo>
                  <a:close/>
                </a:path>
                <a:path w="1007745" h="1875154">
                  <a:moveTo>
                    <a:pt x="1005443" y="75184"/>
                  </a:moveTo>
                  <a:lnTo>
                    <a:pt x="945769" y="75184"/>
                  </a:lnTo>
                  <a:lnTo>
                    <a:pt x="979424" y="93091"/>
                  </a:lnTo>
                  <a:lnTo>
                    <a:pt x="970509" y="109884"/>
                  </a:lnTo>
                  <a:lnTo>
                    <a:pt x="1004188" y="127762"/>
                  </a:lnTo>
                  <a:lnTo>
                    <a:pt x="1005443" y="75184"/>
                  </a:lnTo>
                  <a:close/>
                </a:path>
                <a:path w="1007745" h="1875154">
                  <a:moveTo>
                    <a:pt x="945769" y="75184"/>
                  </a:moveTo>
                  <a:lnTo>
                    <a:pt x="936838" y="92010"/>
                  </a:lnTo>
                  <a:lnTo>
                    <a:pt x="970509" y="109884"/>
                  </a:lnTo>
                  <a:lnTo>
                    <a:pt x="979424" y="93091"/>
                  </a:lnTo>
                  <a:lnTo>
                    <a:pt x="945769" y="75184"/>
                  </a:lnTo>
                  <a:close/>
                </a:path>
                <a:path w="1007745" h="1875154">
                  <a:moveTo>
                    <a:pt x="1007237" y="0"/>
                  </a:moveTo>
                  <a:lnTo>
                    <a:pt x="903224" y="74168"/>
                  </a:lnTo>
                  <a:lnTo>
                    <a:pt x="936838" y="92010"/>
                  </a:lnTo>
                  <a:lnTo>
                    <a:pt x="945769" y="75184"/>
                  </a:lnTo>
                  <a:lnTo>
                    <a:pt x="1005443" y="75184"/>
                  </a:lnTo>
                  <a:lnTo>
                    <a:pt x="1007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12235" y="3613378"/>
              <a:ext cx="1208544" cy="33225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440302" y="3725037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173" y="0"/>
                  </a:moveTo>
                  <a:lnTo>
                    <a:pt x="876300" y="38167"/>
                  </a:lnTo>
                  <a:lnTo>
                    <a:pt x="876310" y="41275"/>
                  </a:lnTo>
                  <a:lnTo>
                    <a:pt x="876427" y="76267"/>
                  </a:lnTo>
                  <a:lnTo>
                    <a:pt x="876554" y="114300"/>
                  </a:lnTo>
                  <a:lnTo>
                    <a:pt x="951947" y="76267"/>
                  </a:lnTo>
                  <a:lnTo>
                    <a:pt x="895477" y="76267"/>
                  </a:lnTo>
                  <a:lnTo>
                    <a:pt x="895360" y="41275"/>
                  </a:lnTo>
                  <a:lnTo>
                    <a:pt x="895350" y="38167"/>
                  </a:lnTo>
                  <a:lnTo>
                    <a:pt x="953105" y="38167"/>
                  </a:lnTo>
                  <a:lnTo>
                    <a:pt x="876173" y="0"/>
                  </a:lnTo>
                  <a:close/>
                </a:path>
                <a:path w="990600" h="114300">
                  <a:moveTo>
                    <a:pt x="876300" y="38167"/>
                  </a:moveTo>
                  <a:lnTo>
                    <a:pt x="0" y="41275"/>
                  </a:lnTo>
                  <a:lnTo>
                    <a:pt x="233" y="76267"/>
                  </a:lnTo>
                  <a:lnTo>
                    <a:pt x="254" y="79375"/>
                  </a:lnTo>
                  <a:lnTo>
                    <a:pt x="876427" y="76267"/>
                  </a:lnTo>
                  <a:lnTo>
                    <a:pt x="876310" y="41275"/>
                  </a:lnTo>
                  <a:lnTo>
                    <a:pt x="876300" y="38167"/>
                  </a:lnTo>
                  <a:close/>
                </a:path>
                <a:path w="990600" h="114300">
                  <a:moveTo>
                    <a:pt x="953105" y="38167"/>
                  </a:moveTo>
                  <a:lnTo>
                    <a:pt x="895350" y="38167"/>
                  </a:lnTo>
                  <a:lnTo>
                    <a:pt x="895360" y="41275"/>
                  </a:lnTo>
                  <a:lnTo>
                    <a:pt x="895477" y="76267"/>
                  </a:lnTo>
                  <a:lnTo>
                    <a:pt x="951947" y="76267"/>
                  </a:lnTo>
                  <a:lnTo>
                    <a:pt x="990600" y="56768"/>
                  </a:lnTo>
                  <a:lnTo>
                    <a:pt x="953105" y="38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5471" y="3723144"/>
              <a:ext cx="1225308" cy="22951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423284" y="3776599"/>
              <a:ext cx="1010285" cy="2078989"/>
            </a:xfrm>
            <a:custGeom>
              <a:avLst/>
              <a:gdLst/>
              <a:ahLst/>
              <a:cxnLst/>
              <a:rect l="l" t="t" r="r" b="b"/>
              <a:pathLst>
                <a:path w="1010285" h="2078989">
                  <a:moveTo>
                    <a:pt x="941110" y="1983765"/>
                  </a:moveTo>
                  <a:lnTo>
                    <a:pt x="906779" y="2000186"/>
                  </a:lnTo>
                  <a:lnTo>
                    <a:pt x="1007617" y="2078634"/>
                  </a:lnTo>
                  <a:lnTo>
                    <a:pt x="1009008" y="2000935"/>
                  </a:lnTo>
                  <a:lnTo>
                    <a:pt x="949325" y="2000935"/>
                  </a:lnTo>
                  <a:lnTo>
                    <a:pt x="941110" y="1983765"/>
                  </a:lnTo>
                  <a:close/>
                </a:path>
                <a:path w="1010285" h="2078989">
                  <a:moveTo>
                    <a:pt x="975520" y="1967306"/>
                  </a:moveTo>
                  <a:lnTo>
                    <a:pt x="941110" y="1983765"/>
                  </a:lnTo>
                  <a:lnTo>
                    <a:pt x="949325" y="2000935"/>
                  </a:lnTo>
                  <a:lnTo>
                    <a:pt x="983741" y="1984489"/>
                  </a:lnTo>
                  <a:lnTo>
                    <a:pt x="975520" y="1967306"/>
                  </a:lnTo>
                  <a:close/>
                </a:path>
                <a:path w="1010285" h="2078989">
                  <a:moveTo>
                    <a:pt x="1009903" y="1950859"/>
                  </a:moveTo>
                  <a:lnTo>
                    <a:pt x="975520" y="1967306"/>
                  </a:lnTo>
                  <a:lnTo>
                    <a:pt x="983741" y="1984489"/>
                  </a:lnTo>
                  <a:lnTo>
                    <a:pt x="949325" y="2000935"/>
                  </a:lnTo>
                  <a:lnTo>
                    <a:pt x="1009008" y="2000935"/>
                  </a:lnTo>
                  <a:lnTo>
                    <a:pt x="1009903" y="1950859"/>
                  </a:lnTo>
                  <a:close/>
                </a:path>
                <a:path w="1010285" h="2078989">
                  <a:moveTo>
                    <a:pt x="34289" y="0"/>
                  </a:moveTo>
                  <a:lnTo>
                    <a:pt x="0" y="16510"/>
                  </a:lnTo>
                  <a:lnTo>
                    <a:pt x="941110" y="1983765"/>
                  </a:lnTo>
                  <a:lnTo>
                    <a:pt x="975520" y="1967306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68985" y="1531614"/>
              <a:ext cx="2703596" cy="7391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72500" y="1644408"/>
              <a:ext cx="1496568" cy="58215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993379" y="15819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2607564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607564" y="643127"/>
                  </a:lnTo>
                  <a:lnTo>
                    <a:pt x="2607564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987030" y="1575561"/>
            <a:ext cx="2620645" cy="655955"/>
          </a:xfrm>
          <a:prstGeom prst="rect">
            <a:avLst/>
          </a:prstGeom>
          <a:ln w="3175">
            <a:solidFill>
              <a:srgbClr val="57CCAC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751205">
              <a:lnSpc>
                <a:spcPct val="100000"/>
              </a:lnSpc>
              <a:spcBef>
                <a:spcPts val="146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Imputation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052806" y="5480267"/>
            <a:ext cx="2703830" cy="737870"/>
            <a:chOff x="8052806" y="5480267"/>
            <a:chExt cx="2703830" cy="737870"/>
          </a:xfrm>
        </p:grpSpPr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52806" y="5480267"/>
              <a:ext cx="2703596" cy="73767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55736" y="5593079"/>
              <a:ext cx="1697735" cy="58215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077200" y="5530595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2607563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2607563" y="641603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070850" y="5524246"/>
            <a:ext cx="2620645" cy="654685"/>
          </a:xfrm>
          <a:prstGeom prst="rect">
            <a:avLst/>
          </a:prstGeom>
          <a:ln w="3175">
            <a:solidFill>
              <a:srgbClr val="F03B1E"/>
            </a:solidFill>
          </a:ln>
        </p:spPr>
        <p:txBody>
          <a:bodyPr vert="horz" wrap="square" lIns="0" tIns="184785" rIns="0" bIns="0" rtlCol="0">
            <a:spAutoFit/>
          </a:bodyPr>
          <a:lstStyle/>
          <a:p>
            <a:pPr marL="650240">
              <a:lnSpc>
                <a:spcPct val="100000"/>
              </a:lnSpc>
              <a:spcBef>
                <a:spcPts val="1455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Flag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216013" y="1866773"/>
            <a:ext cx="3505835" cy="4023995"/>
            <a:chOff x="7216013" y="1866773"/>
            <a:chExt cx="3505835" cy="4023995"/>
          </a:xfrm>
        </p:grpSpPr>
        <p:sp>
          <p:nvSpPr>
            <p:cNvPr id="43" name="object 43"/>
            <p:cNvSpPr/>
            <p:nvPr/>
          </p:nvSpPr>
          <p:spPr>
            <a:xfrm>
              <a:off x="7216013" y="1866772"/>
              <a:ext cx="860425" cy="4023995"/>
            </a:xfrm>
            <a:custGeom>
              <a:avLst/>
              <a:gdLst/>
              <a:ahLst/>
              <a:cxnLst/>
              <a:rect l="l" t="t" r="r" b="b"/>
              <a:pathLst>
                <a:path w="860425" h="4023995">
                  <a:moveTo>
                    <a:pt x="776605" y="36703"/>
                  </a:moveTo>
                  <a:lnTo>
                    <a:pt x="765962" y="31623"/>
                  </a:lnTo>
                  <a:lnTo>
                    <a:pt x="699770" y="0"/>
                  </a:lnTo>
                  <a:lnTo>
                    <a:pt x="700341" y="31623"/>
                  </a:lnTo>
                  <a:lnTo>
                    <a:pt x="700341" y="31864"/>
                  </a:lnTo>
                  <a:lnTo>
                    <a:pt x="0" y="45085"/>
                  </a:lnTo>
                  <a:lnTo>
                    <a:pt x="254" y="57785"/>
                  </a:lnTo>
                  <a:lnTo>
                    <a:pt x="700582" y="44437"/>
                  </a:lnTo>
                  <a:lnTo>
                    <a:pt x="701167" y="76200"/>
                  </a:lnTo>
                  <a:lnTo>
                    <a:pt x="776605" y="36703"/>
                  </a:lnTo>
                  <a:close/>
                </a:path>
                <a:path w="860425" h="4023995">
                  <a:moveTo>
                    <a:pt x="860171" y="3985387"/>
                  </a:moveTo>
                  <a:lnTo>
                    <a:pt x="847979" y="3979367"/>
                  </a:lnTo>
                  <a:lnTo>
                    <a:pt x="783844" y="3947604"/>
                  </a:lnTo>
                  <a:lnTo>
                    <a:pt x="783996" y="3979367"/>
                  </a:lnTo>
                  <a:lnTo>
                    <a:pt x="127" y="3982580"/>
                  </a:lnTo>
                  <a:lnTo>
                    <a:pt x="127" y="3995280"/>
                  </a:lnTo>
                  <a:lnTo>
                    <a:pt x="784059" y="3992067"/>
                  </a:lnTo>
                  <a:lnTo>
                    <a:pt x="784225" y="4023804"/>
                  </a:lnTo>
                  <a:lnTo>
                    <a:pt x="846975" y="3992067"/>
                  </a:lnTo>
                  <a:lnTo>
                    <a:pt x="860171" y="3985387"/>
                  </a:lnTo>
                  <a:close/>
                </a:path>
              </a:pathLst>
            </a:custGeom>
            <a:solidFill>
              <a:srgbClr val="4862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17753" y="3390875"/>
              <a:ext cx="2703596" cy="73767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79992" y="3435083"/>
              <a:ext cx="579132" cy="7422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8035797" y="3434841"/>
            <a:ext cx="2620645" cy="654685"/>
          </a:xfrm>
          <a:prstGeom prst="rect">
            <a:avLst/>
          </a:prstGeom>
          <a:solidFill>
            <a:srgbClr val="FF8020"/>
          </a:solidFill>
          <a:ln w="3175">
            <a:solidFill>
              <a:srgbClr val="FF7B1B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70"/>
              </a:spcBef>
            </a:pP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216013" y="3726434"/>
            <a:ext cx="826135" cy="76200"/>
          </a:xfrm>
          <a:custGeom>
            <a:avLst/>
            <a:gdLst/>
            <a:ahLst/>
            <a:cxnLst/>
            <a:rect l="l" t="t" r="r" b="b"/>
            <a:pathLst>
              <a:path w="826134" h="76200">
                <a:moveTo>
                  <a:pt x="815259" y="31369"/>
                </a:moveTo>
                <a:lnTo>
                  <a:pt x="762126" y="31369"/>
                </a:lnTo>
                <a:lnTo>
                  <a:pt x="762507" y="44069"/>
                </a:lnTo>
                <a:lnTo>
                  <a:pt x="749827" y="44360"/>
                </a:lnTo>
                <a:lnTo>
                  <a:pt x="750569" y="76200"/>
                </a:lnTo>
                <a:lnTo>
                  <a:pt x="825753" y="36322"/>
                </a:lnTo>
                <a:lnTo>
                  <a:pt x="815259" y="31369"/>
                </a:lnTo>
                <a:close/>
              </a:path>
              <a:path w="826134" h="76200">
                <a:moveTo>
                  <a:pt x="749530" y="31658"/>
                </a:moveTo>
                <a:lnTo>
                  <a:pt x="0" y="48895"/>
                </a:lnTo>
                <a:lnTo>
                  <a:pt x="253" y="61595"/>
                </a:lnTo>
                <a:lnTo>
                  <a:pt x="749827" y="44360"/>
                </a:lnTo>
                <a:lnTo>
                  <a:pt x="749639" y="36322"/>
                </a:lnTo>
                <a:lnTo>
                  <a:pt x="749530" y="31658"/>
                </a:lnTo>
                <a:close/>
              </a:path>
              <a:path w="826134" h="76200">
                <a:moveTo>
                  <a:pt x="762126" y="31369"/>
                </a:moveTo>
                <a:lnTo>
                  <a:pt x="749530" y="31658"/>
                </a:lnTo>
                <a:lnTo>
                  <a:pt x="749820" y="44069"/>
                </a:lnTo>
                <a:lnTo>
                  <a:pt x="749827" y="44360"/>
                </a:lnTo>
                <a:lnTo>
                  <a:pt x="762507" y="44069"/>
                </a:lnTo>
                <a:lnTo>
                  <a:pt x="762135" y="31658"/>
                </a:lnTo>
                <a:lnTo>
                  <a:pt x="762126" y="31369"/>
                </a:lnTo>
                <a:close/>
              </a:path>
              <a:path w="826134" h="76200">
                <a:moveTo>
                  <a:pt x="748791" y="0"/>
                </a:moveTo>
                <a:lnTo>
                  <a:pt x="749523" y="31369"/>
                </a:lnTo>
                <a:lnTo>
                  <a:pt x="749530" y="31658"/>
                </a:lnTo>
                <a:lnTo>
                  <a:pt x="762126" y="31369"/>
                </a:lnTo>
                <a:lnTo>
                  <a:pt x="815259" y="31369"/>
                </a:lnTo>
                <a:lnTo>
                  <a:pt x="748791" y="0"/>
                </a:lnTo>
                <a:close/>
              </a:path>
            </a:pathLst>
          </a:custGeom>
          <a:solidFill>
            <a:srgbClr val="4862C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3678682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75549" y="1595622"/>
            <a:ext cx="2738755" cy="741045"/>
            <a:chOff x="2575549" y="1595622"/>
            <a:chExt cx="2738755" cy="741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1595622"/>
              <a:ext cx="2703596" cy="73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3847" y="1647431"/>
              <a:ext cx="2720340" cy="688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2607563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2607563" y="643127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9943" y="1645919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5">
                  <a:moveTo>
                    <a:pt x="0" y="643127"/>
                  </a:moveTo>
                  <a:lnTo>
                    <a:pt x="2607563" y="643127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16148" y="1735658"/>
            <a:ext cx="23761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very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less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(&lt;10%)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5549" y="3459455"/>
            <a:ext cx="2738755" cy="739775"/>
            <a:chOff x="2575549" y="3459455"/>
            <a:chExt cx="2738755" cy="7397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49" y="3459455"/>
              <a:ext cx="2703596" cy="7376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3847" y="3509759"/>
              <a:ext cx="2720340" cy="6888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2607563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2607563" y="641603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0" y="641603"/>
                  </a:moveTo>
                  <a:lnTo>
                    <a:pt x="2607563" y="641603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6148" y="3598926"/>
            <a:ext cx="237807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Medium(10%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75549" y="5532088"/>
            <a:ext cx="2738755" cy="741045"/>
            <a:chOff x="2575549" y="5532088"/>
            <a:chExt cx="2738755" cy="74104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5532088"/>
              <a:ext cx="2703596" cy="7391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3847" y="5583935"/>
              <a:ext cx="2720340" cy="6888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2607563" y="0"/>
                  </a:moveTo>
                  <a:lnTo>
                    <a:pt x="0" y="0"/>
                  </a:lnTo>
                  <a:lnTo>
                    <a:pt x="0" y="643128"/>
                  </a:lnTo>
                  <a:lnTo>
                    <a:pt x="2607563" y="643128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9943" y="5582411"/>
              <a:ext cx="2607945" cy="643255"/>
            </a:xfrm>
            <a:custGeom>
              <a:avLst/>
              <a:gdLst/>
              <a:ahLst/>
              <a:cxnLst/>
              <a:rect l="l" t="t" r="r" b="b"/>
              <a:pathLst>
                <a:path w="2607945" h="643254">
                  <a:moveTo>
                    <a:pt x="0" y="643128"/>
                  </a:moveTo>
                  <a:lnTo>
                    <a:pt x="2607563" y="643128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3128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16148" y="5673344"/>
            <a:ext cx="2378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1205" marR="5080" indent="-73914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High(&gt;50%)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50623" y="1086587"/>
            <a:ext cx="5442585" cy="737870"/>
            <a:chOff x="5850623" y="1086587"/>
            <a:chExt cx="5442585" cy="73787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1086587"/>
              <a:ext cx="5442229" cy="73767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34455" y="1156741"/>
              <a:ext cx="5271515" cy="6476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5346191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5346191" y="641603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75019" y="1136904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5">
                  <a:moveTo>
                    <a:pt x="0" y="641603"/>
                  </a:moveTo>
                  <a:lnTo>
                    <a:pt x="5346191" y="641603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49771" y="1242822"/>
            <a:ext cx="49930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continuous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variables.</a:t>
            </a:r>
            <a:endParaRPr sz="13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50623" y="1889747"/>
            <a:ext cx="5442585" cy="844550"/>
            <a:chOff x="5850623" y="1889747"/>
            <a:chExt cx="5442585" cy="84455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1917186"/>
              <a:ext cx="5442229" cy="73916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2511" y="1889747"/>
              <a:ext cx="4425695" cy="84430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5DC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5019" y="1967483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5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97828" y="1975230"/>
            <a:ext cx="409638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probable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category/class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Look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cross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tab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  <a:p>
            <a:pPr marL="4445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Impute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target.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850623" y="3014472"/>
            <a:ext cx="5442585" cy="845819"/>
            <a:chOff x="5850623" y="3014472"/>
            <a:chExt cx="5442585" cy="845819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043422"/>
              <a:ext cx="5442229" cy="7391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9987" y="3014472"/>
              <a:ext cx="5190744" cy="84581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15303" y="3101086"/>
            <a:ext cx="486600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Non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50623" y="3846563"/>
            <a:ext cx="5442585" cy="844550"/>
            <a:chOff x="5850623" y="3846563"/>
            <a:chExt cx="5442585" cy="84455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3874002"/>
              <a:ext cx="5442229" cy="7391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99403" y="3846563"/>
              <a:ext cx="5393436" cy="84430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75019" y="3924299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14720" y="3932682"/>
            <a:ext cx="506285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categorical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variables,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rename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“Missing”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numeric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discrete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class,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850623" y="5003273"/>
            <a:ext cx="5442585" cy="739775"/>
            <a:chOff x="5850623" y="5003273"/>
            <a:chExt cx="5442585" cy="739775"/>
          </a:xfrm>
        </p:grpSpPr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0623" y="5003273"/>
              <a:ext cx="5442229" cy="7391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0363" y="5074920"/>
              <a:ext cx="5268468" cy="64616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75019" y="5053584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075679" y="5161026"/>
            <a:ext cx="49441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1980" marR="5080" indent="-1859914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indicator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missing.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Drop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850623" y="5835358"/>
            <a:ext cx="5442585" cy="737870"/>
            <a:chOff x="5850623" y="5835358"/>
            <a:chExt cx="5442585" cy="737870"/>
          </a:xfrm>
        </p:grpSpPr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50623" y="5835358"/>
              <a:ext cx="5442229" cy="73767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50279" y="5905499"/>
              <a:ext cx="5090160" cy="64616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5346191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5346191" y="641604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041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75019" y="5885687"/>
              <a:ext cx="5346700" cy="641985"/>
            </a:xfrm>
            <a:custGeom>
              <a:avLst/>
              <a:gdLst/>
              <a:ahLst/>
              <a:cxnLst/>
              <a:rect l="l" t="t" r="r" b="b"/>
              <a:pathLst>
                <a:path w="5346700" h="641984">
                  <a:moveTo>
                    <a:pt x="0" y="641604"/>
                  </a:moveTo>
                  <a:lnTo>
                    <a:pt x="5346191" y="641604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12700">
              <a:solidFill>
                <a:srgbClr val="F03B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165596" y="5992164"/>
            <a:ext cx="47618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missing,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club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rest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categories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endParaRPr sz="1300">
              <a:latin typeface="Trebuchet MS"/>
              <a:cs typeface="Trebuchet MS"/>
            </a:endParaRPr>
          </a:p>
          <a:p>
            <a:pPr marL="3810"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“Non-missing”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629155" y="1290815"/>
            <a:ext cx="4435475" cy="5080000"/>
            <a:chOff x="1629155" y="1290815"/>
            <a:chExt cx="4435475" cy="5080000"/>
          </a:xfrm>
        </p:grpSpPr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9155" y="1799844"/>
              <a:ext cx="1161300" cy="20924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657095" y="1968245"/>
              <a:ext cx="944244" cy="1874520"/>
            </a:xfrm>
            <a:custGeom>
              <a:avLst/>
              <a:gdLst/>
              <a:ahLst/>
              <a:cxnLst/>
              <a:rect l="l" t="t" r="r" b="b"/>
              <a:pathLst>
                <a:path w="944244" h="1874520">
                  <a:moveTo>
                    <a:pt x="875838" y="93876"/>
                  </a:moveTo>
                  <a:lnTo>
                    <a:pt x="0" y="1857628"/>
                  </a:lnTo>
                  <a:lnTo>
                    <a:pt x="34036" y="1874520"/>
                  </a:lnTo>
                  <a:lnTo>
                    <a:pt x="909975" y="110817"/>
                  </a:lnTo>
                  <a:lnTo>
                    <a:pt x="875838" y="93876"/>
                  </a:lnTo>
                  <a:close/>
                </a:path>
                <a:path w="944244" h="1874520">
                  <a:moveTo>
                    <a:pt x="943966" y="76834"/>
                  </a:moveTo>
                  <a:lnTo>
                    <a:pt x="884301" y="76834"/>
                  </a:lnTo>
                  <a:lnTo>
                    <a:pt x="918464" y="93725"/>
                  </a:lnTo>
                  <a:lnTo>
                    <a:pt x="909975" y="110817"/>
                  </a:lnTo>
                  <a:lnTo>
                    <a:pt x="944118" y="127762"/>
                  </a:lnTo>
                  <a:lnTo>
                    <a:pt x="944016" y="93725"/>
                  </a:lnTo>
                  <a:lnTo>
                    <a:pt x="943966" y="76834"/>
                  </a:lnTo>
                  <a:close/>
                </a:path>
                <a:path w="944244" h="1874520">
                  <a:moveTo>
                    <a:pt x="884301" y="76834"/>
                  </a:moveTo>
                  <a:lnTo>
                    <a:pt x="875913" y="93725"/>
                  </a:lnTo>
                  <a:lnTo>
                    <a:pt x="875838" y="93876"/>
                  </a:lnTo>
                  <a:lnTo>
                    <a:pt x="909975" y="110817"/>
                  </a:lnTo>
                  <a:lnTo>
                    <a:pt x="918389" y="93876"/>
                  </a:lnTo>
                  <a:lnTo>
                    <a:pt x="918464" y="93725"/>
                  </a:lnTo>
                  <a:lnTo>
                    <a:pt x="884301" y="76834"/>
                  </a:lnTo>
                  <a:close/>
                </a:path>
                <a:path w="944244" h="1874520">
                  <a:moveTo>
                    <a:pt x="943737" y="0"/>
                  </a:moveTo>
                  <a:lnTo>
                    <a:pt x="841756" y="76962"/>
                  </a:lnTo>
                  <a:lnTo>
                    <a:pt x="875838" y="93876"/>
                  </a:lnTo>
                  <a:lnTo>
                    <a:pt x="884237" y="76962"/>
                  </a:lnTo>
                  <a:lnTo>
                    <a:pt x="884301" y="76834"/>
                  </a:lnTo>
                  <a:lnTo>
                    <a:pt x="943966" y="76834"/>
                  </a:lnTo>
                  <a:lnTo>
                    <a:pt x="943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45919" y="3662146"/>
              <a:ext cx="1144536" cy="33225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673986" y="3773805"/>
              <a:ext cx="927100" cy="114300"/>
            </a:xfrm>
            <a:custGeom>
              <a:avLst/>
              <a:gdLst/>
              <a:ahLst/>
              <a:cxnLst/>
              <a:rect l="l" t="t" r="r" b="b"/>
              <a:pathLst>
                <a:path w="927100" h="114300">
                  <a:moveTo>
                    <a:pt x="812419" y="0"/>
                  </a:moveTo>
                  <a:lnTo>
                    <a:pt x="812546" y="38172"/>
                  </a:lnTo>
                  <a:lnTo>
                    <a:pt x="812556" y="41275"/>
                  </a:lnTo>
                  <a:lnTo>
                    <a:pt x="812673" y="76272"/>
                  </a:lnTo>
                  <a:lnTo>
                    <a:pt x="812800" y="114300"/>
                  </a:lnTo>
                  <a:lnTo>
                    <a:pt x="888182" y="76272"/>
                  </a:lnTo>
                  <a:lnTo>
                    <a:pt x="831723" y="76272"/>
                  </a:lnTo>
                  <a:lnTo>
                    <a:pt x="831606" y="41275"/>
                  </a:lnTo>
                  <a:lnTo>
                    <a:pt x="831596" y="38172"/>
                  </a:lnTo>
                  <a:lnTo>
                    <a:pt x="889362" y="38172"/>
                  </a:lnTo>
                  <a:lnTo>
                    <a:pt x="812419" y="0"/>
                  </a:lnTo>
                  <a:close/>
                </a:path>
                <a:path w="927100" h="114300">
                  <a:moveTo>
                    <a:pt x="812546" y="38172"/>
                  </a:moveTo>
                  <a:lnTo>
                    <a:pt x="0" y="41275"/>
                  </a:lnTo>
                  <a:lnTo>
                    <a:pt x="233" y="76272"/>
                  </a:lnTo>
                  <a:lnTo>
                    <a:pt x="254" y="79375"/>
                  </a:lnTo>
                  <a:lnTo>
                    <a:pt x="812673" y="76272"/>
                  </a:lnTo>
                  <a:lnTo>
                    <a:pt x="812556" y="41275"/>
                  </a:lnTo>
                  <a:lnTo>
                    <a:pt x="812546" y="38172"/>
                  </a:lnTo>
                  <a:close/>
                </a:path>
                <a:path w="927100" h="114300">
                  <a:moveTo>
                    <a:pt x="889362" y="38172"/>
                  </a:moveTo>
                  <a:lnTo>
                    <a:pt x="831596" y="38172"/>
                  </a:lnTo>
                  <a:lnTo>
                    <a:pt x="831606" y="41275"/>
                  </a:lnTo>
                  <a:lnTo>
                    <a:pt x="831723" y="76272"/>
                  </a:lnTo>
                  <a:lnTo>
                    <a:pt x="888182" y="76272"/>
                  </a:lnTo>
                  <a:lnTo>
                    <a:pt x="926845" y="56769"/>
                  </a:lnTo>
                  <a:lnTo>
                    <a:pt x="889362" y="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9155" y="3773436"/>
              <a:ext cx="1161300" cy="229514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656714" y="3827399"/>
              <a:ext cx="949960" cy="2078355"/>
            </a:xfrm>
            <a:custGeom>
              <a:avLst/>
              <a:gdLst/>
              <a:ahLst/>
              <a:cxnLst/>
              <a:rect l="l" t="t" r="r" b="b"/>
              <a:pathLst>
                <a:path w="949960" h="2078354">
                  <a:moveTo>
                    <a:pt x="880070" y="1981571"/>
                  </a:moveTo>
                  <a:lnTo>
                    <a:pt x="845312" y="1997138"/>
                  </a:lnTo>
                  <a:lnTo>
                    <a:pt x="944118" y="2078126"/>
                  </a:lnTo>
                  <a:lnTo>
                    <a:pt x="947503" y="1998967"/>
                  </a:lnTo>
                  <a:lnTo>
                    <a:pt x="887857" y="1998967"/>
                  </a:lnTo>
                  <a:lnTo>
                    <a:pt x="880070" y="1981571"/>
                  </a:lnTo>
                  <a:close/>
                </a:path>
                <a:path w="949960" h="2078354">
                  <a:moveTo>
                    <a:pt x="914862" y="1965989"/>
                  </a:moveTo>
                  <a:lnTo>
                    <a:pt x="880070" y="1981571"/>
                  </a:lnTo>
                  <a:lnTo>
                    <a:pt x="887857" y="1998967"/>
                  </a:lnTo>
                  <a:lnTo>
                    <a:pt x="922655" y="1983397"/>
                  </a:lnTo>
                  <a:lnTo>
                    <a:pt x="914862" y="1965989"/>
                  </a:lnTo>
                  <a:close/>
                </a:path>
                <a:path w="949960" h="2078354">
                  <a:moveTo>
                    <a:pt x="949579" y="1950440"/>
                  </a:moveTo>
                  <a:lnTo>
                    <a:pt x="914862" y="1965989"/>
                  </a:lnTo>
                  <a:lnTo>
                    <a:pt x="922655" y="1983397"/>
                  </a:lnTo>
                  <a:lnTo>
                    <a:pt x="887857" y="1998967"/>
                  </a:lnTo>
                  <a:lnTo>
                    <a:pt x="947503" y="1998967"/>
                  </a:lnTo>
                  <a:lnTo>
                    <a:pt x="949579" y="1950440"/>
                  </a:lnTo>
                  <a:close/>
                </a:path>
                <a:path w="949960" h="2078354">
                  <a:moveTo>
                    <a:pt x="34798" y="0"/>
                  </a:moveTo>
                  <a:lnTo>
                    <a:pt x="0" y="15493"/>
                  </a:lnTo>
                  <a:lnTo>
                    <a:pt x="880070" y="1981571"/>
                  </a:lnTo>
                  <a:lnTo>
                    <a:pt x="914862" y="1965989"/>
                  </a:lnTo>
                  <a:lnTo>
                    <a:pt x="34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69408" y="1290815"/>
              <a:ext cx="894575" cy="7422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196713" y="1459229"/>
              <a:ext cx="678180" cy="525145"/>
            </a:xfrm>
            <a:custGeom>
              <a:avLst/>
              <a:gdLst/>
              <a:ahLst/>
              <a:cxnLst/>
              <a:rect l="l" t="t" r="r" b="b"/>
              <a:pathLst>
                <a:path w="678179" h="525144">
                  <a:moveTo>
                    <a:pt x="575806" y="54367"/>
                  </a:moveTo>
                  <a:lnTo>
                    <a:pt x="0" y="494792"/>
                  </a:lnTo>
                  <a:lnTo>
                    <a:pt x="23113" y="525018"/>
                  </a:lnTo>
                  <a:lnTo>
                    <a:pt x="598927" y="84588"/>
                  </a:lnTo>
                  <a:lnTo>
                    <a:pt x="575806" y="54367"/>
                  </a:lnTo>
                  <a:close/>
                </a:path>
                <a:path w="678179" h="525144">
                  <a:moveTo>
                    <a:pt x="657253" y="42799"/>
                  </a:moveTo>
                  <a:lnTo>
                    <a:pt x="590931" y="42799"/>
                  </a:lnTo>
                  <a:lnTo>
                    <a:pt x="614045" y="73025"/>
                  </a:lnTo>
                  <a:lnTo>
                    <a:pt x="598927" y="84588"/>
                  </a:lnTo>
                  <a:lnTo>
                    <a:pt x="622046" y="114808"/>
                  </a:lnTo>
                  <a:lnTo>
                    <a:pt x="657253" y="42799"/>
                  </a:lnTo>
                  <a:close/>
                </a:path>
                <a:path w="678179" h="525144">
                  <a:moveTo>
                    <a:pt x="590931" y="42799"/>
                  </a:moveTo>
                  <a:lnTo>
                    <a:pt x="575806" y="54367"/>
                  </a:lnTo>
                  <a:lnTo>
                    <a:pt x="598927" y="84588"/>
                  </a:lnTo>
                  <a:lnTo>
                    <a:pt x="614045" y="73025"/>
                  </a:lnTo>
                  <a:lnTo>
                    <a:pt x="590931" y="42799"/>
                  </a:lnTo>
                  <a:close/>
                </a:path>
                <a:path w="678179" h="525144">
                  <a:moveTo>
                    <a:pt x="678179" y="0"/>
                  </a:moveTo>
                  <a:lnTo>
                    <a:pt x="552576" y="24003"/>
                  </a:lnTo>
                  <a:lnTo>
                    <a:pt x="575806" y="54367"/>
                  </a:lnTo>
                  <a:lnTo>
                    <a:pt x="590931" y="42799"/>
                  </a:lnTo>
                  <a:lnTo>
                    <a:pt x="657253" y="42799"/>
                  </a:lnTo>
                  <a:lnTo>
                    <a:pt x="678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72455" y="1897405"/>
              <a:ext cx="891539" cy="55623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200015" y="1951101"/>
              <a:ext cx="675005" cy="340360"/>
            </a:xfrm>
            <a:custGeom>
              <a:avLst/>
              <a:gdLst/>
              <a:ahLst/>
              <a:cxnLst/>
              <a:rect l="l" t="t" r="r" b="b"/>
              <a:pathLst>
                <a:path w="675004" h="340360">
                  <a:moveTo>
                    <a:pt x="563629" y="305936"/>
                  </a:moveTo>
                  <a:lnTo>
                    <a:pt x="547115" y="340233"/>
                  </a:lnTo>
                  <a:lnTo>
                    <a:pt x="674877" y="338454"/>
                  </a:lnTo>
                  <a:lnTo>
                    <a:pt x="656106" y="314198"/>
                  </a:lnTo>
                  <a:lnTo>
                    <a:pt x="580771" y="314198"/>
                  </a:lnTo>
                  <a:lnTo>
                    <a:pt x="563629" y="305936"/>
                  </a:lnTo>
                  <a:close/>
                </a:path>
                <a:path w="675004" h="340360">
                  <a:moveTo>
                    <a:pt x="580139" y="271646"/>
                  </a:moveTo>
                  <a:lnTo>
                    <a:pt x="563629" y="305936"/>
                  </a:lnTo>
                  <a:lnTo>
                    <a:pt x="580771" y="314198"/>
                  </a:lnTo>
                  <a:lnTo>
                    <a:pt x="597281" y="279908"/>
                  </a:lnTo>
                  <a:lnTo>
                    <a:pt x="580139" y="271646"/>
                  </a:lnTo>
                  <a:close/>
                </a:path>
                <a:path w="675004" h="340360">
                  <a:moveTo>
                    <a:pt x="596646" y="237362"/>
                  </a:moveTo>
                  <a:lnTo>
                    <a:pt x="580139" y="271646"/>
                  </a:lnTo>
                  <a:lnTo>
                    <a:pt x="597281" y="279908"/>
                  </a:lnTo>
                  <a:lnTo>
                    <a:pt x="580771" y="314198"/>
                  </a:lnTo>
                  <a:lnTo>
                    <a:pt x="656106" y="314198"/>
                  </a:lnTo>
                  <a:lnTo>
                    <a:pt x="596646" y="237362"/>
                  </a:lnTo>
                  <a:close/>
                </a:path>
                <a:path w="675004" h="340360">
                  <a:moveTo>
                    <a:pt x="16510" y="0"/>
                  </a:moveTo>
                  <a:lnTo>
                    <a:pt x="0" y="34289"/>
                  </a:lnTo>
                  <a:lnTo>
                    <a:pt x="563629" y="305936"/>
                  </a:lnTo>
                  <a:lnTo>
                    <a:pt x="580139" y="271646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70932" y="3247618"/>
              <a:ext cx="893051" cy="64924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198236" y="3416046"/>
              <a:ext cx="676910" cy="431800"/>
            </a:xfrm>
            <a:custGeom>
              <a:avLst/>
              <a:gdLst/>
              <a:ahLst/>
              <a:cxnLst/>
              <a:rect l="l" t="t" r="r" b="b"/>
              <a:pathLst>
                <a:path w="676910" h="431800">
                  <a:moveTo>
                    <a:pt x="569534" y="44251"/>
                  </a:moveTo>
                  <a:lnTo>
                    <a:pt x="0" y="399160"/>
                  </a:lnTo>
                  <a:lnTo>
                    <a:pt x="20065" y="431545"/>
                  </a:lnTo>
                  <a:lnTo>
                    <a:pt x="589680" y="76586"/>
                  </a:lnTo>
                  <a:lnTo>
                    <a:pt x="569534" y="44251"/>
                  </a:lnTo>
                  <a:close/>
                </a:path>
                <a:path w="676910" h="431800">
                  <a:moveTo>
                    <a:pt x="655712" y="34162"/>
                  </a:moveTo>
                  <a:lnTo>
                    <a:pt x="585724" y="34162"/>
                  </a:lnTo>
                  <a:lnTo>
                    <a:pt x="605789" y="66548"/>
                  </a:lnTo>
                  <a:lnTo>
                    <a:pt x="589680" y="76586"/>
                  </a:lnTo>
                  <a:lnTo>
                    <a:pt x="609853" y="108965"/>
                  </a:lnTo>
                  <a:lnTo>
                    <a:pt x="655712" y="34162"/>
                  </a:lnTo>
                  <a:close/>
                </a:path>
                <a:path w="676910" h="431800">
                  <a:moveTo>
                    <a:pt x="585724" y="34162"/>
                  </a:moveTo>
                  <a:lnTo>
                    <a:pt x="569534" y="44251"/>
                  </a:lnTo>
                  <a:lnTo>
                    <a:pt x="589680" y="76586"/>
                  </a:lnTo>
                  <a:lnTo>
                    <a:pt x="605789" y="66548"/>
                  </a:lnTo>
                  <a:lnTo>
                    <a:pt x="585724" y="34162"/>
                  </a:lnTo>
                  <a:close/>
                </a:path>
                <a:path w="676910" h="431800">
                  <a:moveTo>
                    <a:pt x="676655" y="0"/>
                  </a:moveTo>
                  <a:lnTo>
                    <a:pt x="549401" y="11937"/>
                  </a:lnTo>
                  <a:lnTo>
                    <a:pt x="569534" y="44251"/>
                  </a:lnTo>
                  <a:lnTo>
                    <a:pt x="585724" y="34162"/>
                  </a:lnTo>
                  <a:lnTo>
                    <a:pt x="655712" y="34162"/>
                  </a:lnTo>
                  <a:lnTo>
                    <a:pt x="676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70932" y="3761206"/>
              <a:ext cx="893051" cy="64924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198236" y="3814444"/>
              <a:ext cx="676910" cy="432434"/>
            </a:xfrm>
            <a:custGeom>
              <a:avLst/>
              <a:gdLst/>
              <a:ahLst/>
              <a:cxnLst/>
              <a:rect l="l" t="t" r="r" b="b"/>
              <a:pathLst>
                <a:path w="676910" h="432435">
                  <a:moveTo>
                    <a:pt x="569540" y="387665"/>
                  </a:moveTo>
                  <a:lnTo>
                    <a:pt x="549401" y="419988"/>
                  </a:lnTo>
                  <a:lnTo>
                    <a:pt x="676655" y="431926"/>
                  </a:lnTo>
                  <a:lnTo>
                    <a:pt x="655712" y="397763"/>
                  </a:lnTo>
                  <a:lnTo>
                    <a:pt x="585724" y="397763"/>
                  </a:lnTo>
                  <a:lnTo>
                    <a:pt x="569540" y="387665"/>
                  </a:lnTo>
                  <a:close/>
                </a:path>
                <a:path w="676910" h="432435">
                  <a:moveTo>
                    <a:pt x="589719" y="355277"/>
                  </a:moveTo>
                  <a:lnTo>
                    <a:pt x="569540" y="387665"/>
                  </a:lnTo>
                  <a:lnTo>
                    <a:pt x="585724" y="397763"/>
                  </a:lnTo>
                  <a:lnTo>
                    <a:pt x="605916" y="365378"/>
                  </a:lnTo>
                  <a:lnTo>
                    <a:pt x="589719" y="355277"/>
                  </a:lnTo>
                  <a:close/>
                </a:path>
                <a:path w="676910" h="432435">
                  <a:moveTo>
                    <a:pt x="609853" y="322960"/>
                  </a:moveTo>
                  <a:lnTo>
                    <a:pt x="589719" y="355277"/>
                  </a:lnTo>
                  <a:lnTo>
                    <a:pt x="605916" y="365378"/>
                  </a:lnTo>
                  <a:lnTo>
                    <a:pt x="585724" y="397763"/>
                  </a:lnTo>
                  <a:lnTo>
                    <a:pt x="655712" y="397763"/>
                  </a:lnTo>
                  <a:lnTo>
                    <a:pt x="609853" y="322960"/>
                  </a:lnTo>
                  <a:close/>
                </a:path>
                <a:path w="676910" h="432435">
                  <a:moveTo>
                    <a:pt x="20065" y="0"/>
                  </a:moveTo>
                  <a:lnTo>
                    <a:pt x="0" y="32257"/>
                  </a:lnTo>
                  <a:lnTo>
                    <a:pt x="569540" y="387665"/>
                  </a:lnTo>
                  <a:lnTo>
                    <a:pt x="589719" y="355277"/>
                  </a:lnTo>
                  <a:lnTo>
                    <a:pt x="20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67884" y="5207508"/>
              <a:ext cx="896137" cy="76048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196459" y="5375910"/>
              <a:ext cx="678815" cy="544195"/>
            </a:xfrm>
            <a:custGeom>
              <a:avLst/>
              <a:gdLst/>
              <a:ahLst/>
              <a:cxnLst/>
              <a:rect l="l" t="t" r="r" b="b"/>
              <a:pathLst>
                <a:path w="678814" h="544195">
                  <a:moveTo>
                    <a:pt x="577054" y="56144"/>
                  </a:moveTo>
                  <a:lnTo>
                    <a:pt x="0" y="514197"/>
                  </a:lnTo>
                  <a:lnTo>
                    <a:pt x="23621" y="544042"/>
                  </a:lnTo>
                  <a:lnTo>
                    <a:pt x="600728" y="85948"/>
                  </a:lnTo>
                  <a:lnTo>
                    <a:pt x="577054" y="56144"/>
                  </a:lnTo>
                  <a:close/>
                </a:path>
                <a:path w="678814" h="544195">
                  <a:moveTo>
                    <a:pt x="657779" y="44322"/>
                  </a:moveTo>
                  <a:lnTo>
                    <a:pt x="591946" y="44322"/>
                  </a:lnTo>
                  <a:lnTo>
                    <a:pt x="615568" y="74167"/>
                  </a:lnTo>
                  <a:lnTo>
                    <a:pt x="600728" y="85948"/>
                  </a:lnTo>
                  <a:lnTo>
                    <a:pt x="624458" y="115823"/>
                  </a:lnTo>
                  <a:lnTo>
                    <a:pt x="657779" y="44322"/>
                  </a:lnTo>
                  <a:close/>
                </a:path>
                <a:path w="678814" h="544195">
                  <a:moveTo>
                    <a:pt x="591946" y="44322"/>
                  </a:moveTo>
                  <a:lnTo>
                    <a:pt x="577054" y="56144"/>
                  </a:lnTo>
                  <a:lnTo>
                    <a:pt x="600728" y="85948"/>
                  </a:lnTo>
                  <a:lnTo>
                    <a:pt x="615568" y="74167"/>
                  </a:lnTo>
                  <a:lnTo>
                    <a:pt x="591946" y="44322"/>
                  </a:lnTo>
                  <a:close/>
                </a:path>
                <a:path w="678814" h="544195">
                  <a:moveTo>
                    <a:pt x="678433" y="0"/>
                  </a:moveTo>
                  <a:lnTo>
                    <a:pt x="553338" y="26288"/>
                  </a:lnTo>
                  <a:lnTo>
                    <a:pt x="577054" y="56144"/>
                  </a:lnTo>
                  <a:lnTo>
                    <a:pt x="591946" y="44322"/>
                  </a:lnTo>
                  <a:lnTo>
                    <a:pt x="657779" y="44322"/>
                  </a:lnTo>
                  <a:lnTo>
                    <a:pt x="678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72455" y="5833872"/>
              <a:ext cx="891539" cy="53643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200396" y="5887389"/>
              <a:ext cx="675005" cy="324485"/>
            </a:xfrm>
            <a:custGeom>
              <a:avLst/>
              <a:gdLst/>
              <a:ahLst/>
              <a:cxnLst/>
              <a:rect l="l" t="t" r="r" b="b"/>
              <a:pathLst>
                <a:path w="675004" h="324485">
                  <a:moveTo>
                    <a:pt x="562489" y="289578"/>
                  </a:moveTo>
                  <a:lnTo>
                    <a:pt x="546734" y="324294"/>
                  </a:lnTo>
                  <a:lnTo>
                    <a:pt x="674496" y="319417"/>
                  </a:lnTo>
                  <a:lnTo>
                    <a:pt x="656678" y="297459"/>
                  </a:lnTo>
                  <a:lnTo>
                    <a:pt x="579881" y="297459"/>
                  </a:lnTo>
                  <a:lnTo>
                    <a:pt x="562489" y="289578"/>
                  </a:lnTo>
                  <a:close/>
                </a:path>
                <a:path w="675004" h="324485">
                  <a:moveTo>
                    <a:pt x="578219" y="254917"/>
                  </a:moveTo>
                  <a:lnTo>
                    <a:pt x="562489" y="289578"/>
                  </a:lnTo>
                  <a:lnTo>
                    <a:pt x="579881" y="297459"/>
                  </a:lnTo>
                  <a:lnTo>
                    <a:pt x="595502" y="262750"/>
                  </a:lnTo>
                  <a:lnTo>
                    <a:pt x="578219" y="254917"/>
                  </a:lnTo>
                  <a:close/>
                </a:path>
                <a:path w="675004" h="324485">
                  <a:moveTo>
                    <a:pt x="593978" y="220192"/>
                  </a:moveTo>
                  <a:lnTo>
                    <a:pt x="578219" y="254917"/>
                  </a:lnTo>
                  <a:lnTo>
                    <a:pt x="595502" y="262750"/>
                  </a:lnTo>
                  <a:lnTo>
                    <a:pt x="579881" y="297459"/>
                  </a:lnTo>
                  <a:lnTo>
                    <a:pt x="656678" y="297459"/>
                  </a:lnTo>
                  <a:lnTo>
                    <a:pt x="593978" y="220192"/>
                  </a:lnTo>
                  <a:close/>
                </a:path>
                <a:path w="675004" h="324485">
                  <a:moveTo>
                    <a:pt x="15748" y="0"/>
                  </a:moveTo>
                  <a:lnTo>
                    <a:pt x="0" y="34696"/>
                  </a:lnTo>
                  <a:lnTo>
                    <a:pt x="562489" y="289578"/>
                  </a:lnTo>
                  <a:lnTo>
                    <a:pt x="578219" y="254917"/>
                  </a:lnTo>
                  <a:lnTo>
                    <a:pt x="1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3678682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75549" y="3459455"/>
            <a:ext cx="2738755" cy="739775"/>
            <a:chOff x="2575549" y="3459455"/>
            <a:chExt cx="2738755" cy="739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5549" y="3459455"/>
              <a:ext cx="2703596" cy="7376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3847" y="3509759"/>
              <a:ext cx="2720340" cy="688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2607563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2607563" y="641603"/>
                  </a:lnTo>
                  <a:lnTo>
                    <a:pt x="2607563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9943" y="3509772"/>
              <a:ext cx="2607945" cy="641985"/>
            </a:xfrm>
            <a:custGeom>
              <a:avLst/>
              <a:gdLst/>
              <a:ahLst/>
              <a:cxnLst/>
              <a:rect l="l" t="t" r="r" b="b"/>
              <a:pathLst>
                <a:path w="2607945" h="641985">
                  <a:moveTo>
                    <a:pt x="0" y="641603"/>
                  </a:moveTo>
                  <a:lnTo>
                    <a:pt x="2607563" y="641603"/>
                  </a:lnTo>
                  <a:lnTo>
                    <a:pt x="2607563" y="0"/>
                  </a:lnTo>
                  <a:lnTo>
                    <a:pt x="0" y="0"/>
                  </a:lnTo>
                  <a:lnTo>
                    <a:pt x="0" y="641603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16148" y="3598926"/>
            <a:ext cx="237807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Percent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missing/Outliers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Medium(10%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50%)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50623" y="3014472"/>
            <a:ext cx="5442585" cy="845819"/>
            <a:chOff x="5850623" y="3014472"/>
            <a:chExt cx="5442585" cy="84581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0623" y="3043422"/>
              <a:ext cx="5442229" cy="7391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9987" y="3014472"/>
              <a:ext cx="5190744" cy="8458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5346191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346191" y="643127"/>
                  </a:lnTo>
                  <a:lnTo>
                    <a:pt x="5346191" y="0"/>
                  </a:lnTo>
                  <a:close/>
                </a:path>
              </a:pathLst>
            </a:custGeom>
            <a:solidFill>
              <a:srgbClr val="FF8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5019" y="3093720"/>
              <a:ext cx="5346700" cy="643255"/>
            </a:xfrm>
            <a:custGeom>
              <a:avLst/>
              <a:gdLst/>
              <a:ahLst/>
              <a:cxnLst/>
              <a:rect l="l" t="t" r="r" b="b"/>
              <a:pathLst>
                <a:path w="5346700" h="643254">
                  <a:moveTo>
                    <a:pt x="0" y="643127"/>
                  </a:moveTo>
                  <a:lnTo>
                    <a:pt x="5346191" y="643127"/>
                  </a:lnTo>
                  <a:lnTo>
                    <a:pt x="5346191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1270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15303" y="3101086"/>
            <a:ext cx="486600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</a:t>
            </a:r>
            <a:r>
              <a:rPr sz="13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Non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Category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missing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values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300" spc="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/>
                <a:cs typeface="Trebuchet MS"/>
              </a:rPr>
              <a:t>Mean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median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45920" y="3247618"/>
            <a:ext cx="4418330" cy="747395"/>
            <a:chOff x="1645920" y="3247618"/>
            <a:chExt cx="4418330" cy="74739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5920" y="3662146"/>
              <a:ext cx="1144536" cy="3322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73987" y="3773805"/>
              <a:ext cx="927100" cy="114300"/>
            </a:xfrm>
            <a:custGeom>
              <a:avLst/>
              <a:gdLst/>
              <a:ahLst/>
              <a:cxnLst/>
              <a:rect l="l" t="t" r="r" b="b"/>
              <a:pathLst>
                <a:path w="927100" h="114300">
                  <a:moveTo>
                    <a:pt x="812419" y="0"/>
                  </a:moveTo>
                  <a:lnTo>
                    <a:pt x="812546" y="38172"/>
                  </a:lnTo>
                  <a:lnTo>
                    <a:pt x="812556" y="41275"/>
                  </a:lnTo>
                  <a:lnTo>
                    <a:pt x="812673" y="76272"/>
                  </a:lnTo>
                  <a:lnTo>
                    <a:pt x="812800" y="114300"/>
                  </a:lnTo>
                  <a:lnTo>
                    <a:pt x="888182" y="76272"/>
                  </a:lnTo>
                  <a:lnTo>
                    <a:pt x="831723" y="76272"/>
                  </a:lnTo>
                  <a:lnTo>
                    <a:pt x="831606" y="41275"/>
                  </a:lnTo>
                  <a:lnTo>
                    <a:pt x="831596" y="38172"/>
                  </a:lnTo>
                  <a:lnTo>
                    <a:pt x="889362" y="38172"/>
                  </a:lnTo>
                  <a:lnTo>
                    <a:pt x="812419" y="0"/>
                  </a:lnTo>
                  <a:close/>
                </a:path>
                <a:path w="927100" h="114300">
                  <a:moveTo>
                    <a:pt x="812546" y="38172"/>
                  </a:moveTo>
                  <a:lnTo>
                    <a:pt x="0" y="41275"/>
                  </a:lnTo>
                  <a:lnTo>
                    <a:pt x="233" y="76272"/>
                  </a:lnTo>
                  <a:lnTo>
                    <a:pt x="254" y="79375"/>
                  </a:lnTo>
                  <a:lnTo>
                    <a:pt x="812673" y="76272"/>
                  </a:lnTo>
                  <a:lnTo>
                    <a:pt x="812556" y="41275"/>
                  </a:lnTo>
                  <a:lnTo>
                    <a:pt x="812546" y="38172"/>
                  </a:lnTo>
                  <a:close/>
                </a:path>
                <a:path w="927100" h="114300">
                  <a:moveTo>
                    <a:pt x="889362" y="38172"/>
                  </a:moveTo>
                  <a:lnTo>
                    <a:pt x="831596" y="38172"/>
                  </a:lnTo>
                  <a:lnTo>
                    <a:pt x="831606" y="41275"/>
                  </a:lnTo>
                  <a:lnTo>
                    <a:pt x="831723" y="76272"/>
                  </a:lnTo>
                  <a:lnTo>
                    <a:pt x="888182" y="76272"/>
                  </a:lnTo>
                  <a:lnTo>
                    <a:pt x="926845" y="56769"/>
                  </a:lnTo>
                  <a:lnTo>
                    <a:pt x="889362" y="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0932" y="3247618"/>
              <a:ext cx="893051" cy="6492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198236" y="3416046"/>
              <a:ext cx="676910" cy="431800"/>
            </a:xfrm>
            <a:custGeom>
              <a:avLst/>
              <a:gdLst/>
              <a:ahLst/>
              <a:cxnLst/>
              <a:rect l="l" t="t" r="r" b="b"/>
              <a:pathLst>
                <a:path w="676910" h="431800">
                  <a:moveTo>
                    <a:pt x="569534" y="44251"/>
                  </a:moveTo>
                  <a:lnTo>
                    <a:pt x="0" y="399160"/>
                  </a:lnTo>
                  <a:lnTo>
                    <a:pt x="20065" y="431545"/>
                  </a:lnTo>
                  <a:lnTo>
                    <a:pt x="589680" y="76586"/>
                  </a:lnTo>
                  <a:lnTo>
                    <a:pt x="569534" y="44251"/>
                  </a:lnTo>
                  <a:close/>
                </a:path>
                <a:path w="676910" h="431800">
                  <a:moveTo>
                    <a:pt x="655712" y="34162"/>
                  </a:moveTo>
                  <a:lnTo>
                    <a:pt x="585724" y="34162"/>
                  </a:lnTo>
                  <a:lnTo>
                    <a:pt x="605789" y="66548"/>
                  </a:lnTo>
                  <a:lnTo>
                    <a:pt x="589680" y="76586"/>
                  </a:lnTo>
                  <a:lnTo>
                    <a:pt x="609853" y="108965"/>
                  </a:lnTo>
                  <a:lnTo>
                    <a:pt x="655712" y="34162"/>
                  </a:lnTo>
                  <a:close/>
                </a:path>
                <a:path w="676910" h="431800">
                  <a:moveTo>
                    <a:pt x="585724" y="34162"/>
                  </a:moveTo>
                  <a:lnTo>
                    <a:pt x="569534" y="44251"/>
                  </a:lnTo>
                  <a:lnTo>
                    <a:pt x="589680" y="76586"/>
                  </a:lnTo>
                  <a:lnTo>
                    <a:pt x="605789" y="66548"/>
                  </a:lnTo>
                  <a:lnTo>
                    <a:pt x="585724" y="34162"/>
                  </a:lnTo>
                  <a:close/>
                </a:path>
                <a:path w="676910" h="431800">
                  <a:moveTo>
                    <a:pt x="676655" y="0"/>
                  </a:moveTo>
                  <a:lnTo>
                    <a:pt x="549401" y="11937"/>
                  </a:lnTo>
                  <a:lnTo>
                    <a:pt x="569534" y="44251"/>
                  </a:lnTo>
                  <a:lnTo>
                    <a:pt x="585724" y="34162"/>
                  </a:lnTo>
                  <a:lnTo>
                    <a:pt x="655712" y="34162"/>
                  </a:lnTo>
                  <a:lnTo>
                    <a:pt x="676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4965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LAB:</a:t>
            </a:r>
            <a:r>
              <a:rPr spc="-200" dirty="0">
                <a:solidFill>
                  <a:srgbClr val="FF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Monthly</a:t>
            </a:r>
            <a:r>
              <a:rPr spc="-19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Income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7858125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Find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percentage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monthly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income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Create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indicator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variable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non-</a:t>
            </a:r>
            <a:r>
              <a:rPr sz="2400" spc="-10" dirty="0">
                <a:latin typeface="Trebuchet MS"/>
                <a:cs typeface="Trebuchet MS"/>
              </a:rPr>
              <a:t>missing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Replace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missing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median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4965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LAB:</a:t>
            </a:r>
            <a:r>
              <a:rPr spc="-200" dirty="0">
                <a:solidFill>
                  <a:srgbClr val="FF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Monthly</a:t>
            </a:r>
            <a:r>
              <a:rPr spc="-19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Income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loans[</a:t>
            </a:r>
            <a:r>
              <a:rPr spc="-10" dirty="0">
                <a:solidFill>
                  <a:srgbClr val="A21515"/>
                </a:solidFill>
              </a:rPr>
              <a:t>'MonthlyIncome'</a:t>
            </a:r>
            <a:r>
              <a:rPr spc="-10" dirty="0"/>
              <a:t>].isnull().</a:t>
            </a:r>
            <a:r>
              <a:rPr spc="-10" dirty="0">
                <a:solidFill>
                  <a:srgbClr val="795E25"/>
                </a:solidFill>
              </a:rPr>
              <a:t>sum</a:t>
            </a:r>
            <a:r>
              <a:rPr spc="-10" dirty="0"/>
              <a:t>()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loans[</a:t>
            </a:r>
            <a:r>
              <a:rPr spc="-10" dirty="0">
                <a:solidFill>
                  <a:srgbClr val="A21515"/>
                </a:solidFill>
              </a:rPr>
              <a:t>'MonthlyIncome'</a:t>
            </a:r>
            <a:r>
              <a:rPr spc="-10" dirty="0"/>
              <a:t>].isnull().</a:t>
            </a:r>
            <a:r>
              <a:rPr spc="-10" dirty="0">
                <a:solidFill>
                  <a:srgbClr val="795E25"/>
                </a:solidFill>
              </a:rPr>
              <a:t>sum</a:t>
            </a:r>
            <a:r>
              <a:rPr spc="-10" dirty="0"/>
              <a:t>()/</a:t>
            </a:r>
            <a:r>
              <a:rPr spc="-10" dirty="0">
                <a:solidFill>
                  <a:srgbClr val="795E25"/>
                </a:solidFill>
              </a:rPr>
              <a:t>len</a:t>
            </a:r>
            <a:r>
              <a:rPr spc="-10" dirty="0"/>
              <a:t>(loans)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pc="-10" dirty="0"/>
          </a:p>
          <a:p>
            <a:pPr marL="12700" marR="6136005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08000"/>
                </a:solidFill>
              </a:rPr>
              <a:t>#Flag</a:t>
            </a:r>
            <a:r>
              <a:rPr spc="-30" dirty="0">
                <a:solidFill>
                  <a:srgbClr val="008000"/>
                </a:solidFill>
              </a:rPr>
              <a:t> </a:t>
            </a:r>
            <a:r>
              <a:rPr spc="-10" dirty="0">
                <a:solidFill>
                  <a:srgbClr val="008000"/>
                </a:solidFill>
              </a:rPr>
              <a:t>variable </a:t>
            </a:r>
            <a:r>
              <a:rPr spc="-10" dirty="0"/>
              <a:t>loans[</a:t>
            </a:r>
            <a:r>
              <a:rPr spc="-10" dirty="0">
                <a:solidFill>
                  <a:srgbClr val="A21515"/>
                </a:solidFill>
              </a:rPr>
              <a:t>'MonthlyIncome_ind'</a:t>
            </a:r>
            <a:r>
              <a:rPr spc="-10" dirty="0"/>
              <a:t>]=</a:t>
            </a:r>
            <a:r>
              <a:rPr spc="-10" dirty="0">
                <a:solidFill>
                  <a:srgbClr val="09875A"/>
                </a:solidFill>
              </a:rPr>
              <a:t>1</a:t>
            </a:r>
          </a:p>
          <a:p>
            <a:pPr marL="12700" marR="1737360">
              <a:lnSpc>
                <a:spcPct val="100000"/>
              </a:lnSpc>
            </a:pPr>
            <a:r>
              <a:rPr spc="-10" dirty="0"/>
              <a:t>loans[</a:t>
            </a:r>
            <a:r>
              <a:rPr spc="-10" dirty="0">
                <a:solidFill>
                  <a:srgbClr val="A21515"/>
                </a:solidFill>
              </a:rPr>
              <a:t>'MonthlyIncome_ind'</a:t>
            </a:r>
            <a:r>
              <a:rPr spc="-10" dirty="0"/>
              <a:t>][loans[</a:t>
            </a:r>
            <a:r>
              <a:rPr spc="-10" dirty="0">
                <a:solidFill>
                  <a:srgbClr val="A21515"/>
                </a:solidFill>
              </a:rPr>
              <a:t>'MonthlyIncome'</a:t>
            </a:r>
            <a:r>
              <a:rPr spc="-10" dirty="0"/>
              <a:t>].isnull()]=</a:t>
            </a:r>
            <a:r>
              <a:rPr spc="-10" dirty="0">
                <a:solidFill>
                  <a:srgbClr val="09875A"/>
                </a:solidFill>
              </a:rPr>
              <a:t>0 </a:t>
            </a:r>
            <a:r>
              <a:rPr spc="-10" dirty="0"/>
              <a:t>loans[</a:t>
            </a:r>
            <a:r>
              <a:rPr spc="-10" dirty="0">
                <a:solidFill>
                  <a:srgbClr val="A21515"/>
                </a:solidFill>
              </a:rPr>
              <a:t>'MonthlyIncome_ind'</a:t>
            </a:r>
            <a:r>
              <a:rPr spc="-10" dirty="0"/>
              <a:t>].value_counts()</a:t>
            </a: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pc="-10" dirty="0"/>
          </a:p>
          <a:p>
            <a:pPr marL="12700" marR="3337560">
              <a:lnSpc>
                <a:spcPct val="100000"/>
              </a:lnSpc>
            </a:pPr>
            <a:r>
              <a:rPr dirty="0">
                <a:solidFill>
                  <a:srgbClr val="008000"/>
                </a:solidFill>
              </a:rPr>
              <a:t>#Imputation</a:t>
            </a:r>
            <a:r>
              <a:rPr spc="-35" dirty="0">
                <a:solidFill>
                  <a:srgbClr val="008000"/>
                </a:solidFill>
              </a:rPr>
              <a:t> </a:t>
            </a:r>
            <a:r>
              <a:rPr dirty="0">
                <a:solidFill>
                  <a:srgbClr val="008000"/>
                </a:solidFill>
              </a:rPr>
              <a:t>with</a:t>
            </a:r>
            <a:r>
              <a:rPr spc="-40" dirty="0">
                <a:solidFill>
                  <a:srgbClr val="008000"/>
                </a:solidFill>
              </a:rPr>
              <a:t> </a:t>
            </a:r>
            <a:r>
              <a:rPr spc="-10" dirty="0">
                <a:solidFill>
                  <a:srgbClr val="008000"/>
                </a:solidFill>
              </a:rPr>
              <a:t>median </a:t>
            </a:r>
            <a:r>
              <a:rPr spc="-10" dirty="0"/>
              <a:t>loans[</a:t>
            </a:r>
            <a:r>
              <a:rPr spc="-10" dirty="0">
                <a:solidFill>
                  <a:srgbClr val="A21515"/>
                </a:solidFill>
              </a:rPr>
              <a:t>'MonthlyIncome_new'</a:t>
            </a:r>
            <a:r>
              <a:rPr spc="-10" dirty="0"/>
              <a:t>]=loans[</a:t>
            </a:r>
            <a:r>
              <a:rPr spc="-10" dirty="0">
                <a:solidFill>
                  <a:srgbClr val="A21515"/>
                </a:solidFill>
              </a:rPr>
              <a:t>'MonthlyIncome'</a:t>
            </a:r>
            <a:r>
              <a:rPr spc="-10" dirty="0"/>
              <a:t>]</a:t>
            </a:r>
          </a:p>
          <a:p>
            <a:pPr marL="12700" marR="5080">
              <a:lnSpc>
                <a:spcPts val="1820"/>
              </a:lnSpc>
              <a:spcBef>
                <a:spcPts val="445"/>
              </a:spcBef>
            </a:pPr>
            <a:r>
              <a:rPr spc="-10" dirty="0"/>
              <a:t>loans[</a:t>
            </a:r>
            <a:r>
              <a:rPr spc="-10" dirty="0">
                <a:solidFill>
                  <a:srgbClr val="A21515"/>
                </a:solidFill>
              </a:rPr>
              <a:t>'MonthlyIncome_new'</a:t>
            </a:r>
            <a:r>
              <a:rPr spc="-10" dirty="0"/>
              <a:t>][loans[</a:t>
            </a:r>
            <a:r>
              <a:rPr spc="-10" dirty="0">
                <a:solidFill>
                  <a:srgbClr val="A21515"/>
                </a:solidFill>
              </a:rPr>
              <a:t>'MonthlyIncome'</a:t>
            </a:r>
            <a:r>
              <a:rPr spc="-10" dirty="0"/>
              <a:t>].isnull()]=loans[</a:t>
            </a:r>
            <a:r>
              <a:rPr spc="-10" dirty="0">
                <a:solidFill>
                  <a:srgbClr val="A21515"/>
                </a:solidFill>
              </a:rPr>
              <a:t>'Monthly Income'</a:t>
            </a:r>
            <a:r>
              <a:rPr spc="-10" dirty="0"/>
              <a:t>].median()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>
                <a:solidFill>
                  <a:srgbClr val="795E25"/>
                </a:solidFill>
              </a:rPr>
              <a:t>round</a:t>
            </a:r>
            <a:r>
              <a:rPr spc="-10" dirty="0"/>
              <a:t>(loans[</a:t>
            </a:r>
            <a:r>
              <a:rPr spc="-10" dirty="0">
                <a:solidFill>
                  <a:srgbClr val="A21515"/>
                </a:solidFill>
              </a:rPr>
              <a:t>'MonthlyIncome_new'</a:t>
            </a:r>
            <a:r>
              <a:rPr spc="-10" dirty="0"/>
              <a:t>].describe())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96005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Data</a:t>
            </a:r>
            <a:r>
              <a:rPr sz="6000" spc="-330" dirty="0"/>
              <a:t> </a:t>
            </a:r>
            <a:r>
              <a:rPr sz="6000" spc="-35" dirty="0"/>
              <a:t>Cleaning</a:t>
            </a:r>
            <a:r>
              <a:rPr sz="6000" spc="-325" dirty="0"/>
              <a:t> </a:t>
            </a:r>
            <a:r>
              <a:rPr sz="6000" spc="-10" dirty="0"/>
              <a:t>Other</a:t>
            </a:r>
            <a:r>
              <a:rPr sz="6000" spc="-315" dirty="0"/>
              <a:t> </a:t>
            </a:r>
            <a:r>
              <a:rPr sz="6000" spc="-55" dirty="0"/>
              <a:t>Variables</a:t>
            </a:r>
            <a:endParaRPr sz="60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Remaining</a:t>
            </a:r>
            <a:r>
              <a:rPr spc="-210" dirty="0"/>
              <a:t> </a:t>
            </a:r>
            <a:r>
              <a:rPr spc="-70" dirty="0"/>
              <a:t>Variables</a:t>
            </a:r>
            <a:r>
              <a:rPr spc="-170" dirty="0"/>
              <a:t> </a:t>
            </a:r>
            <a:r>
              <a:rPr spc="-30" dirty="0"/>
              <a:t>Imputation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8541385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Debt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Ratio: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Imputation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like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monthly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income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NumberOfOpenCreditLinesAndLoans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Imputation</a:t>
            </a:r>
            <a:endParaRPr sz="2400">
              <a:latin typeface="Trebuchet MS"/>
              <a:cs typeface="Trebuchet MS"/>
            </a:endParaRPr>
          </a:p>
          <a:p>
            <a:pPr marL="141605" marR="1577340" indent="-129539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20" dirty="0">
                <a:latin typeface="Trebuchet MS"/>
                <a:cs typeface="Trebuchet MS"/>
              </a:rPr>
              <a:t>NumberOfTimes90DaysLate: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Imputation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similar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to </a:t>
            </a:r>
            <a:r>
              <a:rPr sz="2400" spc="-10" dirty="0">
                <a:latin typeface="Trebuchet MS"/>
                <a:cs typeface="Trebuchet MS"/>
              </a:rPr>
              <a:t>NumberOfTime30_59DaysPastDueNotW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NumberRealEstateLoansOrLines: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Imputation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25" dirty="0">
                <a:latin typeface="Trebuchet MS"/>
                <a:cs typeface="Trebuchet MS"/>
              </a:rPr>
              <a:t>NumberOfTime60_89DaysPastDueNotW: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Imputation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similar</a:t>
            </a:r>
            <a:r>
              <a:rPr sz="2400" spc="-25" dirty="0">
                <a:latin typeface="Trebuchet MS"/>
                <a:cs typeface="Trebuchet MS"/>
              </a:rPr>
              <a:t> to </a:t>
            </a:r>
            <a:r>
              <a:rPr sz="2400" spc="-10" dirty="0">
                <a:latin typeface="Trebuchet MS"/>
                <a:cs typeface="Trebuchet MS"/>
              </a:rPr>
              <a:t>NumberOfTime30_59DaysPastDueNotW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NumberOfDependents: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Impute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target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Step</a:t>
            </a:r>
            <a:r>
              <a:rPr spc="-210" dirty="0"/>
              <a:t> </a:t>
            </a:r>
            <a:r>
              <a:rPr dirty="0"/>
              <a:t>by</a:t>
            </a:r>
            <a:r>
              <a:rPr spc="-200" dirty="0"/>
              <a:t> </a:t>
            </a:r>
            <a:r>
              <a:rPr spc="-55" dirty="0"/>
              <a:t>Step</a:t>
            </a:r>
            <a:r>
              <a:rPr spc="-210" dirty="0"/>
              <a:t> </a:t>
            </a:r>
            <a:r>
              <a:rPr spc="-60" dirty="0"/>
              <a:t>Process</a:t>
            </a:r>
            <a:r>
              <a:rPr spc="-200" dirty="0"/>
              <a:t> </a:t>
            </a:r>
            <a:r>
              <a:rPr dirty="0"/>
              <a:t>of</a:t>
            </a:r>
            <a:r>
              <a:rPr spc="-210" dirty="0"/>
              <a:t> </a:t>
            </a:r>
            <a:r>
              <a:rPr spc="-20" dirty="0"/>
              <a:t>Data</a:t>
            </a:r>
            <a:r>
              <a:rPr spc="-220" dirty="0"/>
              <a:t> </a:t>
            </a:r>
            <a:r>
              <a:rPr spc="-10" dirty="0"/>
              <a:t>Cleaning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92325"/>
            <a:ext cx="9916795" cy="4385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ts val="2510"/>
              </a:lnSpc>
              <a:spcBef>
                <a:spcPts val="95"/>
              </a:spcBef>
              <a:buClr>
                <a:srgbClr val="4E67C7"/>
              </a:buClr>
              <a:buAutoNum type="arabicPeriod"/>
              <a:tabLst>
                <a:tab pos="469900" algn="l"/>
              </a:tabLst>
            </a:pPr>
            <a:r>
              <a:rPr sz="2200" dirty="0">
                <a:latin typeface="Trebuchet MS"/>
                <a:cs typeface="Trebuchet MS"/>
              </a:rPr>
              <a:t>Import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get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metadata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using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info()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–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make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note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missing</a:t>
            </a:r>
            <a:endParaRPr sz="2200">
              <a:latin typeface="Trebuchet MS"/>
              <a:cs typeface="Trebuchet MS"/>
            </a:endParaRPr>
          </a:p>
          <a:p>
            <a:pPr marL="469900">
              <a:lnSpc>
                <a:spcPts val="2510"/>
              </a:lnSpc>
            </a:pPr>
            <a:r>
              <a:rPr sz="2200" dirty="0">
                <a:latin typeface="Trebuchet MS"/>
                <a:cs typeface="Trebuchet MS"/>
              </a:rPr>
              <a:t>values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basic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issues</a:t>
            </a:r>
            <a:endParaRPr sz="22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265"/>
              </a:spcBef>
              <a:buClr>
                <a:srgbClr val="4E67C7"/>
              </a:buClr>
              <a:buAutoNum type="arabicPeriod" startAt="2"/>
              <a:tabLst>
                <a:tab pos="469900" algn="l"/>
              </a:tabLst>
            </a:pPr>
            <a:r>
              <a:rPr sz="2200" dirty="0">
                <a:latin typeface="Trebuchet MS"/>
                <a:cs typeface="Trebuchet MS"/>
              </a:rPr>
              <a:t>List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down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categorical/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discrete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Continuous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variables</a:t>
            </a:r>
            <a:endParaRPr sz="2200">
              <a:latin typeface="Trebuchet MS"/>
              <a:cs typeface="Trebuchet MS"/>
            </a:endParaRPr>
          </a:p>
          <a:p>
            <a:pPr marL="469900" marR="13335" indent="-457834">
              <a:lnSpc>
                <a:spcPts val="2380"/>
              </a:lnSpc>
              <a:spcBef>
                <a:spcPts val="560"/>
              </a:spcBef>
              <a:buClr>
                <a:srgbClr val="4E67C7"/>
              </a:buClr>
              <a:buAutoNum type="arabicPeriod" startAt="2"/>
              <a:tabLst>
                <a:tab pos="469900" algn="l"/>
              </a:tabLst>
            </a:pPr>
            <a:r>
              <a:rPr sz="2200" dirty="0">
                <a:latin typeface="Trebuchet MS"/>
                <a:cs typeface="Trebuchet MS"/>
              </a:rPr>
              <a:t>Create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frequency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distributions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bar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charts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for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categorical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variables. </a:t>
            </a:r>
            <a:r>
              <a:rPr sz="2200" dirty="0">
                <a:latin typeface="Trebuchet MS"/>
                <a:cs typeface="Trebuchet MS"/>
              </a:rPr>
              <a:t>Identify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issues</a:t>
            </a:r>
            <a:endParaRPr sz="2200">
              <a:latin typeface="Trebuchet MS"/>
              <a:cs typeface="Trebuchet MS"/>
            </a:endParaRPr>
          </a:p>
          <a:p>
            <a:pPr marL="469900" indent="-457200">
              <a:lnSpc>
                <a:spcPts val="2510"/>
              </a:lnSpc>
              <a:spcBef>
                <a:spcPts val="225"/>
              </a:spcBef>
              <a:buClr>
                <a:srgbClr val="4E67C7"/>
              </a:buClr>
              <a:buAutoNum type="arabicPeriod" startAt="2"/>
              <a:tabLst>
                <a:tab pos="469900" algn="l"/>
              </a:tabLst>
            </a:pPr>
            <a:r>
              <a:rPr sz="2200" dirty="0">
                <a:latin typeface="Trebuchet MS"/>
                <a:cs typeface="Trebuchet MS"/>
              </a:rPr>
              <a:t>Create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percentile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distributions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box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plots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for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continuous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variables.</a:t>
            </a:r>
            <a:endParaRPr sz="2200">
              <a:latin typeface="Trebuchet MS"/>
              <a:cs typeface="Trebuchet MS"/>
            </a:endParaRPr>
          </a:p>
          <a:p>
            <a:pPr marL="469900">
              <a:lnSpc>
                <a:spcPts val="2510"/>
              </a:lnSpc>
            </a:pPr>
            <a:r>
              <a:rPr sz="2200" dirty="0">
                <a:latin typeface="Trebuchet MS"/>
                <a:cs typeface="Trebuchet MS"/>
              </a:rPr>
              <a:t>Identify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outliers</a:t>
            </a:r>
            <a:endParaRPr sz="22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265"/>
              </a:spcBef>
              <a:buClr>
                <a:srgbClr val="4E67C7"/>
              </a:buClr>
              <a:buAutoNum type="arabicPeriod" startAt="5"/>
              <a:tabLst>
                <a:tab pos="469900" algn="l"/>
              </a:tabLst>
            </a:pPr>
            <a:r>
              <a:rPr sz="2200" dirty="0">
                <a:latin typeface="Trebuchet MS"/>
                <a:cs typeface="Trebuchet MS"/>
              </a:rPr>
              <a:t>Clean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for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continuous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variable</a:t>
            </a:r>
            <a:endParaRPr sz="2200">
              <a:latin typeface="Trebuchet MS"/>
              <a:cs typeface="Trebuchet MS"/>
            </a:endParaRPr>
          </a:p>
          <a:p>
            <a:pPr marL="637540" lvl="1" indent="-457834">
              <a:lnSpc>
                <a:spcPct val="100000"/>
              </a:lnSpc>
              <a:spcBef>
                <a:spcPts val="240"/>
              </a:spcBef>
              <a:buClr>
                <a:srgbClr val="5ECCF3"/>
              </a:buClr>
              <a:buAutoNum type="arabicPeriod"/>
              <a:tabLst>
                <a:tab pos="637540" algn="l"/>
              </a:tabLst>
            </a:pPr>
            <a:r>
              <a:rPr sz="1900" dirty="0">
                <a:latin typeface="Trebuchet MS"/>
                <a:cs typeface="Trebuchet MS"/>
              </a:rPr>
              <a:t>&lt;10%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issues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-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impute</a:t>
            </a:r>
            <a:endParaRPr sz="1900">
              <a:latin typeface="Trebuchet MS"/>
              <a:cs typeface="Trebuchet MS"/>
            </a:endParaRPr>
          </a:p>
          <a:p>
            <a:pPr marL="637540" lvl="1" indent="-457834">
              <a:lnSpc>
                <a:spcPct val="100000"/>
              </a:lnSpc>
              <a:spcBef>
                <a:spcPts val="229"/>
              </a:spcBef>
              <a:buClr>
                <a:srgbClr val="5ECCF3"/>
              </a:buClr>
              <a:buAutoNum type="arabicPeriod"/>
              <a:tabLst>
                <a:tab pos="637540" algn="l"/>
              </a:tabLst>
            </a:pPr>
            <a:r>
              <a:rPr sz="1900" dirty="0">
                <a:latin typeface="Trebuchet MS"/>
                <a:cs typeface="Trebuchet MS"/>
              </a:rPr>
              <a:t>&gt;50%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issues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–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Create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flag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variable</a:t>
            </a:r>
            <a:endParaRPr sz="1900">
              <a:latin typeface="Trebuchet MS"/>
              <a:cs typeface="Trebuchet MS"/>
            </a:endParaRPr>
          </a:p>
          <a:p>
            <a:pPr marL="637540" lvl="1" indent="-457834">
              <a:lnSpc>
                <a:spcPct val="100000"/>
              </a:lnSpc>
              <a:spcBef>
                <a:spcPts val="225"/>
              </a:spcBef>
              <a:buClr>
                <a:srgbClr val="5ECCF3"/>
              </a:buClr>
              <a:buAutoNum type="arabicPeriod"/>
              <a:tabLst>
                <a:tab pos="637540" algn="l"/>
              </a:tabLst>
            </a:pPr>
            <a:r>
              <a:rPr sz="1900" dirty="0">
                <a:latin typeface="Trebuchet MS"/>
                <a:cs typeface="Trebuchet MS"/>
              </a:rPr>
              <a:t>10%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50%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-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Both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flag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and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imputation</a:t>
            </a:r>
            <a:endParaRPr sz="19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254"/>
              </a:spcBef>
              <a:buClr>
                <a:srgbClr val="4E67C7"/>
              </a:buClr>
              <a:buAutoNum type="arabicPeriod" startAt="5"/>
              <a:tabLst>
                <a:tab pos="469900" algn="l"/>
              </a:tabLst>
            </a:pPr>
            <a:r>
              <a:rPr sz="2200" dirty="0">
                <a:latin typeface="Trebuchet MS"/>
                <a:cs typeface="Trebuchet MS"/>
              </a:rPr>
              <a:t>Clean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for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categorical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variable</a:t>
            </a:r>
            <a:endParaRPr sz="2200">
              <a:latin typeface="Trebuchet MS"/>
              <a:cs typeface="Trebuchet MS"/>
            </a:endParaRPr>
          </a:p>
          <a:p>
            <a:pPr marL="637540" lvl="1" indent="-457834">
              <a:lnSpc>
                <a:spcPct val="100000"/>
              </a:lnSpc>
              <a:spcBef>
                <a:spcPts val="240"/>
              </a:spcBef>
              <a:buClr>
                <a:srgbClr val="5ECCF3"/>
              </a:buClr>
              <a:buAutoNum type="arabicPeriod"/>
              <a:tabLst>
                <a:tab pos="637540" algn="l"/>
              </a:tabLst>
            </a:pPr>
            <a:r>
              <a:rPr sz="1900" dirty="0">
                <a:latin typeface="Trebuchet MS"/>
                <a:cs typeface="Trebuchet MS"/>
              </a:rPr>
              <a:t>impute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based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on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the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target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variable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3752"/>
            <a:ext cx="35153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5" dirty="0"/>
              <a:t>Conclusion</a:t>
            </a:r>
            <a:endParaRPr sz="6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797"/>
            <a:ext cx="9488170" cy="25139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cleaning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important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analysis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Sometimes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80%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overall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project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time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spent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cleaning</a:t>
            </a:r>
            <a:endParaRPr sz="2400">
              <a:latin typeface="Trebuchet MS"/>
              <a:cs typeface="Trebuchet MS"/>
            </a:endParaRPr>
          </a:p>
          <a:p>
            <a:pPr marL="141605" marR="97790" indent="-129539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cleaning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needs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patience,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need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clean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individual variable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Apart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suggested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methods,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many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heuristic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ways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of</a:t>
            </a:r>
            <a:endParaRPr sz="2400">
              <a:latin typeface="Trebuchet MS"/>
              <a:cs typeface="Trebuchet MS"/>
            </a:endParaRPr>
          </a:p>
          <a:p>
            <a:pPr marL="141605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cleaning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5C6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4306</Words>
  <Application>Microsoft Office PowerPoint</Application>
  <PresentationFormat>Widescreen</PresentationFormat>
  <Paragraphs>860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0" baseType="lpstr">
      <vt:lpstr>Arial</vt:lpstr>
      <vt:lpstr>Calibri</vt:lpstr>
      <vt:lpstr>Consolas</vt:lpstr>
      <vt:lpstr>Franklin Gothic Medium</vt:lpstr>
      <vt:lpstr>Times New Roman</vt:lpstr>
      <vt:lpstr>Trebuchet MS</vt:lpstr>
      <vt:lpstr>Office Theme</vt:lpstr>
      <vt:lpstr>PowerPoint Presentation</vt:lpstr>
      <vt:lpstr>Contents</vt:lpstr>
      <vt:lpstr>Model Building Life Cycle</vt:lpstr>
      <vt:lpstr>Data Exploration and Validation</vt:lpstr>
      <vt:lpstr>Model Building Life Cycle</vt:lpstr>
      <vt:lpstr>Raw Data - issues</vt:lpstr>
      <vt:lpstr>The raw data is dirty</vt:lpstr>
      <vt:lpstr>Preparing data for analysis</vt:lpstr>
      <vt:lpstr>Case Study- Data Exploration</vt:lpstr>
      <vt:lpstr>Give me some credit data</vt:lpstr>
      <vt:lpstr>Data Dictionary</vt:lpstr>
      <vt:lpstr>Data Dictionary</vt:lpstr>
      <vt:lpstr>Steps in Data Exploration and Cleaning</vt:lpstr>
      <vt:lpstr>Step-1: Basic details of the data</vt:lpstr>
      <vt:lpstr>Check the Metadata</vt:lpstr>
      <vt:lpstr>Print first few records</vt:lpstr>
      <vt:lpstr>Lab: Basic contents of the data</vt:lpstr>
      <vt:lpstr>Code: Basic contents of the data</vt:lpstr>
      <vt:lpstr>Code: Basic contents of the data</vt:lpstr>
      <vt:lpstr>Categorical, Discrete and Continuous Variables</vt:lpstr>
      <vt:lpstr>Data Dictionary</vt:lpstr>
      <vt:lpstr>Step-2: Categorical and Discrete variables exploration</vt:lpstr>
      <vt:lpstr>The Frequency Table and summary</vt:lpstr>
      <vt:lpstr>The Frequency Table - Visualization</vt:lpstr>
      <vt:lpstr>Check Points</vt:lpstr>
      <vt:lpstr>Lab: Frequencies &amp; Bar charts</vt:lpstr>
      <vt:lpstr>Code: Frequencies</vt:lpstr>
      <vt:lpstr>Data Dictionary</vt:lpstr>
      <vt:lpstr>Step-3: Continuous variables exploration</vt:lpstr>
      <vt:lpstr>Summary of Continuous variables</vt:lpstr>
      <vt:lpstr>Visualization of Continuous variables</vt:lpstr>
      <vt:lpstr>Check Points</vt:lpstr>
      <vt:lpstr>LAB: Continuous variables summary</vt:lpstr>
      <vt:lpstr>Code: Continuous variables summary</vt:lpstr>
      <vt:lpstr>Code: Continuous variables summary</vt:lpstr>
      <vt:lpstr>Data Cleaning</vt:lpstr>
      <vt:lpstr>Data Cleaning</vt:lpstr>
      <vt:lpstr>Keeping the outliers</vt:lpstr>
      <vt:lpstr>Deleting the outliers – Not a good option</vt:lpstr>
      <vt:lpstr>Deleting the outliers – Not a good option</vt:lpstr>
      <vt:lpstr>Deleting the outliers – Not a good option</vt:lpstr>
      <vt:lpstr>Reason for Missing values &amp; Outliers</vt:lpstr>
      <vt:lpstr>Magnitude of the errors</vt:lpstr>
      <vt:lpstr>&gt;50% data has issues</vt:lpstr>
      <vt:lpstr>&gt;50% data has issues</vt:lpstr>
      <vt:lpstr>&gt;50% data has issues</vt:lpstr>
      <vt:lpstr>&gt;50% data has issues</vt:lpstr>
      <vt:lpstr>Imputation</vt:lpstr>
      <vt:lpstr>Magnitude of the errors</vt:lpstr>
      <vt:lpstr>Standalone imputation</vt:lpstr>
      <vt:lpstr>Imputation type2</vt:lpstr>
      <vt:lpstr>Step-4: Missing Values and Outlier Treatment</vt:lpstr>
      <vt:lpstr>PowerPoint Presentation</vt:lpstr>
      <vt:lpstr>Data Cleaning Scenario-1</vt:lpstr>
      <vt:lpstr>RevolvingUtilizationOfUnsecuredLines</vt:lpstr>
      <vt:lpstr>PowerPoint Presentation</vt:lpstr>
      <vt:lpstr>PowerPoint Presentation</vt:lpstr>
      <vt:lpstr>Data Cleaning</vt:lpstr>
      <vt:lpstr>LAB: Data Cleaning Scenario-1</vt:lpstr>
      <vt:lpstr>Code: Data Cleaning Scenario-1</vt:lpstr>
      <vt:lpstr>Data Cleaning Scenario-2</vt:lpstr>
      <vt:lpstr>Categorical Variables imputation</vt:lpstr>
      <vt:lpstr>Categorical Variables imputation</vt:lpstr>
      <vt:lpstr>Categorical Variables imputation</vt:lpstr>
      <vt:lpstr>Categorical Variables imputation</vt:lpstr>
      <vt:lpstr>NumberOfTime30_59DaysPastDueNotW</vt:lpstr>
      <vt:lpstr>PowerPoint Presentation</vt:lpstr>
      <vt:lpstr>PowerPoint Presentation</vt:lpstr>
      <vt:lpstr>LAB: Data Cleaning Scenario-2</vt:lpstr>
      <vt:lpstr>Code: Data Cleaning Scenario-2</vt:lpstr>
      <vt:lpstr>Code: Data Cleaning Scenario-2</vt:lpstr>
      <vt:lpstr>Data Cleaning Scenario-3</vt:lpstr>
      <vt:lpstr>Monthly Income</vt:lpstr>
      <vt:lpstr>Issues are between 10%-50%</vt:lpstr>
      <vt:lpstr>PowerPoint Presentation</vt:lpstr>
      <vt:lpstr>PowerPoint Presentation</vt:lpstr>
      <vt:lpstr>LAB: Monthly Income</vt:lpstr>
      <vt:lpstr>LAB: Monthly Income</vt:lpstr>
      <vt:lpstr>Data Cleaning Other Variables</vt:lpstr>
      <vt:lpstr>Remaining Variables Imputation</vt:lpstr>
      <vt:lpstr>Step by Step Process of Data Cleaning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 Reddy</dc:creator>
  <cp:lastModifiedBy>Hasan Raza Ali</cp:lastModifiedBy>
  <cp:revision>1</cp:revision>
  <dcterms:created xsi:type="dcterms:W3CDTF">2026-04-24T11:27:19Z</dcterms:created>
  <dcterms:modified xsi:type="dcterms:W3CDTF">2026-04-24T11:32:31Z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2026-04-24T00:00:00Z</vt:filetime>
  </property>
  <property fmtid="{D5CDD505-2E9C-101B-9397-08002B2CF9AE}" pid="5" name="Producer">
    <vt:lpwstr>3-Heights(TM) PDF Security Shell 4.8.25.2 (http://www.pdf-tools.com)</vt:lpwstr>
  </property>
</Properties>
</file>