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members of the Executive Credit Committee. Today I am presenting our Machine Learning Credit Risk Prediction Model. Historically, our retail lending decisions relied on static credit scores that often failed to capture complex non-linear default risks. By analyzing 1,000 historical applicant profiles, we have built and benchmarked a predictive model engineered specifically to reduce bad debt. As you know, missing a defaulter costs the bank 100% of the loan principal, whereas rejecting a good customer costs only our net interest margin. Our model hierarchy explicitly reflects this asymmetry by prioritizing Recall and ROC-AUC over basic accuracy. Today, I will demonstrate why our Random Forest model is ready for production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why we chose our winning model, we must look at our P&amp;L mechanics. A False Negative—approving an applicant who ultimately defaults—means losing the principal amount entirely. A False Positive—rejecting a good customer—means losing a marginal percentage in interest income. In a retail portfolio with a 30% baseline default rate, optimizing for simple Accuracy is dangerous because a naive model could guess 'Good' every time and get 70% accuracy while losing millions. Our target metric hierarchy ranks Recall first to catch defaulters, ROC-AUC second to measure separation quality, F1-Score third to balance precision, and Accuracy last.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analysis is grounded in 1,000 historical customer records. The dataset reflects a realistic retail lending portfolio, where 70% of borrowers fulfill their obligations and 30% default. To ensure rigorous benchmarking, we separated 200 applicants into a completely unseen test set using an 80/20 stratified split. This ensures our model is evaluated under realistic conditions where the 70/30 class proportion is maintained.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financial data is rarely ready for machine learning. We executed a rigorous feature engineering pipeline. First, we scrubbed noise by removing administrative fields like observation ID and phone numbers. Second, text descriptions for employment duration and residence history were parsed into exact numeric years. Third, missing values were imputed using robust median values for continuous fields and designated category markers for categorical fields. Finally, we normalized all variables using StandardScaler and one-hot encoded categorical factors. This prevented scale-sensitive algorithms like SVM and Logistic Regression from misinterpreting variable magnitudes.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benchmarked four machine learning models on the 200-applicant test set, utilizing balanced class weights to address class imbalance. As shown on the benchmark table, Logistic Regression provided a solid baseline with a 0.745 ROC-AUC. Decision Tree achieved high recall at 75.0% but suffered from a poor 43.7% Precision, rejecting far too many good borrowers. SVM achieved a strong 0.753 ROC-AUC but lagged in overall Accuracy (68.0%). Random Forest emerged as the clear winner across our criteria, delivering the highest Accuracy (76.0%), highest F1-Score (0.600), and highest ROC-AUC (0.772).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core factors justify selecting Random Forest as our production engine. First, superior discrimination: its 0.772 ROC-AUC means it consistently ranks high-risk applicants above low-risk ones across all operating cutoffs. Second, optimal financial balance: its 0.600 F1-Score represents the ideal sweet spot where we capture default risk without destroying customer acquisition volume. Third, ensemble stability: by combining 100 individual decision trees, the model eliminates single-tree instability, making it robust against noise in applicant financial statements.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 learning models must never be black boxes to this committee. Our Random Forest feature importance analysis reveals exactly what drives default risk. The single most powerful predictor is Checking Account Balance at 12.83% importance, followed by Savings Account Balance at 9.76%. Together, liquid cash reserves account for over 22% of the decision model. Loan Amount (9.39%) and Duration (7.86%) follow closely. Crucially, applicant stability indicators—employment length (7.75%), age (7.60%), and residence history (7.02%)—outweigh static debt-to-income metrics like Installment Rate (3.35%).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innovation in our delivery is threshold flexibility. We do not have to lock into a single static cutoff. Under our standard Balanced Policy at T=0.50, we achieve 76.0% accuracy and catch 61.7% of defaults. However, if macroeconomic indicators signal an impending recession, the CRO can adjust the threshold down to T=0.45. This Risk-Averse setting increases our default detection rate to 71.7%—capturing nearly 72 out of every 100 defaulters. If crisis conditions emerge, dropping to T=0.40 captures 78.3% of defaulters. This gives credit risk management a real-time steering wheel.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integrate this model into retail branch and digital channels, we propose a 3-tier operational deployment engine. Applicants with a predicted default probability below 0.25 enter the Green Lane for instant automated approval. Applicants scoring above 0.50 enter the Red Lane for automated rejection, unless they can provide a co-guarantor or 120% asset collateral. The middle cohort—scoring between 0.25 and 0.50—enters the Yellow Lane. Here, our human underwriters conduct targeted reviews. This 3-tier structure dramatically lowers processing overhead while maintaining strict risk controls.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adopting this Random Forest credit risk engine equips our bank with an empirical defense against loan default losses. By capturing up to 78% of defaults and automating low-risk approvals, we protect our balance sheet while enhancing customer turnaround times. We request the Executive Credit Committee’s authorization to proceed with Phase 1 IT integration and shadow testing. Thank you for your leadership and vision, and I welcome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A2C"/>
        </a:solidFill>
        <a:effectLst/>
      </p:bgPr>
    </p:bg>
    <p:spTree>
      <p:nvGrpSpPr>
        <p:cNvPr id="1" name=""/>
        <p:cNvGrpSpPr/>
        <p:nvPr/>
      </p:nvGrpSpPr>
      <p:grpSpPr/>
      <p:sp>
        <p:nvSpPr>
          <p:cNvPr id="2" name="TextBox 1"/>
          <p:cNvSpPr txBox="1"/>
          <p:nvPr/>
        </p:nvSpPr>
        <p:spPr>
          <a:xfrm>
            <a:off x="914400" y="1371600"/>
            <a:ext cx="10362895" cy="2011680"/>
          </a:xfrm>
          <a:prstGeom prst="rect">
            <a:avLst/>
          </a:prstGeom>
          <a:noFill/>
        </p:spPr>
        <p:txBody>
          <a:bodyPr wrap="square">
            <a:spAutoFit/>
          </a:bodyPr>
          <a:lstStyle/>
          <a:p>
            <a:pPr>
              <a:defRPr sz="3200" b="1">
                <a:solidFill>
                  <a:srgbClr val="C59B27"/>
                </a:solidFill>
                <a:latin typeface="Georgia"/>
              </a:defRPr>
            </a:pPr>
            <a:r>
              <a:t>CREDIT RISK PREDICTION &amp; DEFAULT ANALYSIS MODEL</a:t>
            </a:r>
          </a:p>
          <a:p>
            <a:pPr>
              <a:spcBef>
                <a:spcPts val="1200"/>
              </a:spcBef>
              <a:defRPr sz="1800">
                <a:solidFill>
                  <a:srgbClr val="E6EBF5"/>
                </a:solidFill>
                <a:latin typeface="Verdana"/>
              </a:defRPr>
            </a:pPr>
            <a:r>
              <a:t>Probabilistic Machine Learning Framework for Retail Credit Underwriting</a:t>
            </a:r>
          </a:p>
          <a:p>
            <a:pPr>
              <a:spcBef>
                <a:spcPts val="2000"/>
              </a:spcBef>
              <a:defRPr sz="1300">
                <a:solidFill>
                  <a:srgbClr val="B4C3D7"/>
                </a:solidFill>
                <a:latin typeface="Verdana"/>
              </a:defRPr>
            </a:pPr>
            <a:r>
              <a:t>Prepared for the Executive Credit Committee | Senior Machine Learning Risk Analyst</a:t>
            </a:r>
          </a:p>
        </p:txBody>
      </p:sp>
      <p:sp>
        <p:nvSpPr>
          <p:cNvPr id="3" name="Rectangle 2"/>
          <p:cNvSpPr/>
          <p:nvPr/>
        </p:nvSpPr>
        <p:spPr>
          <a:xfrm>
            <a:off x="914400" y="3657600"/>
            <a:ext cx="10362895" cy="25400"/>
          </a:xfrm>
          <a:prstGeom prst="rect">
            <a:avLst/>
          </a:prstGeom>
          <a:solidFill>
            <a:srgbClr val="C59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4114800"/>
            <a:ext cx="2423160" cy="1645920"/>
          </a:xfrm>
          <a:prstGeom prst="roundRect">
            <a:avLst/>
          </a:prstGeom>
          <a:solidFill>
            <a:srgbClr val="192841"/>
          </a:solidFill>
          <a:ln w="12700">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2000" b="1">
                <a:solidFill>
                  <a:srgbClr val="C59B27"/>
                </a:solidFill>
                <a:latin typeface="Georgia"/>
              </a:defRPr>
            </a:pPr>
            <a:r>
              <a:t>1,000 Applicants</a:t>
            </a:r>
          </a:p>
          <a:p>
            <a:pPr algn="ctr">
              <a:spcBef>
                <a:spcPts val="800"/>
              </a:spcBef>
              <a:defRPr sz="1100">
                <a:solidFill>
                  <a:srgbClr val="DCE6F5"/>
                </a:solidFill>
                <a:latin typeface="Verdana"/>
              </a:defRPr>
            </a:pPr>
            <a:r>
              <a:t>Baseline Evaluation Cohort</a:t>
            </a:r>
          </a:p>
        </p:txBody>
      </p:sp>
      <p:sp>
        <p:nvSpPr>
          <p:cNvPr id="5" name="Rounded Rectangle 4"/>
          <p:cNvSpPr/>
          <p:nvPr/>
        </p:nvSpPr>
        <p:spPr>
          <a:xfrm>
            <a:off x="3557016" y="4114800"/>
            <a:ext cx="2423160" cy="1645920"/>
          </a:xfrm>
          <a:prstGeom prst="roundRect">
            <a:avLst/>
          </a:prstGeom>
          <a:solidFill>
            <a:srgbClr val="192841"/>
          </a:solidFill>
          <a:ln w="12700">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2000" b="1">
                <a:solidFill>
                  <a:srgbClr val="C59B27"/>
                </a:solidFill>
                <a:latin typeface="Georgia"/>
              </a:defRPr>
            </a:pPr>
            <a:r>
              <a:t>0.772 ROC-AUC</a:t>
            </a:r>
          </a:p>
          <a:p>
            <a:pPr algn="ctr">
              <a:spcBef>
                <a:spcPts val="800"/>
              </a:spcBef>
              <a:defRPr sz="1100">
                <a:solidFill>
                  <a:srgbClr val="DCE6F5"/>
                </a:solidFill>
                <a:latin typeface="Verdana"/>
              </a:defRPr>
            </a:pPr>
            <a:r>
              <a:t>Winning Random Forest Metric</a:t>
            </a:r>
          </a:p>
        </p:txBody>
      </p:sp>
      <p:sp>
        <p:nvSpPr>
          <p:cNvPr id="6" name="Rounded Rectangle 5"/>
          <p:cNvSpPr/>
          <p:nvPr/>
        </p:nvSpPr>
        <p:spPr>
          <a:xfrm>
            <a:off x="6199632" y="4114800"/>
            <a:ext cx="2423160" cy="1645920"/>
          </a:xfrm>
          <a:prstGeom prst="roundRect">
            <a:avLst/>
          </a:prstGeom>
          <a:solidFill>
            <a:srgbClr val="192841"/>
          </a:solidFill>
          <a:ln w="12700">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2000" b="1">
                <a:solidFill>
                  <a:srgbClr val="C59B27"/>
                </a:solidFill>
                <a:latin typeface="Georgia"/>
              </a:defRPr>
            </a:pPr>
            <a:r>
              <a:t>76.0% Accuracy</a:t>
            </a:r>
          </a:p>
          <a:p>
            <a:pPr algn="ctr">
              <a:spcBef>
                <a:spcPts val="800"/>
              </a:spcBef>
              <a:defRPr sz="1100">
                <a:solidFill>
                  <a:srgbClr val="DCE6F5"/>
                </a:solidFill>
                <a:latin typeface="Verdana"/>
              </a:defRPr>
            </a:pPr>
            <a:r>
              <a:t>Holdout Test Set Performance</a:t>
            </a:r>
          </a:p>
        </p:txBody>
      </p:sp>
      <p:sp>
        <p:nvSpPr>
          <p:cNvPr id="7" name="Rounded Rectangle 6"/>
          <p:cNvSpPr/>
          <p:nvPr/>
        </p:nvSpPr>
        <p:spPr>
          <a:xfrm>
            <a:off x="8842248" y="4114800"/>
            <a:ext cx="2423160" cy="1645920"/>
          </a:xfrm>
          <a:prstGeom prst="roundRect">
            <a:avLst/>
          </a:prstGeom>
          <a:solidFill>
            <a:srgbClr val="192841"/>
          </a:solidFill>
          <a:ln w="12700">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2000" b="1">
                <a:solidFill>
                  <a:srgbClr val="C59B27"/>
                </a:solidFill>
                <a:latin typeface="Georgia"/>
              </a:defRPr>
            </a:pPr>
            <a:r>
              <a:t>61.7% - 78.3%</a:t>
            </a:r>
          </a:p>
          <a:p>
            <a:pPr algn="ctr">
              <a:spcBef>
                <a:spcPts val="800"/>
              </a:spcBef>
              <a:defRPr sz="1100">
                <a:solidFill>
                  <a:srgbClr val="DCE6F5"/>
                </a:solidFill>
                <a:latin typeface="Verdana"/>
              </a:defRPr>
            </a:pPr>
            <a:r>
              <a:t>Target Default Capture Range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C59B27"/>
                </a:solidFill>
                <a:latin typeface="Verdana"/>
              </a:defRPr>
            </a:pPr>
            <a:r>
              <a:t>EXECUTIVE CREDIT COMMITTEE BRIEFING</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F1A2C"/>
                </a:solidFill>
                <a:latin typeface="Georgia"/>
              </a:defRPr>
            </a:pPr>
            <a:r>
              <a:t>Asymmetric Credit Risk Mandates Prioritizing Default Recall Over Simple Accuracy</a:t>
            </a:r>
          </a:p>
        </p:txBody>
      </p:sp>
      <p:sp>
        <p:nvSpPr>
          <p:cNvPr id="4" name="Rectangle 3"/>
          <p:cNvSpPr/>
          <p:nvPr/>
        </p:nvSpPr>
        <p:spPr>
          <a:xfrm>
            <a:off x="731520" y="1371600"/>
            <a:ext cx="10728655" cy="25400"/>
          </a:xfrm>
          <a:prstGeom prst="rect">
            <a:avLst/>
          </a:prstGeom>
          <a:solidFill>
            <a:srgbClr val="C59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292608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C62828"/>
                </a:solidFill>
                <a:latin typeface="Georgia"/>
              </a:defRPr>
            </a:pPr>
            <a:r>
              <a:t>FALSE NEGATIVE COST (Missing a Defaulter)</a:t>
            </a:r>
          </a:p>
          <a:p>
            <a:pPr>
              <a:spcBef>
                <a:spcPts val="600"/>
              </a:spcBef>
              <a:defRPr sz="1100">
                <a:solidFill>
                  <a:srgbClr val="141E2D"/>
                </a:solidFill>
                <a:latin typeface="Verdana"/>
              </a:defRPr>
            </a:pPr>
            <a:r>
              <a:t>• Financial Impact: Loss of 100% unrecovered principal.</a:t>
            </a:r>
          </a:p>
          <a:p>
            <a:pPr>
              <a:spcBef>
                <a:spcPts val="600"/>
              </a:spcBef>
              <a:defRPr sz="1100">
                <a:solidFill>
                  <a:srgbClr val="141E2D"/>
                </a:solidFill>
                <a:latin typeface="Verdana"/>
              </a:defRPr>
            </a:pPr>
            <a:r>
              <a:t>• P&amp;L Severity: Direct balance sheet write-off and capital erosion.</a:t>
            </a:r>
          </a:p>
          <a:p>
            <a:pPr>
              <a:spcBef>
                <a:spcPts val="600"/>
              </a:spcBef>
              <a:defRPr sz="1100">
                <a:solidFill>
                  <a:srgbClr val="141E2D"/>
                </a:solidFill>
                <a:latin typeface="Verdana"/>
              </a:defRPr>
            </a:pPr>
            <a:r>
              <a:t>• Underwriting Failure: Approving an applicant who defaults severely damages portfolio net interest margin.</a:t>
            </a:r>
          </a:p>
          <a:p>
            <a:pPr>
              <a:spcBef>
                <a:spcPts val="600"/>
              </a:spcBef>
              <a:defRPr sz="1100">
                <a:solidFill>
                  <a:srgbClr val="141E2D"/>
                </a:solidFill>
                <a:latin typeface="Verdana"/>
              </a:defRPr>
            </a:pPr>
            <a:r>
              <a:t>• Risk Mitigation: Model must actively prioritize catching the 30% bad loan population.</a:t>
            </a:r>
          </a:p>
        </p:txBody>
      </p:sp>
      <p:sp>
        <p:nvSpPr>
          <p:cNvPr id="6" name="Rounded Rectangle 5"/>
          <p:cNvSpPr/>
          <p:nvPr/>
        </p:nvSpPr>
        <p:spPr>
          <a:xfrm>
            <a:off x="6339535" y="1645920"/>
            <a:ext cx="5120640" cy="292608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E65100"/>
                </a:solidFill>
                <a:latin typeface="Georgia"/>
              </a:defRPr>
            </a:pPr>
            <a:r>
              <a:t>FALSE POSITIVE COST (Rejecting Good Borrower)</a:t>
            </a:r>
          </a:p>
          <a:p>
            <a:pPr>
              <a:spcBef>
                <a:spcPts val="600"/>
              </a:spcBef>
              <a:defRPr sz="1100">
                <a:solidFill>
                  <a:srgbClr val="141E2D"/>
                </a:solidFill>
                <a:latin typeface="Verdana"/>
              </a:defRPr>
            </a:pPr>
            <a:r>
              <a:t>• Financial Impact: Lost net interest margin &amp; fee income.</a:t>
            </a:r>
          </a:p>
          <a:p>
            <a:pPr>
              <a:spcBef>
                <a:spcPts val="600"/>
              </a:spcBef>
              <a:defRPr sz="1100">
                <a:solidFill>
                  <a:srgbClr val="141E2D"/>
                </a:solidFill>
                <a:latin typeface="Verdana"/>
              </a:defRPr>
            </a:pPr>
            <a:r>
              <a:t>• P&amp;L Severity: Opportunity cost and lost customer lifetime value.</a:t>
            </a:r>
          </a:p>
          <a:p>
            <a:pPr>
              <a:spcBef>
                <a:spcPts val="600"/>
              </a:spcBef>
              <a:defRPr sz="1100">
                <a:solidFill>
                  <a:srgbClr val="141E2D"/>
                </a:solidFill>
                <a:latin typeface="Verdana"/>
              </a:defRPr>
            </a:pPr>
            <a:r>
              <a:t>• Competitive Friction: Excessively strict rules drive good borrowers to competing lending institutions.</a:t>
            </a:r>
          </a:p>
          <a:p>
            <a:pPr>
              <a:spcBef>
                <a:spcPts val="600"/>
              </a:spcBef>
              <a:defRPr sz="1100">
                <a:solidFill>
                  <a:srgbClr val="141E2D"/>
                </a:solidFill>
                <a:latin typeface="Verdana"/>
              </a:defRPr>
            </a:pPr>
            <a:r>
              <a:t>• Optimization Goal: Minimize friction while maintaining strict risk boundaries.</a:t>
            </a:r>
          </a:p>
        </p:txBody>
      </p:sp>
      <p:sp>
        <p:nvSpPr>
          <p:cNvPr id="7" name="Rounded Rectangle 6"/>
          <p:cNvSpPr/>
          <p:nvPr/>
        </p:nvSpPr>
        <p:spPr>
          <a:xfrm>
            <a:off x="731520" y="4754880"/>
            <a:ext cx="10728655" cy="1554480"/>
          </a:xfrm>
          <a:prstGeom prst="roundRect">
            <a:avLst/>
          </a:prstGeom>
          <a:solidFill>
            <a:srgbClr val="EBF2FA"/>
          </a:solidFill>
          <a:ln w="12700">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0F1A2C"/>
                </a:solidFill>
                <a:latin typeface="Georgia"/>
              </a:defRPr>
            </a:pPr>
            <a:r>
              <a:t>MODEL EVALUATION METRIC HIERARCHY (ASymmetric Risk Alignment)</a:t>
            </a:r>
          </a:p>
          <a:p>
            <a:pPr>
              <a:spcBef>
                <a:spcPts val="400"/>
              </a:spcBef>
              <a:defRPr sz="1600" b="1">
                <a:solidFill>
                  <a:srgbClr val="C59B27"/>
                </a:solidFill>
                <a:latin typeface="Verdana"/>
              </a:defRPr>
            </a:pPr>
            <a:r>
              <a:t>1. Recall (Sensitivity)  &gt;  2. ROC-AUC  &gt;  3. F1-Score  &gt;  4. Accuracy</a:t>
            </a:r>
          </a:p>
          <a:p>
            <a:pPr>
              <a:spcBef>
                <a:spcPts val="400"/>
              </a:spcBef>
              <a:defRPr sz="1100">
                <a:solidFill>
                  <a:srgbClr val="4A5568"/>
                </a:solidFill>
                <a:latin typeface="Verdana"/>
              </a:defRPr>
            </a:pPr>
            <a:r>
              <a:t>Rationale: Standard Accuracy treats both errors equally. In a 70:30 portfolio, a naive model guessing 'Good' achieves 70% accuracy but loses millions. We prioritize Recall &amp; ROC-AUC to maximize default detection.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C59B27"/>
                </a:solidFill>
                <a:latin typeface="Verdana"/>
              </a:defRPr>
            </a:pPr>
            <a:r>
              <a:t>EXECUTIVE CREDIT COMMITTEE BRIEFING</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F1A2C"/>
                </a:solidFill>
                <a:latin typeface="Georgia"/>
              </a:defRPr>
            </a:pPr>
            <a:r>
              <a:t>Historical Baseline Analysis Reveals 30% Portfolio Default Rate Across 1,000 Applicants</a:t>
            </a:r>
          </a:p>
        </p:txBody>
      </p:sp>
      <p:sp>
        <p:nvSpPr>
          <p:cNvPr id="4" name="Rectangle 3"/>
          <p:cNvSpPr/>
          <p:nvPr/>
        </p:nvSpPr>
        <p:spPr>
          <a:xfrm>
            <a:off x="731520" y="1371600"/>
            <a:ext cx="10728655" cy="25400"/>
          </a:xfrm>
          <a:prstGeom prst="rect">
            <a:avLst/>
          </a:prstGeom>
          <a:solidFill>
            <a:srgbClr val="C59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468880" cy="118872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defRPr sz="2200" b="1">
                <a:solidFill>
                  <a:srgbClr val="0F1A2C"/>
                </a:solidFill>
                <a:latin typeface="Georgia"/>
              </a:defRPr>
            </a:pPr>
            <a:r>
              <a:t>1,000</a:t>
            </a:r>
          </a:p>
          <a:p>
            <a:pPr algn="ctr">
              <a:spcBef>
                <a:spcPts val="400"/>
              </a:spcBef>
              <a:defRPr sz="1000">
                <a:solidFill>
                  <a:srgbClr val="4A5568"/>
                </a:solidFill>
                <a:latin typeface="Verdana"/>
              </a:defRPr>
            </a:pPr>
            <a:r>
              <a:t>Total Loan Applicants</a:t>
            </a:r>
          </a:p>
        </p:txBody>
      </p:sp>
      <p:sp>
        <p:nvSpPr>
          <p:cNvPr id="6" name="Rounded Rectangle 5"/>
          <p:cNvSpPr/>
          <p:nvPr/>
        </p:nvSpPr>
        <p:spPr>
          <a:xfrm>
            <a:off x="3483864" y="1645920"/>
            <a:ext cx="2468880" cy="118872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defRPr sz="2200" b="1">
                <a:solidFill>
                  <a:srgbClr val="0F1A2C"/>
                </a:solidFill>
                <a:latin typeface="Georgia"/>
              </a:defRPr>
            </a:pPr>
            <a:r>
              <a:t>70% / 30%</a:t>
            </a:r>
          </a:p>
          <a:p>
            <a:pPr algn="ctr">
              <a:spcBef>
                <a:spcPts val="400"/>
              </a:spcBef>
              <a:defRPr sz="1000">
                <a:solidFill>
                  <a:srgbClr val="4A5568"/>
                </a:solidFill>
                <a:latin typeface="Verdana"/>
              </a:defRPr>
            </a:pPr>
            <a:r>
              <a:t>Good (700) vs Bad (300)</a:t>
            </a:r>
          </a:p>
        </p:txBody>
      </p:sp>
      <p:sp>
        <p:nvSpPr>
          <p:cNvPr id="7" name="Rounded Rectangle 6"/>
          <p:cNvSpPr/>
          <p:nvPr/>
        </p:nvSpPr>
        <p:spPr>
          <a:xfrm>
            <a:off x="6236208" y="1645920"/>
            <a:ext cx="2468880" cy="118872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defRPr sz="2200" b="1">
                <a:solidFill>
                  <a:srgbClr val="0F1A2C"/>
                </a:solidFill>
                <a:latin typeface="Georgia"/>
              </a:defRPr>
            </a:pPr>
            <a:r>
              <a:t>200</a:t>
            </a:r>
          </a:p>
          <a:p>
            <a:pPr algn="ctr">
              <a:spcBef>
                <a:spcPts val="400"/>
              </a:spcBef>
              <a:defRPr sz="1000">
                <a:solidFill>
                  <a:srgbClr val="4A5568"/>
                </a:solidFill>
                <a:latin typeface="Verdana"/>
              </a:defRPr>
            </a:pPr>
            <a:r>
              <a:t>Holdout Test Cohort (20%)</a:t>
            </a:r>
          </a:p>
        </p:txBody>
      </p:sp>
      <p:sp>
        <p:nvSpPr>
          <p:cNvPr id="8" name="Rounded Rectangle 7"/>
          <p:cNvSpPr/>
          <p:nvPr/>
        </p:nvSpPr>
        <p:spPr>
          <a:xfrm>
            <a:off x="8988552" y="1645920"/>
            <a:ext cx="2468880" cy="118872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defRPr sz="2200" b="1">
                <a:solidFill>
                  <a:srgbClr val="0F1A2C"/>
                </a:solidFill>
                <a:latin typeface="Georgia"/>
              </a:defRPr>
            </a:pPr>
            <a:r>
              <a:t>30.0%</a:t>
            </a:r>
          </a:p>
          <a:p>
            <a:pPr algn="ctr">
              <a:spcBef>
                <a:spcPts val="400"/>
              </a:spcBef>
              <a:defRPr sz="1000">
                <a:solidFill>
                  <a:srgbClr val="4A5568"/>
                </a:solidFill>
                <a:latin typeface="Verdana"/>
              </a:defRPr>
            </a:pPr>
            <a:r>
              <a:t>Baseline Portfolio Default Rate</a:t>
            </a:r>
          </a:p>
        </p:txBody>
      </p:sp>
      <p:sp>
        <p:nvSpPr>
          <p:cNvPr id="9" name="Rounded Rectangle 8"/>
          <p:cNvSpPr/>
          <p:nvPr/>
        </p:nvSpPr>
        <p:spPr>
          <a:xfrm>
            <a:off x="731520" y="3017520"/>
            <a:ext cx="5120640" cy="329184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F1A2C"/>
                </a:solidFill>
                <a:latin typeface="Georgia"/>
              </a:defRPr>
            </a:pPr>
            <a:r>
              <a:t>PORTFOLIO DISTRIBUTION &amp; STRATIFICATION</a:t>
            </a:r>
          </a:p>
          <a:p>
            <a:pPr>
              <a:spcBef>
                <a:spcPts val="800"/>
              </a:spcBef>
              <a:defRPr sz="1100">
                <a:solidFill>
                  <a:srgbClr val="141E2D"/>
                </a:solidFill>
                <a:latin typeface="Verdana"/>
              </a:defRPr>
            </a:pPr>
            <a:r>
              <a:t>• Primary Dataset: 1,000 historical credit applicant records.</a:t>
            </a:r>
          </a:p>
          <a:p>
            <a:pPr>
              <a:spcBef>
                <a:spcPts val="800"/>
              </a:spcBef>
              <a:defRPr sz="1100">
                <a:solidFill>
                  <a:srgbClr val="141E2D"/>
                </a:solidFill>
                <a:latin typeface="Verdana"/>
              </a:defRPr>
            </a:pPr>
            <a:r>
              <a:t>• Class Balance: 700 Good Credit (70%) vs 300 Bad Credit (30%).</a:t>
            </a:r>
          </a:p>
          <a:p>
            <a:pPr>
              <a:spcBef>
                <a:spcPts val="800"/>
              </a:spcBef>
              <a:defRPr sz="1100">
                <a:solidFill>
                  <a:srgbClr val="141E2D"/>
                </a:solidFill>
                <a:latin typeface="Verdana"/>
              </a:defRPr>
            </a:pPr>
            <a:r>
              <a:t>• Train/Test Partition: Stratified 80/20 train/test split (800 training records, 200 holdout testing records).</a:t>
            </a:r>
          </a:p>
          <a:p>
            <a:pPr>
              <a:spcBef>
                <a:spcPts val="800"/>
              </a:spcBef>
              <a:defRPr sz="1100">
                <a:solidFill>
                  <a:srgbClr val="141E2D"/>
                </a:solidFill>
                <a:latin typeface="Verdana"/>
              </a:defRPr>
            </a:pPr>
            <a:r>
              <a:t>• Stratification Rigor: Holds exact 70:30 class proportion in both training and test sets to prevent evaluation bias.</a:t>
            </a:r>
          </a:p>
        </p:txBody>
      </p:sp>
      <p:sp>
        <p:nvSpPr>
          <p:cNvPr id="10" name="Rounded Rectangle 9"/>
          <p:cNvSpPr/>
          <p:nvPr/>
        </p:nvSpPr>
        <p:spPr>
          <a:xfrm>
            <a:off x="6339535" y="3017520"/>
            <a:ext cx="5120640" cy="329184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F1A2C"/>
                </a:solidFill>
                <a:latin typeface="Georgia"/>
              </a:defRPr>
            </a:pPr>
            <a:r>
              <a:t>EVALUATED APPLICANT ATTRIBUTES</a:t>
            </a:r>
          </a:p>
          <a:p>
            <a:pPr>
              <a:spcBef>
                <a:spcPts val="800"/>
              </a:spcBef>
              <a:defRPr sz="1100">
                <a:solidFill>
                  <a:srgbClr val="141E2D"/>
                </a:solidFill>
                <a:latin typeface="Verdana"/>
              </a:defRPr>
            </a:pPr>
            <a:r>
              <a:t>• Liquid Reserves: Checking account status &amp; savings balance.</a:t>
            </a:r>
          </a:p>
          <a:p>
            <a:pPr>
              <a:spcBef>
                <a:spcPts val="800"/>
              </a:spcBef>
              <a:defRPr sz="1100">
                <a:solidFill>
                  <a:srgbClr val="141E2D"/>
                </a:solidFill>
                <a:latin typeface="Verdana"/>
              </a:defRPr>
            </a:pPr>
            <a:r>
              <a:t>• Credit Exposure: Loan amount requested &amp; loan duration in months.</a:t>
            </a:r>
          </a:p>
          <a:p>
            <a:pPr>
              <a:spcBef>
                <a:spcPts val="800"/>
              </a:spcBef>
              <a:defRPr sz="1100">
                <a:solidFill>
                  <a:srgbClr val="141E2D"/>
                </a:solidFill>
                <a:latin typeface="Verdana"/>
              </a:defRPr>
            </a:pPr>
            <a:r>
              <a:t>• Repayment Capacity: Installment rate as % of disposable income.</a:t>
            </a:r>
          </a:p>
          <a:p>
            <a:pPr>
              <a:spcBef>
                <a:spcPts val="800"/>
              </a:spcBef>
              <a:defRPr sz="1100">
                <a:solidFill>
                  <a:srgbClr val="141E2D"/>
                </a:solidFill>
                <a:latin typeface="Verdana"/>
              </a:defRPr>
            </a:pPr>
            <a:r>
              <a:t>• Applicant Stability: Employment duration, applicant age, and residence history in years.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C59B27"/>
                </a:solidFill>
                <a:latin typeface="Verdana"/>
              </a:defRPr>
            </a:pPr>
            <a:r>
              <a:t>EXECUTIVE CREDIT COMMITTEE BRIEFING</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F1A2C"/>
                </a:solidFill>
                <a:latin typeface="Georgia"/>
              </a:defRPr>
            </a:pPr>
            <a:r>
              <a:t>Data Preprocessing Pipeline Eliminates Noise and Normalizes 10 Key Risk Features</a:t>
            </a:r>
          </a:p>
        </p:txBody>
      </p:sp>
      <p:sp>
        <p:nvSpPr>
          <p:cNvPr id="4" name="Rectangle 3"/>
          <p:cNvSpPr/>
          <p:nvPr/>
        </p:nvSpPr>
        <p:spPr>
          <a:xfrm>
            <a:off x="731520" y="1371600"/>
            <a:ext cx="10728655" cy="25400"/>
          </a:xfrm>
          <a:prstGeom prst="rect">
            <a:avLst/>
          </a:prstGeom>
          <a:solidFill>
            <a:srgbClr val="C59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468880" cy="466344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200" b="1">
                <a:solidFill>
                  <a:srgbClr val="0F1A2C"/>
                </a:solidFill>
                <a:latin typeface="Georgia"/>
              </a:defRPr>
            </a:pPr>
            <a:r>
              <a:t>1. IDENTIFIER SCRUBBING</a:t>
            </a:r>
          </a:p>
          <a:p>
            <a:pPr>
              <a:spcBef>
                <a:spcPts val="200"/>
              </a:spcBef>
              <a:defRPr sz="1000" b="1">
                <a:solidFill>
                  <a:srgbClr val="C59B27"/>
                </a:solidFill>
                <a:latin typeface="Verdana"/>
              </a:defRPr>
            </a:pPr>
            <a:r>
              <a:t>Noise Removal</a:t>
            </a:r>
          </a:p>
          <a:p>
            <a:pPr>
              <a:spcBef>
                <a:spcPts val="600"/>
              </a:spcBef>
              <a:defRPr sz="1000">
                <a:solidFill>
                  <a:srgbClr val="141E2D"/>
                </a:solidFill>
                <a:latin typeface="Verdana"/>
              </a:defRPr>
            </a:pPr>
            <a:r>
              <a:t>Dropped non-informative administrative fields:</a:t>
            </a:r>
          </a:p>
          <a:p>
            <a:pPr>
              <a:spcBef>
                <a:spcPts val="600"/>
              </a:spcBef>
              <a:defRPr sz="1000">
                <a:solidFill>
                  <a:srgbClr val="141E2D"/>
                </a:solidFill>
                <a:latin typeface="Verdana"/>
              </a:defRPr>
            </a:pPr>
            <a:r>
              <a:t>• observation_id</a:t>
            </a:r>
          </a:p>
          <a:p>
            <a:pPr>
              <a:spcBef>
                <a:spcPts val="600"/>
              </a:spcBef>
              <a:defRPr sz="1000">
                <a:solidFill>
                  <a:srgbClr val="141E2D"/>
                </a:solidFill>
                <a:latin typeface="Verdana"/>
              </a:defRPr>
            </a:pPr>
            <a:r>
              <a:t>• telephone</a:t>
            </a:r>
          </a:p>
          <a:p>
            <a:pPr>
              <a:spcBef>
                <a:spcPts val="600"/>
              </a:spcBef>
              <a:defRPr sz="1000">
                <a:solidFill>
                  <a:srgbClr val="141E2D"/>
                </a:solidFill>
                <a:latin typeface="Verdana"/>
              </a:defRPr>
            </a:pPr>
            <a:r>
              <a:t>Prevents arbitrary memorization &amp; overfitting.</a:t>
            </a:r>
          </a:p>
        </p:txBody>
      </p:sp>
      <p:sp>
        <p:nvSpPr>
          <p:cNvPr id="6" name="Rounded Rectangle 5"/>
          <p:cNvSpPr/>
          <p:nvPr/>
        </p:nvSpPr>
        <p:spPr>
          <a:xfrm>
            <a:off x="3483864" y="1645920"/>
            <a:ext cx="2468880" cy="466344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200" b="1">
                <a:solidFill>
                  <a:srgbClr val="0F1A2C"/>
                </a:solidFill>
                <a:latin typeface="Georgia"/>
              </a:defRPr>
            </a:pPr>
            <a:r>
              <a:t>2. STRING TRANSFORM</a:t>
            </a:r>
          </a:p>
          <a:p>
            <a:pPr>
              <a:spcBef>
                <a:spcPts val="200"/>
              </a:spcBef>
              <a:defRPr sz="1000" b="1">
                <a:solidFill>
                  <a:srgbClr val="C59B27"/>
                </a:solidFill>
                <a:latin typeface="Verdana"/>
              </a:defRPr>
            </a:pPr>
            <a:r>
              <a:t>Numeric Parsing</a:t>
            </a:r>
          </a:p>
          <a:p>
            <a:pPr>
              <a:spcBef>
                <a:spcPts val="600"/>
              </a:spcBef>
              <a:defRPr sz="1000">
                <a:solidFill>
                  <a:srgbClr val="141E2D"/>
                </a:solidFill>
                <a:latin typeface="Verdana"/>
              </a:defRPr>
            </a:pPr>
            <a:r>
              <a:t>Parsed text duration ranges into exact numeric years:</a:t>
            </a:r>
          </a:p>
          <a:p>
            <a:pPr>
              <a:spcBef>
                <a:spcPts val="600"/>
              </a:spcBef>
              <a:defRPr sz="1000">
                <a:solidFill>
                  <a:srgbClr val="141E2D"/>
                </a:solidFill>
                <a:latin typeface="Verdana"/>
              </a:defRPr>
            </a:pPr>
            <a:r>
              <a:t>• employment_length (e.g. '&lt; 1 yr' -&gt; 0.5)</a:t>
            </a:r>
          </a:p>
          <a:p>
            <a:pPr>
              <a:spcBef>
                <a:spcPts val="600"/>
              </a:spcBef>
              <a:defRPr sz="1000">
                <a:solidFill>
                  <a:srgbClr val="141E2D"/>
                </a:solidFill>
                <a:latin typeface="Verdana"/>
              </a:defRPr>
            </a:pPr>
            <a:r>
              <a:t>• residence_history</a:t>
            </a:r>
          </a:p>
          <a:p>
            <a:pPr>
              <a:spcBef>
                <a:spcPts val="600"/>
              </a:spcBef>
              <a:defRPr sz="1000">
                <a:solidFill>
                  <a:srgbClr val="141E2D"/>
                </a:solidFill>
                <a:latin typeface="Verdana"/>
              </a:defRPr>
            </a:pPr>
            <a:r>
              <a:t>Standardizes applicant stability metrics.</a:t>
            </a:r>
          </a:p>
        </p:txBody>
      </p:sp>
      <p:sp>
        <p:nvSpPr>
          <p:cNvPr id="7" name="Rounded Rectangle 6"/>
          <p:cNvSpPr/>
          <p:nvPr/>
        </p:nvSpPr>
        <p:spPr>
          <a:xfrm>
            <a:off x="6236208" y="1645920"/>
            <a:ext cx="2468880" cy="466344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200" b="1">
                <a:solidFill>
                  <a:srgbClr val="0F1A2C"/>
                </a:solidFill>
                <a:latin typeface="Georgia"/>
              </a:defRPr>
            </a:pPr>
            <a:r>
              <a:t>3. IMPUTATION RIGOR</a:t>
            </a:r>
          </a:p>
          <a:p>
            <a:pPr>
              <a:spcBef>
                <a:spcPts val="200"/>
              </a:spcBef>
              <a:defRPr sz="1000" b="1">
                <a:solidFill>
                  <a:srgbClr val="C59B27"/>
                </a:solidFill>
                <a:latin typeface="Verdana"/>
              </a:defRPr>
            </a:pPr>
            <a:r>
              <a:t>Missing Value Handling</a:t>
            </a:r>
          </a:p>
          <a:p>
            <a:pPr>
              <a:spcBef>
                <a:spcPts val="600"/>
              </a:spcBef>
              <a:defRPr sz="1000">
                <a:solidFill>
                  <a:srgbClr val="141E2D"/>
                </a:solidFill>
                <a:latin typeface="Verdana"/>
              </a:defRPr>
            </a:pPr>
            <a:r>
              <a:t>Applied robust median imputation for continuous fields:</a:t>
            </a:r>
          </a:p>
          <a:p>
            <a:pPr>
              <a:spcBef>
                <a:spcPts val="600"/>
              </a:spcBef>
              <a:defRPr sz="1000">
                <a:solidFill>
                  <a:srgbClr val="141E2D"/>
                </a:solidFill>
                <a:latin typeface="Verdana"/>
              </a:defRPr>
            </a:pPr>
            <a:r>
              <a:t>• checking &amp; savings balances</a:t>
            </a:r>
          </a:p>
          <a:p>
            <a:pPr>
              <a:spcBef>
                <a:spcPts val="600"/>
              </a:spcBef>
              <a:defRPr sz="1000">
                <a:solidFill>
                  <a:srgbClr val="141E2D"/>
                </a:solidFill>
                <a:latin typeface="Verdana"/>
              </a:defRPr>
            </a:pPr>
            <a:r>
              <a:t>• employment &amp; residence</a:t>
            </a:r>
          </a:p>
          <a:p>
            <a:pPr>
              <a:spcBef>
                <a:spcPts val="600"/>
              </a:spcBef>
              <a:defRPr sz="1000">
                <a:solidFill>
                  <a:srgbClr val="141E2D"/>
                </a:solidFill>
                <a:latin typeface="Verdana"/>
              </a:defRPr>
            </a:pPr>
            <a:r>
              <a:t>Categoricals assigned 'Unknown'.</a:t>
            </a:r>
          </a:p>
        </p:txBody>
      </p:sp>
      <p:sp>
        <p:nvSpPr>
          <p:cNvPr id="8" name="Rounded Rectangle 7"/>
          <p:cNvSpPr/>
          <p:nvPr/>
        </p:nvSpPr>
        <p:spPr>
          <a:xfrm>
            <a:off x="8988552" y="1645920"/>
            <a:ext cx="2468880" cy="466344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200" b="1">
                <a:solidFill>
                  <a:srgbClr val="0F1A2C"/>
                </a:solidFill>
                <a:latin typeface="Georgia"/>
              </a:defRPr>
            </a:pPr>
            <a:r>
              <a:t>4. ENCODING &amp; SCALING</a:t>
            </a:r>
          </a:p>
          <a:p>
            <a:pPr>
              <a:spcBef>
                <a:spcPts val="200"/>
              </a:spcBef>
              <a:defRPr sz="1000" b="1">
                <a:solidFill>
                  <a:srgbClr val="C59B27"/>
                </a:solidFill>
                <a:latin typeface="Verdana"/>
              </a:defRPr>
            </a:pPr>
            <a:r>
              <a:t>Algorithm Preparation</a:t>
            </a:r>
          </a:p>
          <a:p>
            <a:pPr>
              <a:spcBef>
                <a:spcPts val="600"/>
              </a:spcBef>
              <a:defRPr sz="1000">
                <a:solidFill>
                  <a:srgbClr val="141E2D"/>
                </a:solidFill>
                <a:latin typeface="Verdana"/>
              </a:defRPr>
            </a:pPr>
            <a:r>
              <a:t>Executed One-Hot Encoding via pd.get_dummies(drop_first=True).</a:t>
            </a:r>
          </a:p>
          <a:p>
            <a:pPr>
              <a:spcBef>
                <a:spcPts val="600"/>
              </a:spcBef>
              <a:defRPr sz="1000">
                <a:solidFill>
                  <a:srgbClr val="141E2D"/>
                </a:solidFill>
                <a:latin typeface="Verdana"/>
              </a:defRPr>
            </a:pPr>
            <a:r>
              <a:t>Applied StandardScaler to continuous variables for distance models.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C59B27"/>
                </a:solidFill>
                <a:latin typeface="Verdana"/>
              </a:defRPr>
            </a:pPr>
            <a:r>
              <a:t>EXECUTIVE CREDIT COMMITTEE BRIEFING</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F1A2C"/>
                </a:solidFill>
                <a:latin typeface="Georgia"/>
              </a:defRPr>
            </a:pPr>
            <a:r>
              <a:t>Random Forest Benchmark Outperforms 3 Candidate Models with 0.772 ROC-AUC</a:t>
            </a:r>
          </a:p>
        </p:txBody>
      </p:sp>
      <p:sp>
        <p:nvSpPr>
          <p:cNvPr id="4" name="Rectangle 3"/>
          <p:cNvSpPr/>
          <p:nvPr/>
        </p:nvSpPr>
        <p:spPr>
          <a:xfrm>
            <a:off x="731520" y="1371600"/>
            <a:ext cx="10728655" cy="25400"/>
          </a:xfrm>
          <a:prstGeom prst="rect">
            <a:avLst/>
          </a:prstGeom>
          <a:solidFill>
            <a:srgbClr val="C59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645920"/>
          <a:ext cx="10728655" cy="3291840"/>
        </p:xfrm>
        <a:graphic>
          <a:graphicData uri="http://schemas.openxmlformats.org/drawingml/2006/table">
            <a:tbl>
              <a:tblPr firstRow="1" bandRow="1">
                <a:tableStyleId>{5C22544A-7EE6-4342-B048-85BDC9FD1C3A}</a:tableStyleId>
              </a:tblPr>
              <a:tblGrid>
                <a:gridCol w="2286000"/>
                <a:gridCol w="1097280"/>
                <a:gridCol w="1097280"/>
                <a:gridCol w="1097280"/>
                <a:gridCol w="1097280"/>
                <a:gridCol w="1097280"/>
                <a:gridCol w="2956255"/>
              </a:tblGrid>
              <a:tr h="658368">
                <a:tc>
                  <a:txBody>
                    <a:bodyPr/>
                    <a:lstStyle/>
                    <a:p>
                      <a:pPr algn="ctr"/>
                      <a:r>
                        <a:rPr b="1" sz="1100">
                          <a:solidFill>
                            <a:srgbClr val="FFFFFF"/>
                          </a:solidFill>
                          <a:latin typeface="Georgia"/>
                        </a:rPr>
                        <a:t>Model Algorithm</a:t>
                      </a:r>
                    </a:p>
                  </a:txBody>
                  <a:tcPr>
                    <a:solidFill>
                      <a:srgbClr val="0F1A2C"/>
                    </a:solidFill>
                  </a:tcPr>
                </a:tc>
                <a:tc>
                  <a:txBody>
                    <a:bodyPr/>
                    <a:lstStyle/>
                    <a:p>
                      <a:pPr algn="ctr"/>
                      <a:r>
                        <a:rPr b="1" sz="1100">
                          <a:solidFill>
                            <a:srgbClr val="FFFFFF"/>
                          </a:solidFill>
                          <a:latin typeface="Georgia"/>
                        </a:rPr>
                        <a:t>Accuracy</a:t>
                      </a:r>
                    </a:p>
                  </a:txBody>
                  <a:tcPr>
                    <a:solidFill>
                      <a:srgbClr val="0F1A2C"/>
                    </a:solidFill>
                  </a:tcPr>
                </a:tc>
                <a:tc>
                  <a:txBody>
                    <a:bodyPr/>
                    <a:lstStyle/>
                    <a:p>
                      <a:pPr algn="ctr"/>
                      <a:r>
                        <a:rPr b="1" sz="1100">
                          <a:solidFill>
                            <a:srgbClr val="FFFFFF"/>
                          </a:solidFill>
                          <a:latin typeface="Georgia"/>
                        </a:rPr>
                        <a:t>Precision</a:t>
                      </a:r>
                    </a:p>
                  </a:txBody>
                  <a:tcPr>
                    <a:solidFill>
                      <a:srgbClr val="0F1A2C"/>
                    </a:solidFill>
                  </a:tcPr>
                </a:tc>
                <a:tc>
                  <a:txBody>
                    <a:bodyPr/>
                    <a:lstStyle/>
                    <a:p>
                      <a:pPr algn="ctr"/>
                      <a:r>
                        <a:rPr b="1" sz="1100">
                          <a:solidFill>
                            <a:srgbClr val="FFFFFF"/>
                          </a:solidFill>
                          <a:latin typeface="Georgia"/>
                        </a:rPr>
                        <a:t>Recall</a:t>
                      </a:r>
                    </a:p>
                  </a:txBody>
                  <a:tcPr>
                    <a:solidFill>
                      <a:srgbClr val="0F1A2C"/>
                    </a:solidFill>
                  </a:tcPr>
                </a:tc>
                <a:tc>
                  <a:txBody>
                    <a:bodyPr/>
                    <a:lstStyle/>
                    <a:p>
                      <a:pPr algn="ctr"/>
                      <a:r>
                        <a:rPr b="1" sz="1100">
                          <a:solidFill>
                            <a:srgbClr val="FFFFFF"/>
                          </a:solidFill>
                          <a:latin typeface="Georgia"/>
                        </a:rPr>
                        <a:t>F1-Score</a:t>
                      </a:r>
                    </a:p>
                  </a:txBody>
                  <a:tcPr>
                    <a:solidFill>
                      <a:srgbClr val="0F1A2C"/>
                    </a:solidFill>
                  </a:tcPr>
                </a:tc>
                <a:tc>
                  <a:txBody>
                    <a:bodyPr/>
                    <a:lstStyle/>
                    <a:p>
                      <a:pPr algn="ctr"/>
                      <a:r>
                        <a:rPr b="1" sz="1100">
                          <a:solidFill>
                            <a:srgbClr val="FFFFFF"/>
                          </a:solidFill>
                          <a:latin typeface="Georgia"/>
                        </a:rPr>
                        <a:t>ROC-AUC</a:t>
                      </a:r>
                    </a:p>
                  </a:txBody>
                  <a:tcPr>
                    <a:solidFill>
                      <a:srgbClr val="0F1A2C"/>
                    </a:solidFill>
                  </a:tcPr>
                </a:tc>
                <a:tc>
                  <a:txBody>
                    <a:bodyPr/>
                    <a:lstStyle/>
                    <a:p>
                      <a:pPr algn="ctr"/>
                      <a:r>
                        <a:rPr b="1" sz="1100">
                          <a:solidFill>
                            <a:srgbClr val="FFFFFF"/>
                          </a:solidFill>
                          <a:latin typeface="Georgia"/>
                        </a:rPr>
                        <a:t>Strategic Assessment</a:t>
                      </a:r>
                    </a:p>
                  </a:txBody>
                  <a:tcPr>
                    <a:solidFill>
                      <a:srgbClr val="0F1A2C"/>
                    </a:solidFill>
                  </a:tcPr>
                </a:tc>
              </a:tr>
              <a:tr h="658368">
                <a:tc>
                  <a:txBody>
                    <a:bodyPr/>
                    <a:lstStyle/>
                    <a:p>
                      <a:pPr algn="l"/>
                      <a:r>
                        <a:rPr sz="1000" b="1">
                          <a:solidFill>
                            <a:srgbClr val="0F1A2C"/>
                          </a:solidFill>
                          <a:latin typeface="Verdana"/>
                        </a:rPr>
                        <a:t>Random Forest (Winner)</a:t>
                      </a:r>
                    </a:p>
                  </a:txBody>
                  <a:tcPr>
                    <a:solidFill>
                      <a:srgbClr val="EBF3EB"/>
                    </a:solidFill>
                  </a:tcPr>
                </a:tc>
                <a:tc>
                  <a:txBody>
                    <a:bodyPr/>
                    <a:lstStyle/>
                    <a:p>
                      <a:pPr algn="ctr"/>
                      <a:r>
                        <a:rPr sz="1000" b="1">
                          <a:solidFill>
                            <a:srgbClr val="0F1A2C"/>
                          </a:solidFill>
                          <a:latin typeface="Verdana"/>
                        </a:rPr>
                        <a:t>76.0%</a:t>
                      </a:r>
                    </a:p>
                  </a:txBody>
                  <a:tcPr>
                    <a:solidFill>
                      <a:srgbClr val="EBF3EB"/>
                    </a:solidFill>
                  </a:tcPr>
                </a:tc>
                <a:tc>
                  <a:txBody>
                    <a:bodyPr/>
                    <a:lstStyle/>
                    <a:p>
                      <a:pPr algn="ctr"/>
                      <a:r>
                        <a:rPr sz="1000" b="1">
                          <a:solidFill>
                            <a:srgbClr val="0F1A2C"/>
                          </a:solidFill>
                          <a:latin typeface="Verdana"/>
                        </a:rPr>
                        <a:t>60.0%</a:t>
                      </a:r>
                    </a:p>
                  </a:txBody>
                  <a:tcPr>
                    <a:solidFill>
                      <a:srgbClr val="EBF3EB"/>
                    </a:solidFill>
                  </a:tcPr>
                </a:tc>
                <a:tc>
                  <a:txBody>
                    <a:bodyPr/>
                    <a:lstStyle/>
                    <a:p>
                      <a:pPr algn="ctr"/>
                      <a:r>
                        <a:rPr sz="1000" b="1">
                          <a:solidFill>
                            <a:srgbClr val="0F1A2C"/>
                          </a:solidFill>
                          <a:latin typeface="Verdana"/>
                        </a:rPr>
                        <a:t>60.0%</a:t>
                      </a:r>
                    </a:p>
                  </a:txBody>
                  <a:tcPr>
                    <a:solidFill>
                      <a:srgbClr val="EBF3EB"/>
                    </a:solidFill>
                  </a:tcPr>
                </a:tc>
                <a:tc>
                  <a:txBody>
                    <a:bodyPr/>
                    <a:lstStyle/>
                    <a:p>
                      <a:pPr algn="ctr"/>
                      <a:r>
                        <a:rPr sz="1000" b="1">
                          <a:solidFill>
                            <a:srgbClr val="0F1A2C"/>
                          </a:solidFill>
                          <a:latin typeface="Verdana"/>
                        </a:rPr>
                        <a:t>0.600</a:t>
                      </a:r>
                    </a:p>
                  </a:txBody>
                  <a:tcPr>
                    <a:solidFill>
                      <a:srgbClr val="EBF3EB"/>
                    </a:solidFill>
                  </a:tcPr>
                </a:tc>
                <a:tc>
                  <a:txBody>
                    <a:bodyPr/>
                    <a:lstStyle/>
                    <a:p>
                      <a:pPr algn="ctr"/>
                      <a:r>
                        <a:rPr sz="1000" b="1">
                          <a:solidFill>
                            <a:srgbClr val="0F1A2C"/>
                          </a:solidFill>
                          <a:latin typeface="Verdana"/>
                        </a:rPr>
                        <a:t>0.772</a:t>
                      </a:r>
                    </a:p>
                  </a:txBody>
                  <a:tcPr>
                    <a:solidFill>
                      <a:srgbClr val="EBF3EB"/>
                    </a:solidFill>
                  </a:tcPr>
                </a:tc>
                <a:tc>
                  <a:txBody>
                    <a:bodyPr/>
                    <a:lstStyle/>
                    <a:p>
                      <a:pPr algn="l"/>
                      <a:r>
                        <a:rPr sz="1000" b="1">
                          <a:solidFill>
                            <a:srgbClr val="0F1A2C"/>
                          </a:solidFill>
                          <a:latin typeface="Verdana"/>
                        </a:rPr>
                        <a:t>WINNER: Highest ROC-AUC &amp; Accuracy; optimal balance</a:t>
                      </a:r>
                    </a:p>
                  </a:txBody>
                  <a:tcPr>
                    <a:solidFill>
                      <a:srgbClr val="EBF3EB"/>
                    </a:solidFill>
                  </a:tcPr>
                </a:tc>
              </a:tr>
              <a:tr h="658368">
                <a:tc>
                  <a:txBody>
                    <a:bodyPr/>
                    <a:lstStyle/>
                    <a:p>
                      <a:pPr algn="l"/>
                      <a:r>
                        <a:rPr sz="1000">
                          <a:solidFill>
                            <a:srgbClr val="141E2D"/>
                          </a:solidFill>
                          <a:latin typeface="Verdana"/>
                        </a:rPr>
                        <a:t>Support Vector Machine</a:t>
                      </a:r>
                    </a:p>
                  </a:txBody>
                  <a:tcPr>
                    <a:solidFill>
                      <a:srgbClr val="F8F9FA"/>
                    </a:solidFill>
                  </a:tcPr>
                </a:tc>
                <a:tc>
                  <a:txBody>
                    <a:bodyPr/>
                    <a:lstStyle/>
                    <a:p>
                      <a:pPr algn="ctr"/>
                      <a:r>
                        <a:rPr sz="1000">
                          <a:solidFill>
                            <a:srgbClr val="141E2D"/>
                          </a:solidFill>
                          <a:latin typeface="Verdana"/>
                        </a:rPr>
                        <a:t>68.0%</a:t>
                      </a:r>
                    </a:p>
                  </a:txBody>
                  <a:tcPr>
                    <a:solidFill>
                      <a:srgbClr val="F8F9FA"/>
                    </a:solidFill>
                  </a:tcPr>
                </a:tc>
                <a:tc>
                  <a:txBody>
                    <a:bodyPr/>
                    <a:lstStyle/>
                    <a:p>
                      <a:pPr algn="ctr"/>
                      <a:r>
                        <a:rPr sz="1000">
                          <a:solidFill>
                            <a:srgbClr val="141E2D"/>
                          </a:solidFill>
                          <a:latin typeface="Verdana"/>
                        </a:rPr>
                        <a:t>47.7%</a:t>
                      </a:r>
                    </a:p>
                  </a:txBody>
                  <a:tcPr>
                    <a:solidFill>
                      <a:srgbClr val="F8F9FA"/>
                    </a:solidFill>
                  </a:tcPr>
                </a:tc>
                <a:tc>
                  <a:txBody>
                    <a:bodyPr/>
                    <a:lstStyle/>
                    <a:p>
                      <a:pPr algn="ctr"/>
                      <a:r>
                        <a:rPr sz="1000">
                          <a:solidFill>
                            <a:srgbClr val="141E2D"/>
                          </a:solidFill>
                          <a:latin typeface="Verdana"/>
                        </a:rPr>
                        <a:t>68.3%</a:t>
                      </a:r>
                    </a:p>
                  </a:txBody>
                  <a:tcPr>
                    <a:solidFill>
                      <a:srgbClr val="F8F9FA"/>
                    </a:solidFill>
                  </a:tcPr>
                </a:tc>
                <a:tc>
                  <a:txBody>
                    <a:bodyPr/>
                    <a:lstStyle/>
                    <a:p>
                      <a:pPr algn="ctr"/>
                      <a:r>
                        <a:rPr sz="1000">
                          <a:solidFill>
                            <a:srgbClr val="141E2D"/>
                          </a:solidFill>
                          <a:latin typeface="Verdana"/>
                        </a:rPr>
                        <a:t>0.562</a:t>
                      </a:r>
                    </a:p>
                  </a:txBody>
                  <a:tcPr>
                    <a:solidFill>
                      <a:srgbClr val="F8F9FA"/>
                    </a:solidFill>
                  </a:tcPr>
                </a:tc>
                <a:tc>
                  <a:txBody>
                    <a:bodyPr/>
                    <a:lstStyle/>
                    <a:p>
                      <a:pPr algn="ctr"/>
                      <a:r>
                        <a:rPr sz="1000">
                          <a:solidFill>
                            <a:srgbClr val="141E2D"/>
                          </a:solidFill>
                          <a:latin typeface="Verdana"/>
                        </a:rPr>
                        <a:t>0.753</a:t>
                      </a:r>
                    </a:p>
                  </a:txBody>
                  <a:tcPr>
                    <a:solidFill>
                      <a:srgbClr val="F8F9FA"/>
                    </a:solidFill>
                  </a:tcPr>
                </a:tc>
                <a:tc>
                  <a:txBody>
                    <a:bodyPr/>
                    <a:lstStyle/>
                    <a:p>
                      <a:pPr algn="l"/>
                      <a:r>
                        <a:rPr sz="1000">
                          <a:solidFill>
                            <a:srgbClr val="141E2D"/>
                          </a:solidFill>
                          <a:latin typeface="Verdana"/>
                        </a:rPr>
                        <a:t>High Recall but low Precision (excess False Positives)</a:t>
                      </a:r>
                    </a:p>
                  </a:txBody>
                  <a:tcPr>
                    <a:solidFill>
                      <a:srgbClr val="F8F9FA"/>
                    </a:solidFill>
                  </a:tcPr>
                </a:tc>
              </a:tr>
              <a:tr h="658368">
                <a:tc>
                  <a:txBody>
                    <a:bodyPr/>
                    <a:lstStyle/>
                    <a:p>
                      <a:pPr algn="l"/>
                      <a:r>
                        <a:rPr sz="1000">
                          <a:solidFill>
                            <a:srgbClr val="141E2D"/>
                          </a:solidFill>
                          <a:latin typeface="Verdana"/>
                        </a:rPr>
                        <a:t>Decision Tree (depth=4)</a:t>
                      </a:r>
                    </a:p>
                  </a:txBody>
                  <a:tcPr>
                    <a:solidFill>
                      <a:srgbClr val="FFFFFF"/>
                    </a:solidFill>
                  </a:tcPr>
                </a:tc>
                <a:tc>
                  <a:txBody>
                    <a:bodyPr/>
                    <a:lstStyle/>
                    <a:p>
                      <a:pPr algn="ctr"/>
                      <a:r>
                        <a:rPr sz="1000">
                          <a:solidFill>
                            <a:srgbClr val="141E2D"/>
                          </a:solidFill>
                          <a:latin typeface="Verdana"/>
                        </a:rPr>
                        <a:t>63.5%</a:t>
                      </a:r>
                    </a:p>
                  </a:txBody>
                  <a:tcPr>
                    <a:solidFill>
                      <a:srgbClr val="FFFFFF"/>
                    </a:solidFill>
                  </a:tcPr>
                </a:tc>
                <a:tc>
                  <a:txBody>
                    <a:bodyPr/>
                    <a:lstStyle/>
                    <a:p>
                      <a:pPr algn="ctr"/>
                      <a:r>
                        <a:rPr sz="1000">
                          <a:solidFill>
                            <a:srgbClr val="141E2D"/>
                          </a:solidFill>
                          <a:latin typeface="Verdana"/>
                        </a:rPr>
                        <a:t>43.7%</a:t>
                      </a:r>
                    </a:p>
                  </a:txBody>
                  <a:tcPr>
                    <a:solidFill>
                      <a:srgbClr val="FFFFFF"/>
                    </a:solidFill>
                  </a:tcPr>
                </a:tc>
                <a:tc>
                  <a:txBody>
                    <a:bodyPr/>
                    <a:lstStyle/>
                    <a:p>
                      <a:pPr algn="ctr"/>
                      <a:r>
                        <a:rPr sz="1000">
                          <a:solidFill>
                            <a:srgbClr val="141E2D"/>
                          </a:solidFill>
                          <a:latin typeface="Verdana"/>
                        </a:rPr>
                        <a:t>75.0%</a:t>
                      </a:r>
                    </a:p>
                  </a:txBody>
                  <a:tcPr>
                    <a:solidFill>
                      <a:srgbClr val="FFFFFF"/>
                    </a:solidFill>
                  </a:tcPr>
                </a:tc>
                <a:tc>
                  <a:txBody>
                    <a:bodyPr/>
                    <a:lstStyle/>
                    <a:p>
                      <a:pPr algn="ctr"/>
                      <a:r>
                        <a:rPr sz="1000">
                          <a:solidFill>
                            <a:srgbClr val="141E2D"/>
                          </a:solidFill>
                          <a:latin typeface="Verdana"/>
                        </a:rPr>
                        <a:t>0.552</a:t>
                      </a:r>
                    </a:p>
                  </a:txBody>
                  <a:tcPr>
                    <a:solidFill>
                      <a:srgbClr val="FFFFFF"/>
                    </a:solidFill>
                  </a:tcPr>
                </a:tc>
                <a:tc>
                  <a:txBody>
                    <a:bodyPr/>
                    <a:lstStyle/>
                    <a:p>
                      <a:pPr algn="ctr"/>
                      <a:r>
                        <a:rPr sz="1000">
                          <a:solidFill>
                            <a:srgbClr val="141E2D"/>
                          </a:solidFill>
                          <a:latin typeface="Verdana"/>
                        </a:rPr>
                        <a:t>0.707</a:t>
                      </a:r>
                    </a:p>
                  </a:txBody>
                  <a:tcPr>
                    <a:solidFill>
                      <a:srgbClr val="FFFFFF"/>
                    </a:solidFill>
                  </a:tcPr>
                </a:tc>
                <a:tc>
                  <a:txBody>
                    <a:bodyPr/>
                    <a:lstStyle/>
                    <a:p>
                      <a:pPr algn="l"/>
                      <a:r>
                        <a:rPr sz="1000">
                          <a:solidFill>
                            <a:srgbClr val="141E2D"/>
                          </a:solidFill>
                          <a:latin typeface="Verdana"/>
                        </a:rPr>
                        <a:t>Over-classifies defaults; degrades customer retention</a:t>
                      </a:r>
                    </a:p>
                  </a:txBody>
                  <a:tcPr>
                    <a:solidFill>
                      <a:srgbClr val="FFFFFF"/>
                    </a:solidFill>
                  </a:tcPr>
                </a:tc>
              </a:tr>
              <a:tr h="658368">
                <a:tc>
                  <a:txBody>
                    <a:bodyPr/>
                    <a:lstStyle/>
                    <a:p>
                      <a:pPr algn="l"/>
                      <a:r>
                        <a:rPr sz="1000">
                          <a:solidFill>
                            <a:srgbClr val="141E2D"/>
                          </a:solidFill>
                          <a:latin typeface="Verdana"/>
                        </a:rPr>
                        <a:t>Logistic Regression</a:t>
                      </a:r>
                    </a:p>
                  </a:txBody>
                  <a:tcPr>
                    <a:solidFill>
                      <a:srgbClr val="F8F9FA"/>
                    </a:solidFill>
                  </a:tcPr>
                </a:tc>
                <a:tc>
                  <a:txBody>
                    <a:bodyPr/>
                    <a:lstStyle/>
                    <a:p>
                      <a:pPr algn="ctr"/>
                      <a:r>
                        <a:rPr sz="1000">
                          <a:solidFill>
                            <a:srgbClr val="141E2D"/>
                          </a:solidFill>
                          <a:latin typeface="Verdana"/>
                        </a:rPr>
                        <a:t>66.5%</a:t>
                      </a:r>
                    </a:p>
                  </a:txBody>
                  <a:tcPr>
                    <a:solidFill>
                      <a:srgbClr val="F8F9FA"/>
                    </a:solidFill>
                  </a:tcPr>
                </a:tc>
                <a:tc>
                  <a:txBody>
                    <a:bodyPr/>
                    <a:lstStyle/>
                    <a:p>
                      <a:pPr algn="ctr"/>
                      <a:r>
                        <a:rPr sz="1000">
                          <a:solidFill>
                            <a:srgbClr val="141E2D"/>
                          </a:solidFill>
                          <a:latin typeface="Verdana"/>
                        </a:rPr>
                        <a:t>46.0%</a:t>
                      </a:r>
                    </a:p>
                  </a:txBody>
                  <a:tcPr>
                    <a:solidFill>
                      <a:srgbClr val="F8F9FA"/>
                    </a:solidFill>
                  </a:tcPr>
                </a:tc>
                <a:tc>
                  <a:txBody>
                    <a:bodyPr/>
                    <a:lstStyle/>
                    <a:p>
                      <a:pPr algn="ctr"/>
                      <a:r>
                        <a:rPr sz="1000">
                          <a:solidFill>
                            <a:srgbClr val="141E2D"/>
                          </a:solidFill>
                          <a:latin typeface="Verdana"/>
                        </a:rPr>
                        <a:t>66.7%</a:t>
                      </a:r>
                    </a:p>
                  </a:txBody>
                  <a:tcPr>
                    <a:solidFill>
                      <a:srgbClr val="F8F9FA"/>
                    </a:solidFill>
                  </a:tcPr>
                </a:tc>
                <a:tc>
                  <a:txBody>
                    <a:bodyPr/>
                    <a:lstStyle/>
                    <a:p>
                      <a:pPr algn="ctr"/>
                      <a:r>
                        <a:rPr sz="1000">
                          <a:solidFill>
                            <a:srgbClr val="141E2D"/>
                          </a:solidFill>
                          <a:latin typeface="Verdana"/>
                        </a:rPr>
                        <a:t>0.544</a:t>
                      </a:r>
                    </a:p>
                  </a:txBody>
                  <a:tcPr>
                    <a:solidFill>
                      <a:srgbClr val="F8F9FA"/>
                    </a:solidFill>
                  </a:tcPr>
                </a:tc>
                <a:tc>
                  <a:txBody>
                    <a:bodyPr/>
                    <a:lstStyle/>
                    <a:p>
                      <a:pPr algn="ctr"/>
                      <a:r>
                        <a:rPr sz="1000">
                          <a:solidFill>
                            <a:srgbClr val="141E2D"/>
                          </a:solidFill>
                          <a:latin typeface="Verdana"/>
                        </a:rPr>
                        <a:t>0.745</a:t>
                      </a:r>
                    </a:p>
                  </a:txBody>
                  <a:tcPr>
                    <a:solidFill>
                      <a:srgbClr val="F8F9FA"/>
                    </a:solidFill>
                  </a:tcPr>
                </a:tc>
                <a:tc>
                  <a:txBody>
                    <a:bodyPr/>
                    <a:lstStyle/>
                    <a:p>
                      <a:pPr algn="l"/>
                      <a:r>
                        <a:rPr sz="1000">
                          <a:solidFill>
                            <a:srgbClr val="141E2D"/>
                          </a:solidFill>
                          <a:latin typeface="Verdana"/>
                        </a:rPr>
                        <a:t>Solid linear baseline; outmatched by tree ensembles</a:t>
                      </a:r>
                    </a:p>
                  </a:txBody>
                  <a:tcPr>
                    <a:solidFill>
                      <a:srgbClr val="F8F9FA"/>
                    </a:solidFill>
                  </a:tcPr>
                </a:tc>
              </a:tr>
            </a:tbl>
          </a:graphicData>
        </a:graphic>
      </p:graphicFrame>
      <p:sp>
        <p:nvSpPr>
          <p:cNvPr id="6" name="Rounded Rectangle 5"/>
          <p:cNvSpPr/>
          <p:nvPr/>
        </p:nvSpPr>
        <p:spPr>
          <a:xfrm>
            <a:off x="731520" y="5120640"/>
            <a:ext cx="10728655" cy="1188720"/>
          </a:xfrm>
          <a:prstGeom prst="roundRect">
            <a:avLst/>
          </a:prstGeom>
          <a:solidFill>
            <a:srgbClr val="EBF2FA"/>
          </a:solidFill>
          <a:ln w="12700">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300" b="1">
                <a:solidFill>
                  <a:srgbClr val="0F1A2C"/>
                </a:solidFill>
                <a:latin typeface="Georgia"/>
              </a:defRPr>
            </a:pPr>
            <a:r>
              <a:t>BENCHMARK TAKEAWAY: RANDOM FOREST IS THE CLEAR WINNER</a:t>
            </a:r>
          </a:p>
          <a:p>
            <a:pPr>
              <a:spcBef>
                <a:spcPts val="400"/>
              </a:spcBef>
              <a:defRPr sz="1100">
                <a:solidFill>
                  <a:srgbClr val="4A5568"/>
                </a:solidFill>
                <a:latin typeface="Verdana"/>
              </a:defRPr>
            </a:pPr>
            <a:r>
              <a:t>Evaluated on unseen 200-applicant holdout set with class_weight='balanced'. Random Forest achieves top ROC-AUC (0.772), top Accuracy (76.0%), and top F1-Score (0.600), delivering the most profitable risk-return trade-off.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C59B27"/>
                </a:solidFill>
                <a:latin typeface="Verdana"/>
              </a:defRPr>
            </a:pPr>
            <a:r>
              <a:t>EXECUTIVE CREDIT COMMITTEE BRIEFING</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F1A2C"/>
                </a:solidFill>
                <a:latin typeface="Georgia"/>
              </a:defRPr>
            </a:pPr>
            <a:r>
              <a:t>Ensemble Architecture Delivers 76% Accuracy and Superior Default Discrimination</a:t>
            </a:r>
          </a:p>
        </p:txBody>
      </p:sp>
      <p:sp>
        <p:nvSpPr>
          <p:cNvPr id="4" name="Rectangle 3"/>
          <p:cNvSpPr/>
          <p:nvPr/>
        </p:nvSpPr>
        <p:spPr>
          <a:xfrm>
            <a:off x="731520" y="1371600"/>
            <a:ext cx="10728655" cy="25400"/>
          </a:xfrm>
          <a:prstGeom prst="rect">
            <a:avLst/>
          </a:prstGeom>
          <a:solidFill>
            <a:srgbClr val="C59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328416" cy="466344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00" b="1">
                <a:solidFill>
                  <a:srgbClr val="0F1A2C"/>
                </a:solidFill>
                <a:latin typeface="Georgia"/>
              </a:defRPr>
            </a:pPr>
            <a:r>
              <a:t>SUPERIOR DISCRIMINATION</a:t>
            </a:r>
          </a:p>
          <a:p>
            <a:pPr>
              <a:spcBef>
                <a:spcPts val="400"/>
              </a:spcBef>
              <a:defRPr sz="2000" b="1">
                <a:solidFill>
                  <a:srgbClr val="C59B27"/>
                </a:solidFill>
                <a:latin typeface="Georgia"/>
              </a:defRPr>
            </a:pPr>
            <a:r>
              <a:t>ROC-AUC = 0.772</a:t>
            </a:r>
          </a:p>
          <a:p>
            <a:pPr>
              <a:spcBef>
                <a:spcPts val="1000"/>
              </a:spcBef>
              <a:defRPr sz="1000">
                <a:solidFill>
                  <a:srgbClr val="141E2D"/>
                </a:solidFill>
                <a:latin typeface="Verdana"/>
              </a:defRPr>
            </a:pPr>
            <a:r>
              <a:t>• Consistently ranks default risk higher than non-defaults across all operating cutoffs.</a:t>
            </a:r>
          </a:p>
          <a:p>
            <a:pPr>
              <a:spcBef>
                <a:spcPts val="1000"/>
              </a:spcBef>
              <a:defRPr sz="1000">
                <a:solidFill>
                  <a:srgbClr val="141E2D"/>
                </a:solidFill>
                <a:latin typeface="Verdana"/>
              </a:defRPr>
            </a:pPr>
            <a:r>
              <a:t>• Outperforms SVM (0.753), Logistic Regression (0.745), and Decision Tree (0.707).</a:t>
            </a:r>
          </a:p>
          <a:p>
            <a:pPr>
              <a:spcBef>
                <a:spcPts val="1000"/>
              </a:spcBef>
              <a:defRPr sz="1000">
                <a:solidFill>
                  <a:srgbClr val="141E2D"/>
                </a:solidFill>
                <a:latin typeface="Verdana"/>
              </a:defRPr>
            </a:pPr>
            <a:r>
              <a:t>• Ensures robust probability calibration for risk-based pricing.</a:t>
            </a:r>
          </a:p>
        </p:txBody>
      </p:sp>
      <p:sp>
        <p:nvSpPr>
          <p:cNvPr id="6" name="Rounded Rectangle 5"/>
          <p:cNvSpPr/>
          <p:nvPr/>
        </p:nvSpPr>
        <p:spPr>
          <a:xfrm>
            <a:off x="4425696" y="1645920"/>
            <a:ext cx="3328416" cy="466344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00" b="1">
                <a:solidFill>
                  <a:srgbClr val="0F1A2C"/>
                </a:solidFill>
                <a:latin typeface="Georgia"/>
              </a:defRPr>
            </a:pPr>
            <a:r>
              <a:t>FINANCIAL SWEET SPOT</a:t>
            </a:r>
          </a:p>
          <a:p>
            <a:pPr>
              <a:spcBef>
                <a:spcPts val="400"/>
              </a:spcBef>
              <a:defRPr sz="2000" b="1">
                <a:solidFill>
                  <a:srgbClr val="C59B27"/>
                </a:solidFill>
                <a:latin typeface="Georgia"/>
              </a:defRPr>
            </a:pPr>
            <a:r>
              <a:t>F1-Score = 0.600</a:t>
            </a:r>
          </a:p>
          <a:p>
            <a:pPr>
              <a:spcBef>
                <a:spcPts val="1000"/>
              </a:spcBef>
              <a:defRPr sz="1000">
                <a:solidFill>
                  <a:srgbClr val="141E2D"/>
                </a:solidFill>
                <a:latin typeface="Verdana"/>
              </a:defRPr>
            </a:pPr>
            <a:r>
              <a:t>• Delivers ideal equilibrium between default capture and customer acquisition.</a:t>
            </a:r>
          </a:p>
          <a:p>
            <a:pPr>
              <a:spcBef>
                <a:spcPts val="1000"/>
              </a:spcBef>
              <a:defRPr sz="1000">
                <a:solidFill>
                  <a:srgbClr val="141E2D"/>
                </a:solidFill>
                <a:latin typeface="Verdana"/>
              </a:defRPr>
            </a:pPr>
            <a:r>
              <a:t>• Avoids hyper-aggressive rejections while protecting portfolio capital.</a:t>
            </a:r>
          </a:p>
          <a:p>
            <a:pPr>
              <a:spcBef>
                <a:spcPts val="1000"/>
              </a:spcBef>
              <a:defRPr sz="1000">
                <a:solidFill>
                  <a:srgbClr val="141E2D"/>
                </a:solidFill>
                <a:latin typeface="Verdana"/>
              </a:defRPr>
            </a:pPr>
            <a:r>
              <a:t>• Achieves 60.0% Precision and 60.0% Recall under baseline threshold 0.50.</a:t>
            </a:r>
          </a:p>
        </p:txBody>
      </p:sp>
      <p:sp>
        <p:nvSpPr>
          <p:cNvPr id="7" name="Rounded Rectangle 6"/>
          <p:cNvSpPr/>
          <p:nvPr/>
        </p:nvSpPr>
        <p:spPr>
          <a:xfrm>
            <a:off x="8119872" y="1645920"/>
            <a:ext cx="3328416" cy="466344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00" b="1">
                <a:solidFill>
                  <a:srgbClr val="0F1A2C"/>
                </a:solidFill>
                <a:latin typeface="Georgia"/>
              </a:defRPr>
            </a:pPr>
            <a:r>
              <a:t>ENSEMBLE VARIANCE REDUCTION</a:t>
            </a:r>
          </a:p>
          <a:p>
            <a:pPr>
              <a:spcBef>
                <a:spcPts val="400"/>
              </a:spcBef>
              <a:defRPr sz="2000" b="1">
                <a:solidFill>
                  <a:srgbClr val="C59B27"/>
                </a:solidFill>
                <a:latin typeface="Georgia"/>
              </a:defRPr>
            </a:pPr>
            <a:r>
              <a:t>100 Decision Trees</a:t>
            </a:r>
          </a:p>
          <a:p>
            <a:pPr>
              <a:spcBef>
                <a:spcPts val="1000"/>
              </a:spcBef>
              <a:defRPr sz="1000">
                <a:solidFill>
                  <a:srgbClr val="141E2D"/>
                </a:solidFill>
                <a:latin typeface="Verdana"/>
              </a:defRPr>
            </a:pPr>
            <a:r>
              <a:t>• Averages predictions across 100 de-correlated decision trees.</a:t>
            </a:r>
          </a:p>
          <a:p>
            <a:pPr>
              <a:spcBef>
                <a:spcPts val="1000"/>
              </a:spcBef>
              <a:defRPr sz="1000">
                <a:solidFill>
                  <a:srgbClr val="141E2D"/>
                </a:solidFill>
                <a:latin typeface="Verdana"/>
              </a:defRPr>
            </a:pPr>
            <a:r>
              <a:t>• Eliminates single-tree overfitting and variance instability.</a:t>
            </a:r>
          </a:p>
          <a:p>
            <a:pPr>
              <a:spcBef>
                <a:spcPts val="1000"/>
              </a:spcBef>
              <a:defRPr sz="1000">
                <a:solidFill>
                  <a:srgbClr val="141E2D"/>
                </a:solidFill>
                <a:latin typeface="Verdana"/>
              </a:defRPr>
            </a:pPr>
            <a:r>
              <a:t>• Resistant to noise and outliers in applicant financial statements.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C59B27"/>
                </a:solidFill>
                <a:latin typeface="Verdana"/>
              </a:defRPr>
            </a:pPr>
            <a:r>
              <a:t>EXECUTIVE CREDIT COMMITTEE BRIEFING</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F1A2C"/>
                </a:solidFill>
                <a:latin typeface="Georgia"/>
              </a:defRPr>
            </a:pPr>
            <a:r>
              <a:t>Liquid Account Balances Drive 22.6% of Overall Credit Risk Prediction</a:t>
            </a:r>
          </a:p>
        </p:txBody>
      </p:sp>
      <p:sp>
        <p:nvSpPr>
          <p:cNvPr id="4" name="Rectangle 3"/>
          <p:cNvSpPr/>
          <p:nvPr/>
        </p:nvSpPr>
        <p:spPr>
          <a:xfrm>
            <a:off x="731520" y="1371600"/>
            <a:ext cx="10728655" cy="25400"/>
          </a:xfrm>
          <a:prstGeom prst="rect">
            <a:avLst/>
          </a:prstGeom>
          <a:solidFill>
            <a:srgbClr val="C59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669280" cy="466344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F1A2C"/>
                </a:solidFill>
                <a:latin typeface="Georgia"/>
              </a:defRPr>
            </a:pPr>
            <a:r>
              <a:t>RANDOM FOREST FEATURE IMPORTANCE RANKING</a:t>
            </a:r>
          </a:p>
          <a:p>
            <a:pPr>
              <a:spcBef>
                <a:spcPts val="800"/>
              </a:spcBef>
              <a:defRPr sz="1100" b="1">
                <a:solidFill>
                  <a:srgbClr val="0F1A2C"/>
                </a:solidFill>
                <a:latin typeface="Verdana"/>
              </a:defRPr>
            </a:pPr>
            <a:r>
              <a:t>1. Checking Account Balance  ───  12.83%</a:t>
            </a:r>
          </a:p>
          <a:p>
            <a:pPr>
              <a:spcBef>
                <a:spcPts val="800"/>
              </a:spcBef>
              <a:defRPr sz="1100" b="1">
                <a:solidFill>
                  <a:srgbClr val="0F1A2C"/>
                </a:solidFill>
                <a:latin typeface="Verdana"/>
              </a:defRPr>
            </a:pPr>
            <a:r>
              <a:t>2. Savings Account Balance  ───  9.76%</a:t>
            </a:r>
          </a:p>
          <a:p>
            <a:pPr>
              <a:spcBef>
                <a:spcPts val="800"/>
              </a:spcBef>
              <a:defRPr sz="1100" b="0">
                <a:solidFill>
                  <a:srgbClr val="141E2D"/>
                </a:solidFill>
                <a:latin typeface="Verdana"/>
              </a:defRPr>
            </a:pPr>
            <a:r>
              <a:t>3. Requested Loan Amount  ───  9.39%</a:t>
            </a:r>
          </a:p>
          <a:p>
            <a:pPr>
              <a:spcBef>
                <a:spcPts val="800"/>
              </a:spcBef>
              <a:defRPr sz="1100" b="0">
                <a:solidFill>
                  <a:srgbClr val="141E2D"/>
                </a:solidFill>
                <a:latin typeface="Verdana"/>
              </a:defRPr>
            </a:pPr>
            <a:r>
              <a:t>4. Loan Duration (Months)  ───  7.86%</a:t>
            </a:r>
          </a:p>
          <a:p>
            <a:pPr>
              <a:spcBef>
                <a:spcPts val="800"/>
              </a:spcBef>
              <a:defRPr sz="1100" b="0">
                <a:solidFill>
                  <a:srgbClr val="141E2D"/>
                </a:solidFill>
                <a:latin typeface="Verdana"/>
              </a:defRPr>
            </a:pPr>
            <a:r>
              <a:t>5. Employment Duration (Years)  ───  7.75%</a:t>
            </a:r>
          </a:p>
          <a:p>
            <a:pPr>
              <a:spcBef>
                <a:spcPts val="800"/>
              </a:spcBef>
              <a:defRPr sz="1100" b="0">
                <a:solidFill>
                  <a:srgbClr val="141E2D"/>
                </a:solidFill>
                <a:latin typeface="Verdana"/>
              </a:defRPr>
            </a:pPr>
            <a:r>
              <a:t>6. Applicant Age (Years)  ───  7.60%</a:t>
            </a:r>
          </a:p>
          <a:p>
            <a:pPr>
              <a:spcBef>
                <a:spcPts val="800"/>
              </a:spcBef>
              <a:defRPr sz="1100" b="0">
                <a:solidFill>
                  <a:srgbClr val="141E2D"/>
                </a:solidFill>
                <a:latin typeface="Verdana"/>
              </a:defRPr>
            </a:pPr>
            <a:r>
              <a:t>7. Residence History (Years)  ───  7.02%</a:t>
            </a:r>
          </a:p>
          <a:p>
            <a:pPr>
              <a:spcBef>
                <a:spcPts val="800"/>
              </a:spcBef>
              <a:defRPr sz="1100" b="0">
                <a:solidFill>
                  <a:srgbClr val="141E2D"/>
                </a:solidFill>
                <a:latin typeface="Verdana"/>
              </a:defRPr>
            </a:pPr>
            <a:r>
              <a:t>8. Installment Rate (% Income)  ───  3.35%</a:t>
            </a:r>
          </a:p>
        </p:txBody>
      </p:sp>
      <p:sp>
        <p:nvSpPr>
          <p:cNvPr id="6" name="Rounded Rectangle 5"/>
          <p:cNvSpPr/>
          <p:nvPr/>
        </p:nvSpPr>
        <p:spPr>
          <a:xfrm>
            <a:off x="6705295" y="1645920"/>
            <a:ext cx="4754880" cy="466344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F1A2C"/>
                </a:solidFill>
                <a:latin typeface="Georgia"/>
              </a:defRPr>
            </a:pPr>
            <a:r>
              <a:t>STRATEGIC UNDERWRITING TAKEAWAYS</a:t>
            </a:r>
          </a:p>
          <a:p>
            <a:pPr>
              <a:spcBef>
                <a:spcPts val="1000"/>
              </a:spcBef>
              <a:defRPr sz="1100">
                <a:solidFill>
                  <a:srgbClr val="141E2D"/>
                </a:solidFill>
                <a:latin typeface="Verdana"/>
              </a:defRPr>
            </a:pPr>
            <a:r>
              <a:t>• Primary Risk Driver (22.59% Total): Liquid reserves (Checking 12.83% + Savings 9.76%) are the single strongest predictors of default.</a:t>
            </a:r>
          </a:p>
          <a:p>
            <a:pPr>
              <a:spcBef>
                <a:spcPts val="1000"/>
              </a:spcBef>
              <a:defRPr sz="1100">
                <a:solidFill>
                  <a:srgbClr val="141E2D"/>
                </a:solidFill>
                <a:latin typeface="Verdana"/>
              </a:defRPr>
            </a:pPr>
            <a:r>
              <a:t>• Credit Exposure Impact (17.25% Total): Loan Amount (9.39%) and Duration (7.86%) measure repayment burden and macroeconomic vulnerability.</a:t>
            </a:r>
          </a:p>
          <a:p>
            <a:pPr>
              <a:spcBef>
                <a:spcPts val="1000"/>
              </a:spcBef>
              <a:defRPr sz="1100">
                <a:solidFill>
                  <a:srgbClr val="141E2D"/>
                </a:solidFill>
                <a:latin typeface="Verdana"/>
              </a:defRPr>
            </a:pPr>
            <a:r>
              <a:t>• Applicant Stability (22.37% Total): Employment length (7.75%), Age (7.60%), and Residence (7.02%) form a vital stability triad.</a:t>
            </a:r>
          </a:p>
          <a:p>
            <a:pPr>
              <a:spcBef>
                <a:spcPts val="1000"/>
              </a:spcBef>
              <a:defRPr sz="1100">
                <a:solidFill>
                  <a:srgbClr val="141E2D"/>
                </a:solidFill>
                <a:latin typeface="Verdana"/>
              </a:defRPr>
            </a:pPr>
            <a:r>
              <a:t>• Policy Shift: Depleted checking balance is a far stronger default indicator than static debt-to-income percentages.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C59B27"/>
                </a:solidFill>
                <a:latin typeface="Verdana"/>
              </a:defRPr>
            </a:pPr>
            <a:r>
              <a:t>EXECUTIVE CREDIT COMMITTEE BRIEFING</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F1A2C"/>
                </a:solidFill>
                <a:latin typeface="Georgia"/>
              </a:defRPr>
            </a:pPr>
            <a:r>
              <a:t>Dynamic Cutoff Tuning Expands Default Capture to 71.7% at Threshold 0.45</a:t>
            </a:r>
          </a:p>
        </p:txBody>
      </p:sp>
      <p:sp>
        <p:nvSpPr>
          <p:cNvPr id="4" name="Rectangle 3"/>
          <p:cNvSpPr/>
          <p:nvPr/>
        </p:nvSpPr>
        <p:spPr>
          <a:xfrm>
            <a:off x="731520" y="1371600"/>
            <a:ext cx="10728655" cy="25400"/>
          </a:xfrm>
          <a:prstGeom prst="rect">
            <a:avLst/>
          </a:prstGeom>
          <a:solidFill>
            <a:srgbClr val="C59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328416" cy="466344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00" b="1">
                <a:solidFill>
                  <a:srgbClr val="0F1A2C"/>
                </a:solidFill>
                <a:latin typeface="Georgia"/>
              </a:defRPr>
            </a:pPr>
            <a:r>
              <a:t>BALANCED POLICY</a:t>
            </a:r>
          </a:p>
          <a:p>
            <a:pPr>
              <a:spcBef>
                <a:spcPts val="400"/>
              </a:spcBef>
              <a:defRPr sz="1600" b="1">
                <a:solidFill>
                  <a:srgbClr val="C59B27"/>
                </a:solidFill>
                <a:latin typeface="Georgia"/>
              </a:defRPr>
            </a:pPr>
            <a:r>
              <a:t>T = 0.50 (Standard)</a:t>
            </a:r>
          </a:p>
          <a:p>
            <a:pPr>
              <a:spcBef>
                <a:spcPts val="800"/>
              </a:spcBef>
              <a:defRPr sz="1100">
                <a:solidFill>
                  <a:srgbClr val="141E2D"/>
                </a:solidFill>
                <a:latin typeface="Verdana"/>
              </a:defRPr>
            </a:pPr>
            <a:r>
              <a:t>• Recall: 61.7%</a:t>
            </a:r>
          </a:p>
          <a:p>
            <a:pPr>
              <a:spcBef>
                <a:spcPts val="800"/>
              </a:spcBef>
              <a:defRPr sz="1100">
                <a:solidFill>
                  <a:srgbClr val="141E2D"/>
                </a:solidFill>
                <a:latin typeface="Verdana"/>
              </a:defRPr>
            </a:pPr>
            <a:r>
              <a:t>• Precision: 59.7%</a:t>
            </a:r>
          </a:p>
          <a:p>
            <a:pPr>
              <a:spcBef>
                <a:spcPts val="800"/>
              </a:spcBef>
              <a:defRPr sz="1100">
                <a:solidFill>
                  <a:srgbClr val="141E2D"/>
                </a:solidFill>
                <a:latin typeface="Verdana"/>
              </a:defRPr>
            </a:pPr>
            <a:r>
              <a:t>• F1-Score: 0.607</a:t>
            </a:r>
          </a:p>
          <a:p>
            <a:pPr>
              <a:spcBef>
                <a:spcPts val="800"/>
              </a:spcBef>
              <a:defRPr sz="1100">
                <a:solidFill>
                  <a:srgbClr val="141E2D"/>
                </a:solidFill>
                <a:latin typeface="Verdana"/>
              </a:defRPr>
            </a:pPr>
            <a:r>
              <a:t>• Accuracy: 76.0%</a:t>
            </a:r>
          </a:p>
          <a:p>
            <a:pPr>
              <a:spcBef>
                <a:spcPts val="800"/>
              </a:spcBef>
              <a:defRPr sz="1100">
                <a:solidFill>
                  <a:srgbClr val="141E2D"/>
                </a:solidFill>
                <a:latin typeface="Verdana"/>
              </a:defRPr>
            </a:pPr>
            <a:r>
              <a:t>• Operational Use: Normal economic conditions &amp; baseline portfolio growth.</a:t>
            </a:r>
          </a:p>
        </p:txBody>
      </p:sp>
      <p:sp>
        <p:nvSpPr>
          <p:cNvPr id="6" name="Rounded Rectangle 5"/>
          <p:cNvSpPr/>
          <p:nvPr/>
        </p:nvSpPr>
        <p:spPr>
          <a:xfrm>
            <a:off x="4425696" y="1645920"/>
            <a:ext cx="3328416" cy="466344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00" b="1">
                <a:solidFill>
                  <a:srgbClr val="0F1A2C"/>
                </a:solidFill>
                <a:latin typeface="Georgia"/>
              </a:defRPr>
            </a:pPr>
            <a:r>
              <a:t>RISK-AVERSE POLICY</a:t>
            </a:r>
          </a:p>
          <a:p>
            <a:pPr>
              <a:spcBef>
                <a:spcPts val="400"/>
              </a:spcBef>
              <a:defRPr sz="1600" b="1">
                <a:solidFill>
                  <a:srgbClr val="C59B27"/>
                </a:solidFill>
                <a:latin typeface="Georgia"/>
              </a:defRPr>
            </a:pPr>
            <a:r>
              <a:t>T = 0.45 (Recommended)</a:t>
            </a:r>
          </a:p>
          <a:p>
            <a:pPr>
              <a:spcBef>
                <a:spcPts val="800"/>
              </a:spcBef>
              <a:defRPr sz="1100">
                <a:solidFill>
                  <a:srgbClr val="141E2D"/>
                </a:solidFill>
                <a:latin typeface="Verdana"/>
              </a:defRPr>
            </a:pPr>
            <a:r>
              <a:t>• Recall: 71.7% (Captures ~72% defaults)</a:t>
            </a:r>
          </a:p>
          <a:p>
            <a:pPr>
              <a:spcBef>
                <a:spcPts val="800"/>
              </a:spcBef>
              <a:defRPr sz="1100">
                <a:solidFill>
                  <a:srgbClr val="141E2D"/>
                </a:solidFill>
                <a:latin typeface="Verdana"/>
              </a:defRPr>
            </a:pPr>
            <a:r>
              <a:t>• Precision: 52.4%</a:t>
            </a:r>
          </a:p>
          <a:p>
            <a:pPr>
              <a:spcBef>
                <a:spcPts val="800"/>
              </a:spcBef>
              <a:defRPr sz="1100">
                <a:solidFill>
                  <a:srgbClr val="141E2D"/>
                </a:solidFill>
                <a:latin typeface="Verdana"/>
              </a:defRPr>
            </a:pPr>
            <a:r>
              <a:t>• F1-Score: 0.606</a:t>
            </a:r>
          </a:p>
          <a:p>
            <a:pPr>
              <a:spcBef>
                <a:spcPts val="800"/>
              </a:spcBef>
              <a:defRPr sz="1100">
                <a:solidFill>
                  <a:srgbClr val="141E2D"/>
                </a:solidFill>
                <a:latin typeface="Verdana"/>
              </a:defRPr>
            </a:pPr>
            <a:r>
              <a:t>• Accuracy: 72.0%</a:t>
            </a:r>
          </a:p>
          <a:p>
            <a:pPr>
              <a:spcBef>
                <a:spcPts val="800"/>
              </a:spcBef>
              <a:defRPr sz="1100">
                <a:solidFill>
                  <a:srgbClr val="141E2D"/>
                </a:solidFill>
                <a:latin typeface="Verdana"/>
              </a:defRPr>
            </a:pPr>
            <a:r>
              <a:t>• Operational Use: Emerging macroeconomic stress &amp; tightening credit cycle.</a:t>
            </a:r>
          </a:p>
        </p:txBody>
      </p:sp>
      <p:sp>
        <p:nvSpPr>
          <p:cNvPr id="7" name="Rounded Rectangle 6"/>
          <p:cNvSpPr/>
          <p:nvPr/>
        </p:nvSpPr>
        <p:spPr>
          <a:xfrm>
            <a:off x="8119872" y="1645920"/>
            <a:ext cx="3328416" cy="466344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00" b="1">
                <a:solidFill>
                  <a:srgbClr val="0F1A2C"/>
                </a:solidFill>
                <a:latin typeface="Georgia"/>
              </a:defRPr>
            </a:pPr>
            <a:r>
              <a:t>AGGRESSIVE PROTECTION</a:t>
            </a:r>
          </a:p>
          <a:p>
            <a:pPr>
              <a:spcBef>
                <a:spcPts val="400"/>
              </a:spcBef>
              <a:defRPr sz="1600" b="1">
                <a:solidFill>
                  <a:srgbClr val="C59B27"/>
                </a:solidFill>
                <a:latin typeface="Georgia"/>
              </a:defRPr>
            </a:pPr>
            <a:r>
              <a:t>T = 0.40 (Crisis)</a:t>
            </a:r>
          </a:p>
          <a:p>
            <a:pPr>
              <a:spcBef>
                <a:spcPts val="800"/>
              </a:spcBef>
              <a:defRPr sz="1100">
                <a:solidFill>
                  <a:srgbClr val="141E2D"/>
                </a:solidFill>
                <a:latin typeface="Verdana"/>
              </a:defRPr>
            </a:pPr>
            <a:r>
              <a:t>• Recall: 78.3% (Captures ~78% defaults)</a:t>
            </a:r>
          </a:p>
          <a:p>
            <a:pPr>
              <a:spcBef>
                <a:spcPts val="800"/>
              </a:spcBef>
              <a:defRPr sz="1100">
                <a:solidFill>
                  <a:srgbClr val="141E2D"/>
                </a:solidFill>
                <a:latin typeface="Verdana"/>
              </a:defRPr>
            </a:pPr>
            <a:r>
              <a:t>• Precision: 49.0%</a:t>
            </a:r>
          </a:p>
          <a:p>
            <a:pPr>
              <a:spcBef>
                <a:spcPts val="800"/>
              </a:spcBef>
              <a:defRPr sz="1100">
                <a:solidFill>
                  <a:srgbClr val="141E2D"/>
                </a:solidFill>
                <a:latin typeface="Verdana"/>
              </a:defRPr>
            </a:pPr>
            <a:r>
              <a:t>• F1-Score: 0.603</a:t>
            </a:r>
          </a:p>
          <a:p>
            <a:pPr>
              <a:spcBef>
                <a:spcPts val="800"/>
              </a:spcBef>
              <a:defRPr sz="1100">
                <a:solidFill>
                  <a:srgbClr val="141E2D"/>
                </a:solidFill>
                <a:latin typeface="Verdana"/>
              </a:defRPr>
            </a:pPr>
            <a:r>
              <a:t>• Accuracy: 69.0%</a:t>
            </a:r>
          </a:p>
          <a:p>
            <a:pPr>
              <a:spcBef>
                <a:spcPts val="800"/>
              </a:spcBef>
              <a:defRPr sz="1100">
                <a:solidFill>
                  <a:srgbClr val="141E2D"/>
                </a:solidFill>
                <a:latin typeface="Verdana"/>
              </a:defRPr>
            </a:pPr>
            <a:r>
              <a:t>• Operational Use: Recessionary crisis to maximize capital preservation.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C59B27"/>
                </a:solidFill>
                <a:latin typeface="Verdana"/>
              </a:defRPr>
            </a:pPr>
            <a:r>
              <a:t>EXECUTIVE CREDIT COMMITTEE BRIEFING</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F1A2C"/>
                </a:solidFill>
                <a:latin typeface="Georgia"/>
              </a:defRPr>
            </a:pPr>
            <a:r>
              <a:t>Automated 3-Tier Decision Engine Streamlines 75%+ of Loan Origination Volume</a:t>
            </a:r>
          </a:p>
        </p:txBody>
      </p:sp>
      <p:sp>
        <p:nvSpPr>
          <p:cNvPr id="4" name="Rectangle 3"/>
          <p:cNvSpPr/>
          <p:nvPr/>
        </p:nvSpPr>
        <p:spPr>
          <a:xfrm>
            <a:off x="731520" y="1371600"/>
            <a:ext cx="10728655" cy="25400"/>
          </a:xfrm>
          <a:prstGeom prst="rect">
            <a:avLst/>
          </a:prstGeom>
          <a:solidFill>
            <a:srgbClr val="C59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328416" cy="4663440"/>
          </a:xfrm>
          <a:prstGeom prst="roundRect">
            <a:avLst/>
          </a:prstGeom>
          <a:solidFill>
            <a:srgbClr val="FFFFFF"/>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600" b="1">
                <a:solidFill>
                  <a:srgbClr val="2E7D32"/>
                </a:solidFill>
                <a:latin typeface="Georgia"/>
              </a:defRPr>
            </a:pPr>
            <a:r>
              <a:t>GREEN LANE</a:t>
            </a:r>
          </a:p>
          <a:p>
            <a:pPr>
              <a:spcBef>
                <a:spcPts val="400"/>
              </a:spcBef>
              <a:defRPr sz="1100" b="1">
                <a:solidFill>
                  <a:srgbClr val="0F1A2C"/>
                </a:solidFill>
                <a:latin typeface="Verdana"/>
              </a:defRPr>
            </a:pPr>
            <a:r>
              <a:t>Predicted Default P &lt; 0.25</a:t>
            </a:r>
          </a:p>
          <a:p>
            <a:pPr>
              <a:spcBef>
                <a:spcPts val="800"/>
              </a:spcBef>
              <a:defRPr sz="1000">
                <a:solidFill>
                  <a:srgbClr val="141E2D"/>
                </a:solidFill>
                <a:latin typeface="Verdana"/>
              </a:defRPr>
            </a:pPr>
            <a:r>
              <a:t>• Decision: Automated STP Approval</a:t>
            </a:r>
          </a:p>
          <a:p>
            <a:pPr>
              <a:spcBef>
                <a:spcPts val="800"/>
              </a:spcBef>
              <a:defRPr sz="1000">
                <a:solidFill>
                  <a:srgbClr val="141E2D"/>
                </a:solidFill>
                <a:latin typeface="Verdana"/>
              </a:defRPr>
            </a:pPr>
            <a:r>
              <a:t>• Action: Instant loan origination without human intervention.</a:t>
            </a:r>
          </a:p>
          <a:p>
            <a:pPr>
              <a:spcBef>
                <a:spcPts val="800"/>
              </a:spcBef>
              <a:defRPr sz="1000">
                <a:solidFill>
                  <a:srgbClr val="141E2D"/>
                </a:solidFill>
                <a:latin typeface="Verdana"/>
              </a:defRPr>
            </a:pPr>
            <a:r>
              <a:t>• Customer Impact: Zero approval friction for ultra-low risk applicants.</a:t>
            </a:r>
          </a:p>
          <a:p>
            <a:pPr>
              <a:spcBef>
                <a:spcPts val="800"/>
              </a:spcBef>
              <a:defRPr sz="1000">
                <a:solidFill>
                  <a:srgbClr val="141E2D"/>
                </a:solidFill>
                <a:latin typeface="Verdana"/>
              </a:defRPr>
            </a:pPr>
            <a:r>
              <a:t>• Efficiency Gain: Eliminates manual review cost on ~50% of volume.</a:t>
            </a:r>
          </a:p>
        </p:txBody>
      </p:sp>
      <p:sp>
        <p:nvSpPr>
          <p:cNvPr id="6" name="Rounded Rectangle 5"/>
          <p:cNvSpPr/>
          <p:nvPr/>
        </p:nvSpPr>
        <p:spPr>
          <a:xfrm>
            <a:off x="4425696" y="1645920"/>
            <a:ext cx="3328416" cy="4663440"/>
          </a:xfrm>
          <a:prstGeom prst="roundRect">
            <a:avLst/>
          </a:prstGeom>
          <a:solidFill>
            <a:srgbClr val="FFFFFF"/>
          </a:solidFill>
          <a:ln w="127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600" b="1">
                <a:solidFill>
                  <a:srgbClr val="E65100"/>
                </a:solidFill>
                <a:latin typeface="Georgia"/>
              </a:defRPr>
            </a:pPr>
            <a:r>
              <a:t>YELLOW LANE</a:t>
            </a:r>
          </a:p>
          <a:p>
            <a:pPr>
              <a:spcBef>
                <a:spcPts val="400"/>
              </a:spcBef>
              <a:defRPr sz="1100" b="1">
                <a:solidFill>
                  <a:srgbClr val="0F1A2C"/>
                </a:solidFill>
                <a:latin typeface="Verdana"/>
              </a:defRPr>
            </a:pPr>
            <a:r>
              <a:t>0.25 &lt;= Predicted P &lt;= 0.50</a:t>
            </a:r>
          </a:p>
          <a:p>
            <a:pPr>
              <a:spcBef>
                <a:spcPts val="800"/>
              </a:spcBef>
              <a:defRPr sz="1000">
                <a:solidFill>
                  <a:srgbClr val="141E2D"/>
                </a:solidFill>
                <a:latin typeface="Verdana"/>
              </a:defRPr>
            </a:pPr>
            <a:r>
              <a:t>• Decision: Senior Underwriter Escalation</a:t>
            </a:r>
          </a:p>
          <a:p>
            <a:pPr>
              <a:spcBef>
                <a:spcPts val="800"/>
              </a:spcBef>
              <a:defRPr sz="1000">
                <a:solidFill>
                  <a:srgbClr val="141E2D"/>
                </a:solidFill>
                <a:latin typeface="Verdana"/>
              </a:defRPr>
            </a:pPr>
            <a:r>
              <a:t>• Action: Manual review, income verification &amp; collateral audit.</a:t>
            </a:r>
          </a:p>
          <a:p>
            <a:pPr>
              <a:spcBef>
                <a:spcPts val="800"/>
              </a:spcBef>
              <a:defRPr sz="1000">
                <a:solidFill>
                  <a:srgbClr val="141E2D"/>
                </a:solidFill>
                <a:latin typeface="Verdana"/>
              </a:defRPr>
            </a:pPr>
            <a:r>
              <a:t>• Customer Impact: Targeted documentation request.</a:t>
            </a:r>
          </a:p>
          <a:p>
            <a:pPr>
              <a:spcBef>
                <a:spcPts val="800"/>
              </a:spcBef>
              <a:defRPr sz="1000">
                <a:solidFill>
                  <a:srgbClr val="141E2D"/>
                </a:solidFill>
                <a:latin typeface="Verdana"/>
              </a:defRPr>
            </a:pPr>
            <a:r>
              <a:t>• Control Gain: Focuses human underwriting capacity exclusively on borderline cases.</a:t>
            </a:r>
          </a:p>
        </p:txBody>
      </p:sp>
      <p:sp>
        <p:nvSpPr>
          <p:cNvPr id="7" name="Rounded Rectangle 6"/>
          <p:cNvSpPr/>
          <p:nvPr/>
        </p:nvSpPr>
        <p:spPr>
          <a:xfrm>
            <a:off x="8119872" y="1645920"/>
            <a:ext cx="3328416" cy="4663440"/>
          </a:xfrm>
          <a:prstGeom prst="roundRect">
            <a:avLst/>
          </a:prstGeom>
          <a:solidFill>
            <a:srgbClr val="FFFFFF"/>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600" b="1">
                <a:solidFill>
                  <a:srgbClr val="C62828"/>
                </a:solidFill>
                <a:latin typeface="Georgia"/>
              </a:defRPr>
            </a:pPr>
            <a:r>
              <a:t>RED LANE</a:t>
            </a:r>
          </a:p>
          <a:p>
            <a:pPr>
              <a:spcBef>
                <a:spcPts val="400"/>
              </a:spcBef>
              <a:defRPr sz="1100" b="1">
                <a:solidFill>
                  <a:srgbClr val="0F1A2C"/>
                </a:solidFill>
                <a:latin typeface="Verdana"/>
              </a:defRPr>
            </a:pPr>
            <a:r>
              <a:t>Predicted Default P &gt; 0.50</a:t>
            </a:r>
          </a:p>
          <a:p>
            <a:pPr>
              <a:spcBef>
                <a:spcPts val="800"/>
              </a:spcBef>
              <a:defRPr sz="1000">
                <a:solidFill>
                  <a:srgbClr val="141E2D"/>
                </a:solidFill>
                <a:latin typeface="Verdana"/>
              </a:defRPr>
            </a:pPr>
            <a:r>
              <a:t>• Decision: Automated Rejection / Collateral Req.</a:t>
            </a:r>
          </a:p>
          <a:p>
            <a:pPr>
              <a:spcBef>
                <a:spcPts val="800"/>
              </a:spcBef>
              <a:defRPr sz="1000">
                <a:solidFill>
                  <a:srgbClr val="141E2D"/>
                </a:solidFill>
                <a:latin typeface="Verdana"/>
              </a:defRPr>
            </a:pPr>
            <a:r>
              <a:t>• Action: Automated decline notice or conditional approval upon 120% asset pledge / co-guarantor.</a:t>
            </a:r>
          </a:p>
          <a:p>
            <a:pPr>
              <a:spcBef>
                <a:spcPts val="800"/>
              </a:spcBef>
              <a:defRPr sz="1000">
                <a:solidFill>
                  <a:srgbClr val="141E2D"/>
                </a:solidFill>
                <a:latin typeface="Verdana"/>
              </a:defRPr>
            </a:pPr>
            <a:r>
              <a:t>• Risk Gain: Immediately blocks high-probability default losses.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C59B27"/>
                </a:solidFill>
                <a:latin typeface="Verdana"/>
              </a:defRPr>
            </a:pPr>
            <a:r>
              <a:t>EXECUTIVE CREDIT COMMITTEE BRIEFING</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F1A2C"/>
                </a:solidFill>
                <a:latin typeface="Georgia"/>
              </a:defRPr>
            </a:pPr>
            <a:r>
              <a:t>Phased 12-Week Rollout Mitigates Credit Losses and Optimizes Underwriting ROI</a:t>
            </a:r>
          </a:p>
        </p:txBody>
      </p:sp>
      <p:sp>
        <p:nvSpPr>
          <p:cNvPr id="4" name="Rectangle 3"/>
          <p:cNvSpPr/>
          <p:nvPr/>
        </p:nvSpPr>
        <p:spPr>
          <a:xfrm>
            <a:off x="731520" y="1371600"/>
            <a:ext cx="10728655" cy="25400"/>
          </a:xfrm>
          <a:prstGeom prst="rect">
            <a:avLst/>
          </a:prstGeom>
          <a:solidFill>
            <a:srgbClr val="C59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66344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F1A2C"/>
                </a:solidFill>
                <a:latin typeface="Georgia"/>
              </a:defRPr>
            </a:pPr>
            <a:r>
              <a:t>STRATEGIC VALUE CREATION</a:t>
            </a:r>
          </a:p>
          <a:p>
            <a:pPr>
              <a:spcBef>
                <a:spcPts val="1000"/>
              </a:spcBef>
              <a:defRPr sz="1100">
                <a:solidFill>
                  <a:srgbClr val="141E2D"/>
                </a:solidFill>
                <a:latin typeface="Verdana"/>
              </a:defRPr>
            </a:pPr>
            <a:r>
              <a:t>• P&amp;L Protection: Eliminates default principal losses by capturing 61.7% to 78.3% of bad loans across operating policies.</a:t>
            </a:r>
          </a:p>
          <a:p>
            <a:pPr>
              <a:spcBef>
                <a:spcPts val="1000"/>
              </a:spcBef>
              <a:defRPr sz="1100">
                <a:solidFill>
                  <a:srgbClr val="141E2D"/>
                </a:solidFill>
                <a:latin typeface="Verdana"/>
              </a:defRPr>
            </a:pPr>
            <a:r>
              <a:t>• Straight-Through Processing: Automates low-risk approvals in the Green Lane, slashing turnaround time from days to seconds.</a:t>
            </a:r>
          </a:p>
          <a:p>
            <a:pPr>
              <a:spcBef>
                <a:spcPts val="1000"/>
              </a:spcBef>
              <a:defRPr sz="1100">
                <a:solidFill>
                  <a:srgbClr val="141E2D"/>
                </a:solidFill>
                <a:latin typeface="Verdana"/>
              </a:defRPr>
            </a:pPr>
            <a:r>
              <a:t>• Underwriting Efficiency: Cuts manual review queue volume by over 70%, focusing credit officer capacity on high-margin Yellow Lane cases.</a:t>
            </a:r>
          </a:p>
          <a:p>
            <a:pPr>
              <a:spcBef>
                <a:spcPts val="1000"/>
              </a:spcBef>
              <a:defRPr sz="1100">
                <a:solidFill>
                  <a:srgbClr val="141E2D"/>
                </a:solidFill>
                <a:latin typeface="Verdana"/>
              </a:defRPr>
            </a:pPr>
            <a:r>
              <a:t>• Dynamic Governance: Allows real-time threshold adjustment to respond proactively to macroeconomic shifts.</a:t>
            </a:r>
          </a:p>
        </p:txBody>
      </p:sp>
      <p:sp>
        <p:nvSpPr>
          <p:cNvPr id="6" name="Rounded Rectangle 5"/>
          <p:cNvSpPr/>
          <p:nvPr/>
        </p:nvSpPr>
        <p:spPr>
          <a:xfrm>
            <a:off x="6339535" y="1645920"/>
            <a:ext cx="5120640" cy="4663440"/>
          </a:xfrm>
          <a:prstGeom prst="roundRect">
            <a:avLst/>
          </a:prstGeom>
          <a:solidFill>
            <a:srgbClr val="FFFFFF"/>
          </a:solidFill>
          <a:ln w="1270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F1A2C"/>
                </a:solidFill>
                <a:latin typeface="Georgia"/>
              </a:defRPr>
            </a:pPr>
            <a:r>
              <a:t>12-WEEK PRODUCTION ROLLOUT ROADMAP</a:t>
            </a:r>
          </a:p>
          <a:p>
            <a:pPr>
              <a:spcBef>
                <a:spcPts val="1000"/>
              </a:spcBef>
              <a:defRPr sz="1100" b="1">
                <a:solidFill>
                  <a:srgbClr val="C59B27"/>
                </a:solidFill>
                <a:latin typeface="Georgia"/>
              </a:defRPr>
            </a:pPr>
            <a:r>
              <a:t>PHASE 1 (Weeks 1–4): API &amp; Shadow Testing</a:t>
            </a:r>
          </a:p>
          <a:p>
            <a:pPr>
              <a:spcBef>
                <a:spcPts val="200"/>
              </a:spcBef>
              <a:defRPr sz="1000">
                <a:solidFill>
                  <a:srgbClr val="141E2D"/>
                </a:solidFill>
                <a:latin typeface="Verdana"/>
              </a:defRPr>
            </a:pPr>
            <a:r>
              <a:t>• Integrate Random Forest scoring API into Loan Origination System.</a:t>
            </a:r>
          </a:p>
          <a:p>
            <a:pPr>
              <a:spcBef>
                <a:spcPts val="200"/>
              </a:spcBef>
              <a:defRPr sz="1000">
                <a:solidFill>
                  <a:srgbClr val="141E2D"/>
                </a:solidFill>
                <a:latin typeface="Verdana"/>
              </a:defRPr>
            </a:pPr>
            <a:r>
              <a:t>• Execute silent shadow testing on live applicant stream.</a:t>
            </a:r>
          </a:p>
          <a:p>
            <a:pPr>
              <a:spcBef>
                <a:spcPts val="1000"/>
              </a:spcBef>
              <a:defRPr sz="1100" b="1">
                <a:solidFill>
                  <a:srgbClr val="C59B27"/>
                </a:solidFill>
                <a:latin typeface="Georgia"/>
              </a:defRPr>
            </a:pPr>
            <a:r>
              <a:t>PHASE 2 (Weeks 5–8): Pilot Branch Launch</a:t>
            </a:r>
          </a:p>
          <a:p>
            <a:pPr>
              <a:spcBef>
                <a:spcPts val="200"/>
              </a:spcBef>
              <a:defRPr sz="1000">
                <a:solidFill>
                  <a:srgbClr val="141E2D"/>
                </a:solidFill>
                <a:latin typeface="Verdana"/>
              </a:defRPr>
            </a:pPr>
            <a:r>
              <a:t>• Deploy 3-tier engine in select retail lending branches.</a:t>
            </a:r>
          </a:p>
          <a:p>
            <a:pPr>
              <a:spcBef>
                <a:spcPts val="200"/>
              </a:spcBef>
              <a:defRPr sz="1000">
                <a:solidFill>
                  <a:srgbClr val="141E2D"/>
                </a:solidFill>
                <a:latin typeface="Verdana"/>
              </a:defRPr>
            </a:pPr>
            <a:r>
              <a:t>• Train Senior Credit Officers on Yellow Lane manual review protocol.</a:t>
            </a:r>
          </a:p>
          <a:p>
            <a:pPr>
              <a:spcBef>
                <a:spcPts val="1000"/>
              </a:spcBef>
              <a:defRPr sz="1100" b="1">
                <a:solidFill>
                  <a:srgbClr val="C59B27"/>
                </a:solidFill>
                <a:latin typeface="Georgia"/>
              </a:defRPr>
            </a:pPr>
            <a:r>
              <a:t>PHASE 3 (Weeks 9–12): Full Multi-Channel Launch</a:t>
            </a:r>
          </a:p>
          <a:p>
            <a:pPr>
              <a:spcBef>
                <a:spcPts val="200"/>
              </a:spcBef>
              <a:defRPr sz="1000">
                <a:solidFill>
                  <a:srgbClr val="141E2D"/>
                </a:solidFill>
                <a:latin typeface="Verdana"/>
              </a:defRPr>
            </a:pPr>
            <a:r>
              <a:t>• Full production deployment across digital &amp; branch origination.</a:t>
            </a:r>
          </a:p>
          <a:p>
            <a:pPr>
              <a:spcBef>
                <a:spcPts val="200"/>
              </a:spcBef>
              <a:defRPr sz="1000">
                <a:solidFill>
                  <a:srgbClr val="141E2D"/>
                </a:solidFill>
                <a:latin typeface="Verdana"/>
              </a:defRPr>
            </a:pPr>
            <a:r>
              <a:t>• Institute monthly CRO KPI monitoring (ROC-AUC floor 0.750, PSI drift).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